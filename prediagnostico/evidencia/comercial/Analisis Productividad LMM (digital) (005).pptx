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8" r:id="rId2"/>
    <p:sldId id="4430" r:id="rId3"/>
    <p:sldId id="4432" r:id="rId4"/>
    <p:sldId id="4434" r:id="rId5"/>
    <p:sldId id="4435" r:id="rId6"/>
    <p:sldId id="4436" r:id="rId7"/>
    <p:sldId id="4437" r:id="rId8"/>
    <p:sldId id="263" r:id="rId9"/>
  </p:sldIdLst>
  <p:sldSz cx="12192000" cy="6858000"/>
  <p:notesSz cx="6797675" cy="9926638"/>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764"/>
    <a:srgbClr val="33D5AD"/>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Hoja1!$C$1</c:f>
              <c:strCache>
                <c:ptCount val="1"/>
                <c:pt idx="0">
                  <c:v>Vol per capita</c:v>
                </c:pt>
              </c:strCache>
            </c:strRef>
          </c:tx>
          <c:spPr>
            <a:solidFill>
              <a:srgbClr val="003764"/>
            </a:solidFill>
            <a:ln>
              <a:noFill/>
            </a:ln>
            <a:effectLst/>
          </c:spPr>
          <c:invertIfNegative val="0"/>
          <c:dPt>
            <c:idx val="6"/>
            <c:invertIfNegative val="0"/>
            <c:bubble3D val="0"/>
            <c:spPr>
              <a:solidFill>
                <a:srgbClr val="33D5AD"/>
              </a:solidFill>
              <a:ln>
                <a:noFill/>
              </a:ln>
              <a:effectLst/>
            </c:spPr>
            <c:extLst>
              <c:ext xmlns:c16="http://schemas.microsoft.com/office/drawing/2014/chart" uri="{C3380CC4-5D6E-409C-BE32-E72D297353CC}">
                <c16:uniqueId val="{00000003-37FB-4A3E-95A6-E72957BE9B79}"/>
              </c:ext>
            </c:extLst>
          </c:dPt>
          <c:cat>
            <c:numRef>
              <c:f>Hoja1!$A$2:$A$8</c:f>
              <c:numCache>
                <c:formatCode>General</c:formatCode>
                <c:ptCount val="7"/>
                <c:pt idx="0">
                  <c:v>20</c:v>
                </c:pt>
                <c:pt idx="1">
                  <c:v>21</c:v>
                </c:pt>
                <c:pt idx="2">
                  <c:v>22</c:v>
                </c:pt>
                <c:pt idx="3">
                  <c:v>23</c:v>
                </c:pt>
                <c:pt idx="4">
                  <c:v>24</c:v>
                </c:pt>
                <c:pt idx="5">
                  <c:v>25</c:v>
                </c:pt>
                <c:pt idx="6">
                  <c:v>26</c:v>
                </c:pt>
              </c:numCache>
            </c:numRef>
          </c:cat>
          <c:val>
            <c:numRef>
              <c:f>Hoja1!$C$2:$C$8</c:f>
              <c:numCache>
                <c:formatCode>_-"$"* #,##0.0_-;\-"$"* #,##0.0_-;_-"$"* "-"??_-;_-@_-</c:formatCode>
                <c:ptCount val="7"/>
                <c:pt idx="0">
                  <c:v>11.017734668575875</c:v>
                </c:pt>
                <c:pt idx="1">
                  <c:v>33.895516205251006</c:v>
                </c:pt>
                <c:pt idx="2">
                  <c:v>33.382866220967436</c:v>
                </c:pt>
                <c:pt idx="3">
                  <c:v>40.5255455900597</c:v>
                </c:pt>
                <c:pt idx="4">
                  <c:v>41.580683659407747</c:v>
                </c:pt>
                <c:pt idx="5">
                  <c:v>46.413344903715455</c:v>
                </c:pt>
                <c:pt idx="6">
                  <c:v>61.89473684210526</c:v>
                </c:pt>
              </c:numCache>
            </c:numRef>
          </c:val>
          <c:extLst>
            <c:ext xmlns:c16="http://schemas.microsoft.com/office/drawing/2014/chart" uri="{C3380CC4-5D6E-409C-BE32-E72D297353CC}">
              <c16:uniqueId val="{00000001-37FB-4A3E-95A6-E72957BE9B79}"/>
            </c:ext>
          </c:extLst>
        </c:ser>
        <c:dLbls>
          <c:showLegendKey val="0"/>
          <c:showVal val="0"/>
          <c:showCatName val="0"/>
          <c:showSerName val="0"/>
          <c:showPercent val="0"/>
          <c:showBubbleSize val="0"/>
        </c:dLbls>
        <c:gapWidth val="219"/>
        <c:overlap val="-27"/>
        <c:axId val="1477058656"/>
        <c:axId val="1477076416"/>
      </c:barChart>
      <c:lineChart>
        <c:grouping val="standard"/>
        <c:varyColors val="0"/>
        <c:ser>
          <c:idx val="0"/>
          <c:order val="0"/>
          <c:tx>
            <c:strRef>
              <c:f>Hoja1!$B$1</c:f>
              <c:strCache>
                <c:ptCount val="1"/>
                <c:pt idx="0">
                  <c:v>Vendedores</c:v>
                </c:pt>
              </c:strCache>
            </c:strRef>
          </c:tx>
          <c:spPr>
            <a:ln w="28575" cap="rnd">
              <a:solidFill>
                <a:schemeClr val="accent2"/>
              </a:solidFill>
              <a:round/>
            </a:ln>
            <a:effectLst/>
          </c:spPr>
          <c:marker>
            <c:symbol val="none"/>
          </c:marker>
          <c:cat>
            <c:numRef>
              <c:f>Hoja1!$A$2:$A$8</c:f>
              <c:numCache>
                <c:formatCode>General</c:formatCode>
                <c:ptCount val="7"/>
                <c:pt idx="0">
                  <c:v>20</c:v>
                </c:pt>
                <c:pt idx="1">
                  <c:v>21</c:v>
                </c:pt>
                <c:pt idx="2">
                  <c:v>22</c:v>
                </c:pt>
                <c:pt idx="3">
                  <c:v>23</c:v>
                </c:pt>
                <c:pt idx="4">
                  <c:v>24</c:v>
                </c:pt>
                <c:pt idx="5">
                  <c:v>25</c:v>
                </c:pt>
                <c:pt idx="6">
                  <c:v>26</c:v>
                </c:pt>
              </c:numCache>
            </c:numRef>
          </c:cat>
          <c:val>
            <c:numRef>
              <c:f>Hoja1!$B$2:$B$8</c:f>
              <c:numCache>
                <c:formatCode>General</c:formatCode>
                <c:ptCount val="7"/>
                <c:pt idx="0">
                  <c:v>8</c:v>
                </c:pt>
                <c:pt idx="1">
                  <c:v>12</c:v>
                </c:pt>
                <c:pt idx="2">
                  <c:v>25</c:v>
                </c:pt>
                <c:pt idx="3">
                  <c:v>26</c:v>
                </c:pt>
                <c:pt idx="4">
                  <c:v>28</c:v>
                </c:pt>
                <c:pt idx="5">
                  <c:v>22</c:v>
                </c:pt>
                <c:pt idx="6">
                  <c:v>19</c:v>
                </c:pt>
              </c:numCache>
            </c:numRef>
          </c:val>
          <c:smooth val="0"/>
          <c:extLst>
            <c:ext xmlns:c16="http://schemas.microsoft.com/office/drawing/2014/chart" uri="{C3380CC4-5D6E-409C-BE32-E72D297353CC}">
              <c16:uniqueId val="{00000000-37FB-4A3E-95A6-E72957BE9B79}"/>
            </c:ext>
          </c:extLst>
        </c:ser>
        <c:dLbls>
          <c:showLegendKey val="0"/>
          <c:showVal val="0"/>
          <c:showCatName val="0"/>
          <c:showSerName val="0"/>
          <c:showPercent val="0"/>
          <c:showBubbleSize val="0"/>
        </c:dLbls>
        <c:marker val="1"/>
        <c:smooth val="0"/>
        <c:axId val="1477058656"/>
        <c:axId val="1477076416"/>
      </c:lineChart>
      <c:catAx>
        <c:axId val="1477058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crossAx val="1477076416"/>
        <c:crosses val="autoZero"/>
        <c:auto val="1"/>
        <c:lblAlgn val="ctr"/>
        <c:lblOffset val="100"/>
        <c:noMultiLvlLbl val="0"/>
      </c:catAx>
      <c:valAx>
        <c:axId val="1477076416"/>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_-;\-&quot;$&quot;* #,##0.0_-;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s-MX"/>
          </a:p>
        </c:txPr>
        <c:crossAx val="14770586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MX"/>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Hoja1!$C$1</c:f>
              <c:strCache>
                <c:ptCount val="1"/>
                <c:pt idx="0">
                  <c:v>Vol per capita</c:v>
                </c:pt>
              </c:strCache>
            </c:strRef>
          </c:tx>
          <c:spPr>
            <a:solidFill>
              <a:srgbClr val="003764"/>
            </a:solidFill>
            <a:ln>
              <a:noFill/>
            </a:ln>
            <a:effectLst/>
          </c:spPr>
          <c:invertIfNegative val="0"/>
          <c:dPt>
            <c:idx val="6"/>
            <c:invertIfNegative val="0"/>
            <c:bubble3D val="0"/>
            <c:spPr>
              <a:solidFill>
                <a:srgbClr val="33D5AD"/>
              </a:solidFill>
              <a:ln>
                <a:noFill/>
              </a:ln>
              <a:effectLst/>
            </c:spPr>
            <c:extLst>
              <c:ext xmlns:c16="http://schemas.microsoft.com/office/drawing/2014/chart" uri="{C3380CC4-5D6E-409C-BE32-E72D297353CC}">
                <c16:uniqueId val="{00000001-81AB-4EBE-8A32-E3559C83CE63}"/>
              </c:ext>
            </c:extLst>
          </c:dPt>
          <c:cat>
            <c:numRef>
              <c:f>Hoja1!$A$2:$A$8</c:f>
              <c:numCache>
                <c:formatCode>General</c:formatCode>
                <c:ptCount val="7"/>
                <c:pt idx="0">
                  <c:v>20</c:v>
                </c:pt>
                <c:pt idx="1">
                  <c:v>21</c:v>
                </c:pt>
                <c:pt idx="2">
                  <c:v>22</c:v>
                </c:pt>
                <c:pt idx="3">
                  <c:v>23</c:v>
                </c:pt>
                <c:pt idx="4">
                  <c:v>24</c:v>
                </c:pt>
                <c:pt idx="5">
                  <c:v>25</c:v>
                </c:pt>
                <c:pt idx="6">
                  <c:v>26</c:v>
                </c:pt>
              </c:numCache>
            </c:numRef>
          </c:cat>
          <c:val>
            <c:numRef>
              <c:f>Hoja1!$C$2:$C$8</c:f>
              <c:numCache>
                <c:formatCode>_-"$"* #,##0.0_-;\-"$"* #,##0.0_-;_-"$"* "-"??_-;_-@_-</c:formatCode>
                <c:ptCount val="7"/>
                <c:pt idx="0">
                  <c:v>5.4</c:v>
                </c:pt>
                <c:pt idx="1">
                  <c:v>11.9</c:v>
                </c:pt>
                <c:pt idx="2">
                  <c:v>13.6</c:v>
                </c:pt>
                <c:pt idx="3">
                  <c:v>10.9</c:v>
                </c:pt>
                <c:pt idx="4">
                  <c:v>9.9</c:v>
                </c:pt>
                <c:pt idx="5">
                  <c:v>14.8</c:v>
                </c:pt>
                <c:pt idx="6">
                  <c:v>17.600000000000001</c:v>
                </c:pt>
              </c:numCache>
            </c:numRef>
          </c:val>
          <c:extLst>
            <c:ext xmlns:c16="http://schemas.microsoft.com/office/drawing/2014/chart" uri="{C3380CC4-5D6E-409C-BE32-E72D297353CC}">
              <c16:uniqueId val="{00000002-81AB-4EBE-8A32-E3559C83CE63}"/>
            </c:ext>
          </c:extLst>
        </c:ser>
        <c:dLbls>
          <c:showLegendKey val="0"/>
          <c:showVal val="0"/>
          <c:showCatName val="0"/>
          <c:showSerName val="0"/>
          <c:showPercent val="0"/>
          <c:showBubbleSize val="0"/>
        </c:dLbls>
        <c:gapWidth val="219"/>
        <c:overlap val="-27"/>
        <c:axId val="1477058656"/>
        <c:axId val="1477076416"/>
      </c:barChart>
      <c:lineChart>
        <c:grouping val="standard"/>
        <c:varyColors val="0"/>
        <c:ser>
          <c:idx val="0"/>
          <c:order val="0"/>
          <c:tx>
            <c:strRef>
              <c:f>Hoja1!$B$1</c:f>
              <c:strCache>
                <c:ptCount val="1"/>
                <c:pt idx="0">
                  <c:v>Vendedores</c:v>
                </c:pt>
              </c:strCache>
            </c:strRef>
          </c:tx>
          <c:spPr>
            <a:ln w="28575" cap="rnd">
              <a:solidFill>
                <a:schemeClr val="accent2"/>
              </a:solidFill>
              <a:round/>
            </a:ln>
            <a:effectLst/>
          </c:spPr>
          <c:marker>
            <c:symbol val="none"/>
          </c:marker>
          <c:cat>
            <c:numRef>
              <c:f>Hoja1!$A$2:$A$8</c:f>
              <c:numCache>
                <c:formatCode>General</c:formatCode>
                <c:ptCount val="7"/>
                <c:pt idx="0">
                  <c:v>20</c:v>
                </c:pt>
                <c:pt idx="1">
                  <c:v>21</c:v>
                </c:pt>
                <c:pt idx="2">
                  <c:v>22</c:v>
                </c:pt>
                <c:pt idx="3">
                  <c:v>23</c:v>
                </c:pt>
                <c:pt idx="4">
                  <c:v>24</c:v>
                </c:pt>
                <c:pt idx="5">
                  <c:v>25</c:v>
                </c:pt>
                <c:pt idx="6">
                  <c:v>26</c:v>
                </c:pt>
              </c:numCache>
            </c:numRef>
          </c:cat>
          <c:val>
            <c:numRef>
              <c:f>Hoja1!$B$2:$B$8</c:f>
              <c:numCache>
                <c:formatCode>General</c:formatCode>
                <c:ptCount val="7"/>
                <c:pt idx="0">
                  <c:v>25</c:v>
                </c:pt>
                <c:pt idx="1">
                  <c:v>23</c:v>
                </c:pt>
                <c:pt idx="2">
                  <c:v>25</c:v>
                </c:pt>
                <c:pt idx="3">
                  <c:v>32</c:v>
                </c:pt>
                <c:pt idx="4">
                  <c:v>33</c:v>
                </c:pt>
                <c:pt idx="5">
                  <c:v>32</c:v>
                </c:pt>
                <c:pt idx="6">
                  <c:v>30</c:v>
                </c:pt>
              </c:numCache>
            </c:numRef>
          </c:val>
          <c:smooth val="0"/>
          <c:extLst>
            <c:ext xmlns:c16="http://schemas.microsoft.com/office/drawing/2014/chart" uri="{C3380CC4-5D6E-409C-BE32-E72D297353CC}">
              <c16:uniqueId val="{00000003-81AB-4EBE-8A32-E3559C83CE63}"/>
            </c:ext>
          </c:extLst>
        </c:ser>
        <c:dLbls>
          <c:showLegendKey val="0"/>
          <c:showVal val="0"/>
          <c:showCatName val="0"/>
          <c:showSerName val="0"/>
          <c:showPercent val="0"/>
          <c:showBubbleSize val="0"/>
        </c:dLbls>
        <c:marker val="1"/>
        <c:smooth val="0"/>
        <c:axId val="1477058656"/>
        <c:axId val="1477076416"/>
      </c:lineChart>
      <c:catAx>
        <c:axId val="1477058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crossAx val="1477076416"/>
        <c:crosses val="autoZero"/>
        <c:auto val="1"/>
        <c:lblAlgn val="ctr"/>
        <c:lblOffset val="100"/>
        <c:noMultiLvlLbl val="0"/>
      </c:catAx>
      <c:valAx>
        <c:axId val="1477076416"/>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_-;\-&quot;$&quot;* #,##0.0_-;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s-MX"/>
          </a:p>
        </c:txPr>
        <c:crossAx val="14770586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MX"/>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Hoja1!$C$1</c:f>
              <c:strCache>
                <c:ptCount val="1"/>
                <c:pt idx="0">
                  <c:v>Vol per capita</c:v>
                </c:pt>
              </c:strCache>
            </c:strRef>
          </c:tx>
          <c:spPr>
            <a:solidFill>
              <a:srgbClr val="003764"/>
            </a:solidFill>
            <a:ln>
              <a:noFill/>
            </a:ln>
            <a:effectLst/>
          </c:spPr>
          <c:invertIfNegative val="0"/>
          <c:dPt>
            <c:idx val="6"/>
            <c:invertIfNegative val="0"/>
            <c:bubble3D val="0"/>
            <c:spPr>
              <a:solidFill>
                <a:srgbClr val="33D5AD"/>
              </a:solidFill>
              <a:ln>
                <a:noFill/>
              </a:ln>
              <a:effectLst/>
            </c:spPr>
            <c:extLst>
              <c:ext xmlns:c16="http://schemas.microsoft.com/office/drawing/2014/chart" uri="{C3380CC4-5D6E-409C-BE32-E72D297353CC}">
                <c16:uniqueId val="{00000001-04F9-41CF-A631-101A502FC994}"/>
              </c:ext>
            </c:extLst>
          </c:dPt>
          <c:cat>
            <c:numRef>
              <c:f>Hoja1!$A$2:$A$8</c:f>
              <c:numCache>
                <c:formatCode>General</c:formatCode>
                <c:ptCount val="7"/>
                <c:pt idx="0">
                  <c:v>20</c:v>
                </c:pt>
                <c:pt idx="1">
                  <c:v>21</c:v>
                </c:pt>
                <c:pt idx="2">
                  <c:v>22</c:v>
                </c:pt>
                <c:pt idx="3">
                  <c:v>23</c:v>
                </c:pt>
                <c:pt idx="4">
                  <c:v>24</c:v>
                </c:pt>
                <c:pt idx="5">
                  <c:v>25</c:v>
                </c:pt>
                <c:pt idx="6">
                  <c:v>26</c:v>
                </c:pt>
              </c:numCache>
            </c:numRef>
          </c:cat>
          <c:val>
            <c:numRef>
              <c:f>Hoja1!$C$2:$C$8</c:f>
              <c:numCache>
                <c:formatCode>_-"$"* #,##0.0_-;\-"$"* #,##0.0_-;_-"$"* "-"??_-;_-@_-</c:formatCode>
                <c:ptCount val="7"/>
                <c:pt idx="0">
                  <c:v>178.3</c:v>
                </c:pt>
                <c:pt idx="1">
                  <c:v>162.6</c:v>
                </c:pt>
                <c:pt idx="2">
                  <c:v>176.4</c:v>
                </c:pt>
                <c:pt idx="3">
                  <c:v>155.1</c:v>
                </c:pt>
                <c:pt idx="4">
                  <c:v>152</c:v>
                </c:pt>
                <c:pt idx="5">
                  <c:v>147.30000000000001</c:v>
                </c:pt>
                <c:pt idx="6">
                  <c:v>162.5</c:v>
                </c:pt>
              </c:numCache>
            </c:numRef>
          </c:val>
          <c:extLst>
            <c:ext xmlns:c16="http://schemas.microsoft.com/office/drawing/2014/chart" uri="{C3380CC4-5D6E-409C-BE32-E72D297353CC}">
              <c16:uniqueId val="{00000002-04F9-41CF-A631-101A502FC994}"/>
            </c:ext>
          </c:extLst>
        </c:ser>
        <c:dLbls>
          <c:showLegendKey val="0"/>
          <c:showVal val="0"/>
          <c:showCatName val="0"/>
          <c:showSerName val="0"/>
          <c:showPercent val="0"/>
          <c:showBubbleSize val="0"/>
        </c:dLbls>
        <c:gapWidth val="219"/>
        <c:overlap val="-27"/>
        <c:axId val="1477058656"/>
        <c:axId val="1477076416"/>
      </c:barChart>
      <c:lineChart>
        <c:grouping val="standard"/>
        <c:varyColors val="0"/>
        <c:ser>
          <c:idx val="0"/>
          <c:order val="0"/>
          <c:tx>
            <c:strRef>
              <c:f>Hoja1!$B$1</c:f>
              <c:strCache>
                <c:ptCount val="1"/>
                <c:pt idx="0">
                  <c:v>Vendedores</c:v>
                </c:pt>
              </c:strCache>
            </c:strRef>
          </c:tx>
          <c:spPr>
            <a:ln w="28575" cap="rnd">
              <a:solidFill>
                <a:schemeClr val="accent2"/>
              </a:solidFill>
              <a:round/>
            </a:ln>
            <a:effectLst/>
          </c:spPr>
          <c:marker>
            <c:symbol val="none"/>
          </c:marker>
          <c:cat>
            <c:numRef>
              <c:f>Hoja1!$A$2:$A$8</c:f>
              <c:numCache>
                <c:formatCode>General</c:formatCode>
                <c:ptCount val="7"/>
                <c:pt idx="0">
                  <c:v>20</c:v>
                </c:pt>
                <c:pt idx="1">
                  <c:v>21</c:v>
                </c:pt>
                <c:pt idx="2">
                  <c:v>22</c:v>
                </c:pt>
                <c:pt idx="3">
                  <c:v>23</c:v>
                </c:pt>
                <c:pt idx="4">
                  <c:v>24</c:v>
                </c:pt>
                <c:pt idx="5">
                  <c:v>25</c:v>
                </c:pt>
                <c:pt idx="6">
                  <c:v>26</c:v>
                </c:pt>
              </c:numCache>
            </c:numRef>
          </c:cat>
          <c:val>
            <c:numRef>
              <c:f>Hoja1!$B$2:$B$8</c:f>
              <c:numCache>
                <c:formatCode>General</c:formatCode>
                <c:ptCount val="7"/>
                <c:pt idx="0">
                  <c:v>25</c:v>
                </c:pt>
                <c:pt idx="1">
                  <c:v>23</c:v>
                </c:pt>
                <c:pt idx="2">
                  <c:v>25</c:v>
                </c:pt>
                <c:pt idx="3">
                  <c:v>32</c:v>
                </c:pt>
                <c:pt idx="4">
                  <c:v>33</c:v>
                </c:pt>
                <c:pt idx="5">
                  <c:v>32</c:v>
                </c:pt>
                <c:pt idx="6">
                  <c:v>30</c:v>
                </c:pt>
              </c:numCache>
            </c:numRef>
          </c:val>
          <c:smooth val="0"/>
          <c:extLst>
            <c:ext xmlns:c16="http://schemas.microsoft.com/office/drawing/2014/chart" uri="{C3380CC4-5D6E-409C-BE32-E72D297353CC}">
              <c16:uniqueId val="{00000003-04F9-41CF-A631-101A502FC994}"/>
            </c:ext>
          </c:extLst>
        </c:ser>
        <c:dLbls>
          <c:showLegendKey val="0"/>
          <c:showVal val="0"/>
          <c:showCatName val="0"/>
          <c:showSerName val="0"/>
          <c:showPercent val="0"/>
          <c:showBubbleSize val="0"/>
        </c:dLbls>
        <c:marker val="1"/>
        <c:smooth val="0"/>
        <c:axId val="1477058656"/>
        <c:axId val="1477076416"/>
      </c:lineChart>
      <c:catAx>
        <c:axId val="1477058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crossAx val="1477076416"/>
        <c:crosses val="autoZero"/>
        <c:auto val="1"/>
        <c:lblAlgn val="ctr"/>
        <c:lblOffset val="100"/>
        <c:noMultiLvlLbl val="0"/>
      </c:catAx>
      <c:valAx>
        <c:axId val="1477076416"/>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_-;\-&quot;$&quot;* #,##0.0_-;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s-MX"/>
          </a:p>
        </c:txPr>
        <c:crossAx val="1477058656"/>
        <c:crosses val="autoZero"/>
        <c:crossBetween val="between"/>
      </c:valAx>
      <c:spPr>
        <a:noFill/>
        <a:ln>
          <a:noFill/>
        </a:ln>
        <a:effectLst/>
      </c:spPr>
    </c:plotArea>
    <c:legend>
      <c:legendPos val="b"/>
      <c:layout>
        <c:manualLayout>
          <c:xMode val="edge"/>
          <c:yMode val="edge"/>
          <c:x val="5.4461621152586195E-2"/>
          <c:y val="0.80854915565125507"/>
          <c:w val="0.89999982434908166"/>
          <c:h val="0.1480442838059920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MX"/>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Hoja1!$B$1</c:f>
              <c:strCache>
                <c:ptCount val="1"/>
                <c:pt idx="0">
                  <c:v>New</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Hoja1!$B$2:$B$7</c:f>
              <c:numCache>
                <c:formatCode>_-* #,##0_-;\-* #,##0_-;_-* "-"??_-;_-@_-</c:formatCode>
                <c:ptCount val="6"/>
                <c:pt idx="0">
                  <c:v>7</c:v>
                </c:pt>
                <c:pt idx="1">
                  <c:v>7</c:v>
                </c:pt>
                <c:pt idx="2">
                  <c:v>16</c:v>
                </c:pt>
                <c:pt idx="3">
                  <c:v>12</c:v>
                </c:pt>
                <c:pt idx="4">
                  <c:v>11</c:v>
                </c:pt>
                <c:pt idx="5">
                  <c:v>7</c:v>
                </c:pt>
              </c:numCache>
            </c:numRef>
          </c:val>
          <c:extLst>
            <c:ext xmlns:c16="http://schemas.microsoft.com/office/drawing/2014/chart" uri="{C3380CC4-5D6E-409C-BE32-E72D297353CC}">
              <c16:uniqueId val="{00000000-F0F1-4114-A7FD-B6006C49C3C4}"/>
            </c:ext>
          </c:extLst>
        </c:ser>
        <c:ser>
          <c:idx val="1"/>
          <c:order val="1"/>
          <c:tx>
            <c:strRef>
              <c:f>Hoja1!$C$1</c:f>
              <c:strCache>
                <c:ptCount val="1"/>
                <c:pt idx="0">
                  <c:v>Low</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Hoja1!$C$2:$C$7</c:f>
              <c:numCache>
                <c:formatCode>_-* #,##0_-;\-* #,##0_-;_-* "-"??_-;_-@_-</c:formatCode>
                <c:ptCount val="6"/>
                <c:pt idx="0">
                  <c:v>1</c:v>
                </c:pt>
                <c:pt idx="1">
                  <c:v>4</c:v>
                </c:pt>
                <c:pt idx="2">
                  <c:v>5</c:v>
                </c:pt>
                <c:pt idx="3">
                  <c:v>6</c:v>
                </c:pt>
                <c:pt idx="4">
                  <c:v>7</c:v>
                </c:pt>
                <c:pt idx="5">
                  <c:v>2</c:v>
                </c:pt>
              </c:numCache>
            </c:numRef>
          </c:val>
          <c:extLst>
            <c:ext xmlns:c16="http://schemas.microsoft.com/office/drawing/2014/chart" uri="{C3380CC4-5D6E-409C-BE32-E72D297353CC}">
              <c16:uniqueId val="{00000001-F0F1-4114-A7FD-B6006C49C3C4}"/>
            </c:ext>
          </c:extLst>
        </c:ser>
        <c:ser>
          <c:idx val="2"/>
          <c:order val="2"/>
          <c:tx>
            <c:strRef>
              <c:f>Hoja1!$D$1</c:f>
              <c:strCache>
                <c:ptCount val="1"/>
                <c:pt idx="0">
                  <c:v>Mid</c:v>
                </c:pt>
              </c:strCache>
            </c:strRef>
          </c:tx>
          <c:spPr>
            <a:solidFill>
              <a:srgbClr val="00376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Hoja1!$D$2:$D$7</c:f>
              <c:numCache>
                <c:formatCode>_-* #,##0_-;\-* #,##0_-;_-* "-"??_-;_-@_-</c:formatCode>
                <c:ptCount val="6"/>
                <c:pt idx="0">
                  <c:v>0</c:v>
                </c:pt>
                <c:pt idx="1">
                  <c:v>1</c:v>
                </c:pt>
                <c:pt idx="2">
                  <c:v>4</c:v>
                </c:pt>
                <c:pt idx="3">
                  <c:v>7</c:v>
                </c:pt>
                <c:pt idx="4">
                  <c:v>8</c:v>
                </c:pt>
                <c:pt idx="5">
                  <c:v>10</c:v>
                </c:pt>
              </c:numCache>
            </c:numRef>
          </c:val>
          <c:extLst>
            <c:ext xmlns:c16="http://schemas.microsoft.com/office/drawing/2014/chart" uri="{C3380CC4-5D6E-409C-BE32-E72D297353CC}">
              <c16:uniqueId val="{00000002-F0F1-4114-A7FD-B6006C49C3C4}"/>
            </c:ext>
          </c:extLst>
        </c:ser>
        <c:ser>
          <c:idx val="3"/>
          <c:order val="3"/>
          <c:tx>
            <c:strRef>
              <c:f>Hoja1!$E$1</c:f>
              <c:strCache>
                <c:ptCount val="1"/>
                <c:pt idx="0">
                  <c:v>High</c:v>
                </c:pt>
              </c:strCache>
            </c:strRef>
          </c:tx>
          <c:spPr>
            <a:solidFill>
              <a:srgbClr val="33D5A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Hoja1!$E$2:$E$7</c:f>
              <c:numCache>
                <c:formatCode>_-* #,##0_-;\-* #,##0_-;_-* "-"??_-;_-@_-</c:formatCode>
                <c:ptCount val="6"/>
                <c:pt idx="0">
                  <c:v>0</c:v>
                </c:pt>
                <c:pt idx="1">
                  <c:v>0</c:v>
                </c:pt>
                <c:pt idx="2">
                  <c:v>0</c:v>
                </c:pt>
                <c:pt idx="3">
                  <c:v>1</c:v>
                </c:pt>
                <c:pt idx="4">
                  <c:v>2</c:v>
                </c:pt>
                <c:pt idx="5">
                  <c:v>3</c:v>
                </c:pt>
              </c:numCache>
            </c:numRef>
          </c:val>
          <c:extLst>
            <c:ext xmlns:c16="http://schemas.microsoft.com/office/drawing/2014/chart" uri="{C3380CC4-5D6E-409C-BE32-E72D297353CC}">
              <c16:uniqueId val="{00000003-F0F1-4114-A7FD-B6006C49C3C4}"/>
            </c:ext>
          </c:extLst>
        </c:ser>
        <c:dLbls>
          <c:dLblPos val="ctr"/>
          <c:showLegendKey val="0"/>
          <c:showVal val="1"/>
          <c:showCatName val="0"/>
          <c:showSerName val="0"/>
          <c:showPercent val="0"/>
          <c:showBubbleSize val="0"/>
        </c:dLbls>
        <c:gapWidth val="150"/>
        <c:overlap val="100"/>
        <c:axId val="2053671856"/>
        <c:axId val="2053698736"/>
      </c:barChart>
      <c:catAx>
        <c:axId val="205367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s-MX"/>
          </a:p>
        </c:txPr>
        <c:crossAx val="2053698736"/>
        <c:crosses val="autoZero"/>
        <c:auto val="1"/>
        <c:lblAlgn val="ctr"/>
        <c:lblOffset val="100"/>
        <c:noMultiLvlLbl val="0"/>
      </c:catAx>
      <c:valAx>
        <c:axId val="20536987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s-MX"/>
          </a:p>
        </c:txPr>
        <c:crossAx val="20536718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MX"/>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Hoja1!$B$1</c:f>
              <c:strCache>
                <c:ptCount val="1"/>
                <c:pt idx="0">
                  <c:v>New</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Hoja1!$B$2:$B$7</c:f>
              <c:numCache>
                <c:formatCode>_-* #,##0_-;\-* #,##0_-;_-* "-"??_-;_-@_-</c:formatCode>
                <c:ptCount val="6"/>
                <c:pt idx="0">
                  <c:v>5</c:v>
                </c:pt>
                <c:pt idx="1">
                  <c:v>1</c:v>
                </c:pt>
                <c:pt idx="2">
                  <c:v>10</c:v>
                </c:pt>
                <c:pt idx="3">
                  <c:v>11</c:v>
                </c:pt>
                <c:pt idx="4">
                  <c:v>6</c:v>
                </c:pt>
                <c:pt idx="5">
                  <c:v>10</c:v>
                </c:pt>
              </c:numCache>
            </c:numRef>
          </c:val>
          <c:extLst>
            <c:ext xmlns:c16="http://schemas.microsoft.com/office/drawing/2014/chart" uri="{C3380CC4-5D6E-409C-BE32-E72D297353CC}">
              <c16:uniqueId val="{00000000-23CD-4A71-8C5A-347A8A9E4B84}"/>
            </c:ext>
          </c:extLst>
        </c:ser>
        <c:ser>
          <c:idx val="1"/>
          <c:order val="1"/>
          <c:tx>
            <c:strRef>
              <c:f>Hoja1!$C$1</c:f>
              <c:strCache>
                <c:ptCount val="1"/>
                <c:pt idx="0">
                  <c:v>Low</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Hoja1!$C$2:$C$7</c:f>
              <c:numCache>
                <c:formatCode>_-* #,##0_-;\-* #,##0_-;_-* "-"??_-;_-@_-</c:formatCode>
                <c:ptCount val="6"/>
                <c:pt idx="0">
                  <c:v>2</c:v>
                </c:pt>
                <c:pt idx="1">
                  <c:v>4</c:v>
                </c:pt>
                <c:pt idx="2">
                  <c:v>0</c:v>
                </c:pt>
                <c:pt idx="3">
                  <c:v>8</c:v>
                </c:pt>
                <c:pt idx="4">
                  <c:v>6</c:v>
                </c:pt>
                <c:pt idx="5">
                  <c:v>2</c:v>
                </c:pt>
              </c:numCache>
            </c:numRef>
          </c:val>
          <c:extLst>
            <c:ext xmlns:c16="http://schemas.microsoft.com/office/drawing/2014/chart" uri="{C3380CC4-5D6E-409C-BE32-E72D297353CC}">
              <c16:uniqueId val="{00000001-23CD-4A71-8C5A-347A8A9E4B84}"/>
            </c:ext>
          </c:extLst>
        </c:ser>
        <c:ser>
          <c:idx val="2"/>
          <c:order val="2"/>
          <c:tx>
            <c:strRef>
              <c:f>Hoja1!$D$1</c:f>
              <c:strCache>
                <c:ptCount val="1"/>
                <c:pt idx="0">
                  <c:v>Mid</c:v>
                </c:pt>
              </c:strCache>
            </c:strRef>
          </c:tx>
          <c:spPr>
            <a:solidFill>
              <a:srgbClr val="00376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Hoja1!$D$2:$D$7</c:f>
              <c:numCache>
                <c:formatCode>_-* #,##0_-;\-* #,##0_-;_-* "-"??_-;_-@_-</c:formatCode>
                <c:ptCount val="6"/>
                <c:pt idx="0">
                  <c:v>10</c:v>
                </c:pt>
                <c:pt idx="1">
                  <c:v>6</c:v>
                </c:pt>
                <c:pt idx="2">
                  <c:v>1</c:v>
                </c:pt>
                <c:pt idx="3">
                  <c:v>0</c:v>
                </c:pt>
                <c:pt idx="4">
                  <c:v>9</c:v>
                </c:pt>
                <c:pt idx="5">
                  <c:v>10</c:v>
                </c:pt>
              </c:numCache>
            </c:numRef>
          </c:val>
          <c:extLst>
            <c:ext xmlns:c16="http://schemas.microsoft.com/office/drawing/2014/chart" uri="{C3380CC4-5D6E-409C-BE32-E72D297353CC}">
              <c16:uniqueId val="{00000002-23CD-4A71-8C5A-347A8A9E4B84}"/>
            </c:ext>
          </c:extLst>
        </c:ser>
        <c:ser>
          <c:idx val="3"/>
          <c:order val="3"/>
          <c:tx>
            <c:strRef>
              <c:f>Hoja1!$E$1</c:f>
              <c:strCache>
                <c:ptCount val="1"/>
                <c:pt idx="0">
                  <c:v>High</c:v>
                </c:pt>
              </c:strCache>
            </c:strRef>
          </c:tx>
          <c:spPr>
            <a:solidFill>
              <a:srgbClr val="33D5A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Hoja1!$A$2:$A$7</c:f>
              <c:numCache>
                <c:formatCode>General</c:formatCode>
                <c:ptCount val="6"/>
                <c:pt idx="0">
                  <c:v>20</c:v>
                </c:pt>
                <c:pt idx="1">
                  <c:v>21</c:v>
                </c:pt>
                <c:pt idx="2">
                  <c:v>22</c:v>
                </c:pt>
                <c:pt idx="3">
                  <c:v>23</c:v>
                </c:pt>
                <c:pt idx="4">
                  <c:v>24</c:v>
                </c:pt>
                <c:pt idx="5">
                  <c:v>25</c:v>
                </c:pt>
              </c:numCache>
            </c:numRef>
          </c:cat>
          <c:val>
            <c:numRef>
              <c:f>Hoja1!$E$2:$E$7</c:f>
              <c:numCache>
                <c:formatCode>_-* #,##0_-;\-* #,##0_-;_-* "-"??_-;_-@_-</c:formatCode>
                <c:ptCount val="6"/>
                <c:pt idx="0">
                  <c:v>8</c:v>
                </c:pt>
                <c:pt idx="1">
                  <c:v>12</c:v>
                </c:pt>
                <c:pt idx="2">
                  <c:v>14</c:v>
                </c:pt>
                <c:pt idx="3">
                  <c:v>13</c:v>
                </c:pt>
                <c:pt idx="4">
                  <c:v>12</c:v>
                </c:pt>
                <c:pt idx="5">
                  <c:v>10</c:v>
                </c:pt>
              </c:numCache>
            </c:numRef>
          </c:val>
          <c:extLst>
            <c:ext xmlns:c16="http://schemas.microsoft.com/office/drawing/2014/chart" uri="{C3380CC4-5D6E-409C-BE32-E72D297353CC}">
              <c16:uniqueId val="{00000003-23CD-4A71-8C5A-347A8A9E4B84}"/>
            </c:ext>
          </c:extLst>
        </c:ser>
        <c:dLbls>
          <c:dLblPos val="ctr"/>
          <c:showLegendKey val="0"/>
          <c:showVal val="1"/>
          <c:showCatName val="0"/>
          <c:showSerName val="0"/>
          <c:showPercent val="0"/>
          <c:showBubbleSize val="0"/>
        </c:dLbls>
        <c:gapWidth val="150"/>
        <c:overlap val="100"/>
        <c:axId val="2053671856"/>
        <c:axId val="2053698736"/>
      </c:barChart>
      <c:catAx>
        <c:axId val="205367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s-MX"/>
          </a:p>
        </c:txPr>
        <c:crossAx val="2053698736"/>
        <c:crosses val="autoZero"/>
        <c:auto val="1"/>
        <c:lblAlgn val="ctr"/>
        <c:lblOffset val="100"/>
        <c:noMultiLvlLbl val="0"/>
      </c:catAx>
      <c:valAx>
        <c:axId val="20536987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s-MX"/>
          </a:p>
        </c:txPr>
        <c:crossAx val="20536718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MX"/>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MX"/>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A52157ED-70F9-4606-9784-228984901219}" type="datetimeFigureOut">
              <a:rPr lang="es-MX" smtClean="0"/>
              <a:t>04/03/2026</a:t>
            </a:fld>
            <a:endParaRPr lang="es-MX"/>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2CB610E-CB44-45B7-92F5-EEFAD20B1409}" type="slidenum">
              <a:rPr lang="es-MX" smtClean="0"/>
              <a:t>‹Nº›</a:t>
            </a:fld>
            <a:endParaRPr lang="es-MX"/>
          </a:p>
        </p:txBody>
      </p:sp>
    </p:spTree>
    <p:extLst>
      <p:ext uri="{BB962C8B-B14F-4D97-AF65-F5344CB8AC3E}">
        <p14:creationId xmlns:p14="http://schemas.microsoft.com/office/powerpoint/2010/main" val="1176414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D2E32-1EC4-CCB8-9EC2-227D44C80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976A6-0440-CD99-AE35-18599AE27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68C2F-97F5-9F2A-05EE-5FB0122EEF14}"/>
              </a:ext>
            </a:extLst>
          </p:cNvPr>
          <p:cNvSpPr>
            <a:spLocks noGrp="1"/>
          </p:cNvSpPr>
          <p:nvPr>
            <p:ph type="body" idx="1"/>
          </p:nvPr>
        </p:nvSpPr>
        <p:spPr/>
        <p:txBody>
          <a:bodyPr/>
          <a:lstStyle/>
          <a:p>
            <a:endParaRPr lang="es-MX" dirty="0"/>
          </a:p>
        </p:txBody>
      </p:sp>
      <p:sp>
        <p:nvSpPr>
          <p:cNvPr id="4" name="Slide Number Placeholder 3">
            <a:extLst>
              <a:ext uri="{FF2B5EF4-FFF2-40B4-BE49-F238E27FC236}">
                <a16:creationId xmlns:a16="http://schemas.microsoft.com/office/drawing/2014/main" id="{F723BD47-7C41-9966-ABC8-DA85B5EC9B4E}"/>
              </a:ext>
            </a:extLst>
          </p:cNvPr>
          <p:cNvSpPr>
            <a:spLocks noGrp="1"/>
          </p:cNvSpPr>
          <p:nvPr>
            <p:ph type="sldNum" sz="quarter" idx="5"/>
          </p:nvPr>
        </p:nvSpPr>
        <p:spPr/>
        <p:txBody>
          <a:bodyPr/>
          <a:lstStyle/>
          <a:p>
            <a:fld id="{2BFF3F74-A4A7-44BC-83DD-20150E1B8BB0}" type="slidenum">
              <a:rPr lang="en-US" smtClean="0"/>
              <a:t>2</a:t>
            </a:fld>
            <a:endParaRPr lang="en-US" dirty="0"/>
          </a:p>
        </p:txBody>
      </p:sp>
    </p:spTree>
    <p:extLst>
      <p:ext uri="{BB962C8B-B14F-4D97-AF65-F5344CB8AC3E}">
        <p14:creationId xmlns:p14="http://schemas.microsoft.com/office/powerpoint/2010/main" val="1929120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4BCE-FD89-949F-87FE-1B7383834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1DD6E-E74D-5547-49BD-B7A906ACD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C59E3-31E9-75AC-A990-1D4FC3E134E5}"/>
              </a:ext>
            </a:extLst>
          </p:cNvPr>
          <p:cNvSpPr>
            <a:spLocks noGrp="1"/>
          </p:cNvSpPr>
          <p:nvPr>
            <p:ph type="body" idx="1"/>
          </p:nvPr>
        </p:nvSpPr>
        <p:spPr/>
        <p:txBody>
          <a:bodyPr/>
          <a:lstStyle/>
          <a:p>
            <a:endParaRPr lang="es-MX" dirty="0"/>
          </a:p>
        </p:txBody>
      </p:sp>
      <p:sp>
        <p:nvSpPr>
          <p:cNvPr id="4" name="Slide Number Placeholder 3">
            <a:extLst>
              <a:ext uri="{FF2B5EF4-FFF2-40B4-BE49-F238E27FC236}">
                <a16:creationId xmlns:a16="http://schemas.microsoft.com/office/drawing/2014/main" id="{8E8662B6-EBA3-4C2B-41A1-BEEDC16139E5}"/>
              </a:ext>
            </a:extLst>
          </p:cNvPr>
          <p:cNvSpPr>
            <a:spLocks noGrp="1"/>
          </p:cNvSpPr>
          <p:nvPr>
            <p:ph type="sldNum" sz="quarter" idx="5"/>
          </p:nvPr>
        </p:nvSpPr>
        <p:spPr/>
        <p:txBody>
          <a:bodyPr/>
          <a:lstStyle/>
          <a:p>
            <a:fld id="{2BFF3F74-A4A7-44BC-83DD-20150E1B8BB0}" type="slidenum">
              <a:rPr lang="en-US" smtClean="0"/>
              <a:t>3</a:t>
            </a:fld>
            <a:endParaRPr lang="en-US" dirty="0"/>
          </a:p>
        </p:txBody>
      </p:sp>
    </p:spTree>
    <p:extLst>
      <p:ext uri="{BB962C8B-B14F-4D97-AF65-F5344CB8AC3E}">
        <p14:creationId xmlns:p14="http://schemas.microsoft.com/office/powerpoint/2010/main" val="257538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4C76-3CF0-486F-9070-55AF182B6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E7236-6DF2-B548-344A-79CFA89CF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0AA45E-F49B-28BF-B785-A298B59DD10D}"/>
              </a:ext>
            </a:extLst>
          </p:cNvPr>
          <p:cNvSpPr>
            <a:spLocks noGrp="1"/>
          </p:cNvSpPr>
          <p:nvPr>
            <p:ph type="body" idx="1"/>
          </p:nvPr>
        </p:nvSpPr>
        <p:spPr/>
        <p:txBody>
          <a:bodyPr/>
          <a:lstStyle/>
          <a:p>
            <a:endParaRPr lang="es-MX" dirty="0"/>
          </a:p>
        </p:txBody>
      </p:sp>
      <p:sp>
        <p:nvSpPr>
          <p:cNvPr id="4" name="Slide Number Placeholder 3">
            <a:extLst>
              <a:ext uri="{FF2B5EF4-FFF2-40B4-BE49-F238E27FC236}">
                <a16:creationId xmlns:a16="http://schemas.microsoft.com/office/drawing/2014/main" id="{445BB2AF-1AA8-6562-95DC-21DFA3DD0944}"/>
              </a:ext>
            </a:extLst>
          </p:cNvPr>
          <p:cNvSpPr>
            <a:spLocks noGrp="1"/>
          </p:cNvSpPr>
          <p:nvPr>
            <p:ph type="sldNum" sz="quarter" idx="5"/>
          </p:nvPr>
        </p:nvSpPr>
        <p:spPr/>
        <p:txBody>
          <a:bodyPr/>
          <a:lstStyle/>
          <a:p>
            <a:fld id="{2BFF3F74-A4A7-44BC-83DD-20150E1B8BB0}" type="slidenum">
              <a:rPr lang="en-US" smtClean="0"/>
              <a:t>4</a:t>
            </a:fld>
            <a:endParaRPr lang="en-US" dirty="0"/>
          </a:p>
        </p:txBody>
      </p:sp>
    </p:spTree>
    <p:extLst>
      <p:ext uri="{BB962C8B-B14F-4D97-AF65-F5344CB8AC3E}">
        <p14:creationId xmlns:p14="http://schemas.microsoft.com/office/powerpoint/2010/main" val="3443876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EE328-89FB-6CE3-4CB9-2AB7FC020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3A694-3D9C-DC07-513D-F53F582BB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034E8-3F32-F7F8-23F3-ED4311EB5C4F}"/>
              </a:ext>
            </a:extLst>
          </p:cNvPr>
          <p:cNvSpPr>
            <a:spLocks noGrp="1"/>
          </p:cNvSpPr>
          <p:nvPr>
            <p:ph type="body" idx="1"/>
          </p:nvPr>
        </p:nvSpPr>
        <p:spPr/>
        <p:txBody>
          <a:bodyPr/>
          <a:lstStyle/>
          <a:p>
            <a:endParaRPr lang="es-MX" dirty="0"/>
          </a:p>
        </p:txBody>
      </p:sp>
      <p:sp>
        <p:nvSpPr>
          <p:cNvPr id="4" name="Slide Number Placeholder 3">
            <a:extLst>
              <a:ext uri="{FF2B5EF4-FFF2-40B4-BE49-F238E27FC236}">
                <a16:creationId xmlns:a16="http://schemas.microsoft.com/office/drawing/2014/main" id="{7CCB0805-4F77-22E2-CA2F-194C78A96EB1}"/>
              </a:ext>
            </a:extLst>
          </p:cNvPr>
          <p:cNvSpPr>
            <a:spLocks noGrp="1"/>
          </p:cNvSpPr>
          <p:nvPr>
            <p:ph type="sldNum" sz="quarter" idx="5"/>
          </p:nvPr>
        </p:nvSpPr>
        <p:spPr/>
        <p:txBody>
          <a:bodyPr/>
          <a:lstStyle/>
          <a:p>
            <a:fld id="{2BFF3F74-A4A7-44BC-83DD-20150E1B8BB0}" type="slidenum">
              <a:rPr lang="en-US" smtClean="0"/>
              <a:t>5</a:t>
            </a:fld>
            <a:endParaRPr lang="en-US" dirty="0"/>
          </a:p>
        </p:txBody>
      </p:sp>
    </p:spTree>
    <p:extLst>
      <p:ext uri="{BB962C8B-B14F-4D97-AF65-F5344CB8AC3E}">
        <p14:creationId xmlns:p14="http://schemas.microsoft.com/office/powerpoint/2010/main" val="1996022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1CCE-4AD3-F021-052E-7321FB7AD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58C4C-6635-F2BE-B038-DBA5F2B9C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ED5E3-E42C-B536-88D1-F9A9F424174B}"/>
              </a:ext>
            </a:extLst>
          </p:cNvPr>
          <p:cNvSpPr>
            <a:spLocks noGrp="1"/>
          </p:cNvSpPr>
          <p:nvPr>
            <p:ph type="body" idx="1"/>
          </p:nvPr>
        </p:nvSpPr>
        <p:spPr/>
        <p:txBody>
          <a:bodyPr/>
          <a:lstStyle/>
          <a:p>
            <a:endParaRPr lang="es-MX" dirty="0"/>
          </a:p>
        </p:txBody>
      </p:sp>
      <p:sp>
        <p:nvSpPr>
          <p:cNvPr id="4" name="Slide Number Placeholder 3">
            <a:extLst>
              <a:ext uri="{FF2B5EF4-FFF2-40B4-BE49-F238E27FC236}">
                <a16:creationId xmlns:a16="http://schemas.microsoft.com/office/drawing/2014/main" id="{18E3B932-800A-E9A2-55F2-D4AB64FE2CCE}"/>
              </a:ext>
            </a:extLst>
          </p:cNvPr>
          <p:cNvSpPr>
            <a:spLocks noGrp="1"/>
          </p:cNvSpPr>
          <p:nvPr>
            <p:ph type="sldNum" sz="quarter" idx="5"/>
          </p:nvPr>
        </p:nvSpPr>
        <p:spPr/>
        <p:txBody>
          <a:bodyPr/>
          <a:lstStyle/>
          <a:p>
            <a:fld id="{2BFF3F74-A4A7-44BC-83DD-20150E1B8BB0}" type="slidenum">
              <a:rPr lang="en-US" smtClean="0"/>
              <a:t>6</a:t>
            </a:fld>
            <a:endParaRPr lang="en-US" dirty="0"/>
          </a:p>
        </p:txBody>
      </p:sp>
    </p:spTree>
    <p:extLst>
      <p:ext uri="{BB962C8B-B14F-4D97-AF65-F5344CB8AC3E}">
        <p14:creationId xmlns:p14="http://schemas.microsoft.com/office/powerpoint/2010/main" val="3752826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BEF68-ADB1-10C6-C1A6-58DCBBC74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1FC76B-4B67-A048-8F9F-CD98845C9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0C361-604C-6C2D-0B7A-BED11D9D518E}"/>
              </a:ext>
            </a:extLst>
          </p:cNvPr>
          <p:cNvSpPr>
            <a:spLocks noGrp="1"/>
          </p:cNvSpPr>
          <p:nvPr>
            <p:ph type="body" idx="1"/>
          </p:nvPr>
        </p:nvSpPr>
        <p:spPr/>
        <p:txBody>
          <a:bodyPr/>
          <a:lstStyle/>
          <a:p>
            <a:endParaRPr lang="es-MX" dirty="0"/>
          </a:p>
        </p:txBody>
      </p:sp>
      <p:sp>
        <p:nvSpPr>
          <p:cNvPr id="4" name="Slide Number Placeholder 3">
            <a:extLst>
              <a:ext uri="{FF2B5EF4-FFF2-40B4-BE49-F238E27FC236}">
                <a16:creationId xmlns:a16="http://schemas.microsoft.com/office/drawing/2014/main" id="{F61C4408-5CCF-26E9-BEAA-AE3E1AF97A31}"/>
              </a:ext>
            </a:extLst>
          </p:cNvPr>
          <p:cNvSpPr>
            <a:spLocks noGrp="1"/>
          </p:cNvSpPr>
          <p:nvPr>
            <p:ph type="sldNum" sz="quarter" idx="5"/>
          </p:nvPr>
        </p:nvSpPr>
        <p:spPr/>
        <p:txBody>
          <a:bodyPr/>
          <a:lstStyle/>
          <a:p>
            <a:fld id="{2BFF3F74-A4A7-44BC-83DD-20150E1B8BB0}" type="slidenum">
              <a:rPr lang="en-US" smtClean="0"/>
              <a:t>7</a:t>
            </a:fld>
            <a:endParaRPr lang="en-US" dirty="0"/>
          </a:p>
        </p:txBody>
      </p:sp>
    </p:spTree>
    <p:extLst>
      <p:ext uri="{BB962C8B-B14F-4D97-AF65-F5344CB8AC3E}">
        <p14:creationId xmlns:p14="http://schemas.microsoft.com/office/powerpoint/2010/main" val="2383902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339DD5-9692-3A39-E6F5-7FA0F0E2921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83E5CFD9-B416-530F-87A6-6E903A440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9B49341-4473-520B-F359-5344D065B07D}"/>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5" name="Marcador de pie de página 4">
            <a:extLst>
              <a:ext uri="{FF2B5EF4-FFF2-40B4-BE49-F238E27FC236}">
                <a16:creationId xmlns:a16="http://schemas.microsoft.com/office/drawing/2014/main" id="{336E4060-AD75-69E3-A375-8DCFCB28217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DBA0748-A0D0-5D5A-68CE-051F584BAEEE}"/>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34072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F73FF-BEF3-6F9B-E327-6E5D325BE5D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08A7B15-2D23-3A69-7F0D-7D095BA3F0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9287618-BA05-4546-60DE-32501B8DCF47}"/>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5" name="Marcador de pie de página 4">
            <a:extLst>
              <a:ext uri="{FF2B5EF4-FFF2-40B4-BE49-F238E27FC236}">
                <a16:creationId xmlns:a16="http://schemas.microsoft.com/office/drawing/2014/main" id="{4BF8BDC8-6BD6-367C-B4F0-75F1ACA892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482E984-007A-20B7-B252-364457670EEB}"/>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3250213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7ABB4E-60A0-2237-5D24-E4DDCD0223E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6CD30BC-8C40-65A5-1559-916C40BF06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92D32E7-9912-174C-8B0D-00954291B4B5}"/>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5" name="Marcador de pie de página 4">
            <a:extLst>
              <a:ext uri="{FF2B5EF4-FFF2-40B4-BE49-F238E27FC236}">
                <a16:creationId xmlns:a16="http://schemas.microsoft.com/office/drawing/2014/main" id="{2278C1C9-2E6B-7F2A-F000-91CCF0FC960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477D308-2300-844B-0C6F-69E5BBB5E785}"/>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4034649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F83D4-04E2-2EA5-4049-EB7CA27823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C4EF1C6-06EF-3D74-AAB8-49C83287948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0CBF9B30-43A3-8FD6-ACD4-C8162FC7264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62CF2FF-986C-67DA-242C-A9C670E3A0F3}"/>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6" name="Marcador de pie de página 5">
            <a:extLst>
              <a:ext uri="{FF2B5EF4-FFF2-40B4-BE49-F238E27FC236}">
                <a16:creationId xmlns:a16="http://schemas.microsoft.com/office/drawing/2014/main" id="{87408980-0C87-B0AE-25BB-1C052E4F2BE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A8D7EA2-F9E1-3C2C-5FD2-48F6582FF2CF}"/>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510964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B2B92F-CC11-223A-F491-FCF2172638F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DAE4A37-737C-5027-3020-1974A96B5C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2487BD1-6702-B304-1DD1-98CE57CB617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36B9910-45EC-38B9-6BD8-CA4CD17C26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B56B6BD-FCDD-5A60-5585-C7A8E91E124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FBD0DD6-ED80-1AAD-83F6-6A9B86CB3CD2}"/>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8" name="Marcador de pie de página 7">
            <a:extLst>
              <a:ext uri="{FF2B5EF4-FFF2-40B4-BE49-F238E27FC236}">
                <a16:creationId xmlns:a16="http://schemas.microsoft.com/office/drawing/2014/main" id="{2EB91F0D-3FC1-82D4-3057-64B3017273C1}"/>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13B656A-ECC3-19CB-0D90-F4C97DE600C1}"/>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2408915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C60F6A-0DB6-5D20-C4B7-A051B8269B2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3BCA419-E94A-B4A0-2F99-22B320B3C3F5}"/>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4" name="Marcador de pie de página 3">
            <a:extLst>
              <a:ext uri="{FF2B5EF4-FFF2-40B4-BE49-F238E27FC236}">
                <a16:creationId xmlns:a16="http://schemas.microsoft.com/office/drawing/2014/main" id="{325D91A9-4C1B-129D-E626-4E977B0FE0BC}"/>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E78CA03-CE92-4CF9-793A-22439BDA2386}"/>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3909951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C3E0B1A-D01E-06DE-CB00-202BFD6D88F9}"/>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3" name="Marcador de pie de página 2">
            <a:extLst>
              <a:ext uri="{FF2B5EF4-FFF2-40B4-BE49-F238E27FC236}">
                <a16:creationId xmlns:a16="http://schemas.microsoft.com/office/drawing/2014/main" id="{64CEF9BC-088D-7464-6FBB-BEA54E5E869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0B9A59F-FACD-E256-8459-2CA202374230}"/>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3839044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0C7AB9-86E8-0A38-467F-5412D7A1836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1C72FA9-A348-0C96-C564-1BC0C33B7D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2AE787B2-A714-184C-DB0D-8BE459568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652EF49-0043-0E37-CF54-12ABE13FDD6C}"/>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6" name="Marcador de pie de página 5">
            <a:extLst>
              <a:ext uri="{FF2B5EF4-FFF2-40B4-BE49-F238E27FC236}">
                <a16:creationId xmlns:a16="http://schemas.microsoft.com/office/drawing/2014/main" id="{6B8FEEBC-5255-041A-3569-D5E59FC28F8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B37704B-5BC1-5503-3DB9-041945328DFC}"/>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3865594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1D03A4-8F71-2669-5D43-E23BC096DC4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08DB1819-8067-D810-99D2-34D745BDE0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EE5BC46-705F-3090-99F6-D4A0D3EBA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497BEAA-F73E-B6BA-9046-55F71F80310A}"/>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6" name="Marcador de pie de página 5">
            <a:extLst>
              <a:ext uri="{FF2B5EF4-FFF2-40B4-BE49-F238E27FC236}">
                <a16:creationId xmlns:a16="http://schemas.microsoft.com/office/drawing/2014/main" id="{E71FAC3E-BA67-769B-3D83-B04A9ABEB98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EBDF946-6B6D-F41A-650D-718B9D12E170}"/>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1879469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34073-CF77-5331-6D53-6D421AB3E2A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4A373D7-92E6-E5CF-6540-0CA425AE23E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7E2B127-9B5D-4AFD-0DE6-1CFEF110CC87}"/>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5" name="Marcador de pie de página 4">
            <a:extLst>
              <a:ext uri="{FF2B5EF4-FFF2-40B4-BE49-F238E27FC236}">
                <a16:creationId xmlns:a16="http://schemas.microsoft.com/office/drawing/2014/main" id="{94ECF917-C7BC-4232-341C-309B369784E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C6B0B51-62FE-93E3-C63D-A169836AD5E4}"/>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3159130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016D2DE-F4D1-06C9-62C6-6D068FE0E0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75A5D13-8E58-7FCD-05D0-D3F4E6B7668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95D0E8D-CDB6-74A2-D8D8-7484D0370089}"/>
              </a:ext>
            </a:extLst>
          </p:cNvPr>
          <p:cNvSpPr>
            <a:spLocks noGrp="1"/>
          </p:cNvSpPr>
          <p:nvPr>
            <p:ph type="dt" sz="half" idx="10"/>
          </p:nvPr>
        </p:nvSpPr>
        <p:spPr/>
        <p:txBody>
          <a:bodyPr/>
          <a:lstStyle/>
          <a:p>
            <a:fld id="{CCD6E0D7-A945-4E25-BD80-AA51D3103112}" type="datetimeFigureOut">
              <a:rPr lang="es-MX" smtClean="0"/>
              <a:t>04/03/2026</a:t>
            </a:fld>
            <a:endParaRPr lang="es-MX"/>
          </a:p>
        </p:txBody>
      </p:sp>
      <p:sp>
        <p:nvSpPr>
          <p:cNvPr id="5" name="Marcador de pie de página 4">
            <a:extLst>
              <a:ext uri="{FF2B5EF4-FFF2-40B4-BE49-F238E27FC236}">
                <a16:creationId xmlns:a16="http://schemas.microsoft.com/office/drawing/2014/main" id="{F574ADC1-C281-AF00-9B18-D3B4C4CC8A1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0EEF36A-3C65-2C9D-EE1C-60D6971FDBBD}"/>
              </a:ext>
            </a:extLst>
          </p:cNvPr>
          <p:cNvSpPr>
            <a:spLocks noGrp="1"/>
          </p:cNvSpPr>
          <p:nvPr>
            <p:ph type="sldNum" sz="quarter" idx="12"/>
          </p:nvPr>
        </p:nvSpPr>
        <p:spPr/>
        <p:txBody>
          <a:bodyPr/>
          <a:lstStyle/>
          <a:p>
            <a:fld id="{F274E7CD-A1EB-4B2E-B532-47A5739A5653}" type="slidenum">
              <a:rPr lang="es-MX" smtClean="0"/>
              <a:t>‹Nº›</a:t>
            </a:fld>
            <a:endParaRPr lang="es-MX"/>
          </a:p>
        </p:txBody>
      </p:sp>
    </p:spTree>
    <p:extLst>
      <p:ext uri="{BB962C8B-B14F-4D97-AF65-F5344CB8AC3E}">
        <p14:creationId xmlns:p14="http://schemas.microsoft.com/office/powerpoint/2010/main" val="2909415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ortada 4">
    <p:spTree>
      <p:nvGrpSpPr>
        <p:cNvPr id="1" name=""/>
        <p:cNvGrpSpPr/>
        <p:nvPr/>
      </p:nvGrpSpPr>
      <p:grpSpPr>
        <a:xfrm>
          <a:off x="0" y="0"/>
          <a:ext cx="0" cy="0"/>
          <a:chOff x="0" y="0"/>
          <a:chExt cx="0" cy="0"/>
        </a:xfrm>
      </p:grpSpPr>
      <p:sp>
        <p:nvSpPr>
          <p:cNvPr id="10" name="Round Diagonal Corner Rectangle 9">
            <a:extLst>
              <a:ext uri="{FF2B5EF4-FFF2-40B4-BE49-F238E27FC236}">
                <a16:creationId xmlns:a16="http://schemas.microsoft.com/office/drawing/2014/main" id="{1DB9AF6A-3094-8240-8E95-EB86933365BB}"/>
              </a:ext>
            </a:extLst>
          </p:cNvPr>
          <p:cNvSpPr/>
          <p:nvPr userDrawn="1"/>
        </p:nvSpPr>
        <p:spPr>
          <a:xfrm>
            <a:off x="0" y="0"/>
            <a:ext cx="12192000" cy="2747056"/>
          </a:xfrm>
          <a:prstGeom prst="round2DiagRect">
            <a:avLst>
              <a:gd name="adj1" fmla="val 26223"/>
              <a:gd name="adj2" fmla="val 0"/>
            </a:avLst>
          </a:prstGeom>
          <a:solidFill>
            <a:srgbClr val="0037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33"/>
          </a:p>
        </p:txBody>
      </p:sp>
      <p:sp>
        <p:nvSpPr>
          <p:cNvPr id="13" name="Picture Placeholder 11"/>
          <p:cNvSpPr>
            <a:spLocks noGrp="1"/>
          </p:cNvSpPr>
          <p:nvPr>
            <p:ph type="pic" sz="quarter" idx="10"/>
          </p:nvPr>
        </p:nvSpPr>
        <p:spPr>
          <a:xfrm>
            <a:off x="0" y="2747055"/>
            <a:ext cx="12192000" cy="4140999"/>
          </a:xfrm>
        </p:spPr>
        <p:txBody>
          <a:bodyPr/>
          <a:lstStyle/>
          <a:p>
            <a:endParaRPr lang="es-MX"/>
          </a:p>
        </p:txBody>
      </p:sp>
      <p:cxnSp>
        <p:nvCxnSpPr>
          <p:cNvPr id="17" name="Straight Connector 16"/>
          <p:cNvCxnSpPr/>
          <p:nvPr userDrawn="1"/>
        </p:nvCxnSpPr>
        <p:spPr>
          <a:xfrm flipH="1" flipV="1">
            <a:off x="0" y="2825202"/>
            <a:ext cx="12192000" cy="24043"/>
          </a:xfrm>
          <a:prstGeom prst="line">
            <a:avLst/>
          </a:prstGeom>
          <a:ln w="88900">
            <a:solidFill>
              <a:srgbClr val="EE7600"/>
            </a:solidFill>
          </a:ln>
        </p:spPr>
        <p:style>
          <a:lnRef idx="1">
            <a:schemeClr val="accent1"/>
          </a:lnRef>
          <a:fillRef idx="0">
            <a:schemeClr val="accent1"/>
          </a:fillRef>
          <a:effectRef idx="0">
            <a:schemeClr val="accent1"/>
          </a:effectRef>
          <a:fontRef idx="minor">
            <a:schemeClr val="tx1"/>
          </a:fontRef>
        </p:style>
      </p:cxnSp>
      <p:sp>
        <p:nvSpPr>
          <p:cNvPr id="18" name="Subtitle 2"/>
          <p:cNvSpPr>
            <a:spLocks noGrp="1"/>
          </p:cNvSpPr>
          <p:nvPr>
            <p:ph type="subTitle" idx="1"/>
          </p:nvPr>
        </p:nvSpPr>
        <p:spPr>
          <a:xfrm>
            <a:off x="7844784" y="1655857"/>
            <a:ext cx="4192831" cy="354565"/>
          </a:xfrm>
        </p:spPr>
        <p:txBody>
          <a:bodyPr>
            <a:normAutofit/>
          </a:bodyPr>
          <a:lstStyle>
            <a:lvl1pPr marL="0" indent="0" algn="r">
              <a:buNone/>
              <a:defRPr sz="1814" b="0" i="0" baseline="0">
                <a:solidFill>
                  <a:srgbClr val="40D5AE"/>
                </a:solidFill>
                <a:latin typeface="Helvetica" pitchFamily="2" charset="0"/>
                <a:ea typeface="Verdana" charset="0"/>
                <a:cs typeface="Verdana" charset="0"/>
              </a:defRPr>
            </a:lvl1pPr>
            <a:lvl2pPr marL="453180" indent="0" algn="ctr">
              <a:buNone/>
              <a:defRPr sz="1982"/>
            </a:lvl2pPr>
            <a:lvl3pPr marL="906359" indent="0" algn="ctr">
              <a:buNone/>
              <a:defRPr sz="1784"/>
            </a:lvl3pPr>
            <a:lvl4pPr marL="1359539" indent="0" algn="ctr">
              <a:buNone/>
              <a:defRPr sz="1586"/>
            </a:lvl4pPr>
            <a:lvl5pPr marL="1812719" indent="0" algn="ctr">
              <a:buNone/>
              <a:defRPr sz="1586"/>
            </a:lvl5pPr>
            <a:lvl6pPr marL="2265899" indent="0" algn="ctr">
              <a:buNone/>
              <a:defRPr sz="1586"/>
            </a:lvl6pPr>
            <a:lvl7pPr marL="2719078" indent="0" algn="ctr">
              <a:buNone/>
              <a:defRPr sz="1586"/>
            </a:lvl7pPr>
            <a:lvl8pPr marL="3172258" indent="0" algn="ctr">
              <a:buNone/>
              <a:defRPr sz="1586"/>
            </a:lvl8pPr>
            <a:lvl9pPr marL="3625438" indent="0" algn="ctr">
              <a:buNone/>
              <a:defRPr sz="1586"/>
            </a:lvl9pPr>
          </a:lstStyle>
          <a:p>
            <a:r>
              <a:rPr lang="en-US" dirty="0"/>
              <a:t>Click to edit Master subtitle style</a:t>
            </a:r>
          </a:p>
        </p:txBody>
      </p:sp>
      <p:sp>
        <p:nvSpPr>
          <p:cNvPr id="19" name="Title 1"/>
          <p:cNvSpPr>
            <a:spLocks noGrp="1"/>
          </p:cNvSpPr>
          <p:nvPr>
            <p:ph type="ctrTitle"/>
          </p:nvPr>
        </p:nvSpPr>
        <p:spPr>
          <a:xfrm>
            <a:off x="5085758" y="1999928"/>
            <a:ext cx="6951858" cy="580341"/>
          </a:xfrm>
        </p:spPr>
        <p:txBody>
          <a:bodyPr anchor="b">
            <a:noAutofit/>
          </a:bodyPr>
          <a:lstStyle>
            <a:lvl1pPr algn="r">
              <a:defRPr sz="2903" b="0" i="0" baseline="0">
                <a:solidFill>
                  <a:schemeClr val="bg1"/>
                </a:solidFill>
                <a:latin typeface="Helvetica" pitchFamily="2" charset="0"/>
                <a:ea typeface="Verdana" charset="0"/>
                <a:cs typeface="Verdana" charset="0"/>
              </a:defRPr>
            </a:lvl1pPr>
          </a:lstStyle>
          <a:p>
            <a:r>
              <a:rPr lang="en-US" dirty="0"/>
              <a:t>Click to edit Master title style</a:t>
            </a:r>
          </a:p>
        </p:txBody>
      </p:sp>
      <p:pic>
        <p:nvPicPr>
          <p:cNvPr id="11" name="Picture 10">
            <a:extLst>
              <a:ext uri="{FF2B5EF4-FFF2-40B4-BE49-F238E27FC236}">
                <a16:creationId xmlns:a16="http://schemas.microsoft.com/office/drawing/2014/main" id="{A81D8311-CD39-D54B-85F2-13A3024F2B99}"/>
              </a:ext>
            </a:extLst>
          </p:cNvPr>
          <p:cNvPicPr>
            <a:picLocks noChangeAspect="1"/>
          </p:cNvPicPr>
          <p:nvPr userDrawn="1"/>
        </p:nvPicPr>
        <p:blipFill>
          <a:blip r:embed="rId2">
            <a:alphaModFix amt="5000"/>
          </a:blip>
          <a:stretch>
            <a:fillRect/>
          </a:stretch>
        </p:blipFill>
        <p:spPr>
          <a:xfrm>
            <a:off x="9850582" y="2263078"/>
            <a:ext cx="2341419" cy="4624976"/>
          </a:xfrm>
          <a:prstGeom prst="rect">
            <a:avLst/>
          </a:prstGeom>
        </p:spPr>
      </p:pic>
      <p:pic>
        <p:nvPicPr>
          <p:cNvPr id="12" name="Picture 11">
            <a:extLst>
              <a:ext uri="{FF2B5EF4-FFF2-40B4-BE49-F238E27FC236}">
                <a16:creationId xmlns:a16="http://schemas.microsoft.com/office/drawing/2014/main" id="{7D481206-E605-904E-BB6F-F651695AF4A1}"/>
              </a:ext>
            </a:extLst>
          </p:cNvPr>
          <p:cNvPicPr>
            <a:picLocks noChangeAspect="1"/>
          </p:cNvPicPr>
          <p:nvPr userDrawn="1"/>
        </p:nvPicPr>
        <p:blipFill>
          <a:blip r:embed="rId3"/>
          <a:stretch>
            <a:fillRect/>
          </a:stretch>
        </p:blipFill>
        <p:spPr>
          <a:xfrm>
            <a:off x="9392098" y="500653"/>
            <a:ext cx="2397181" cy="708752"/>
          </a:xfrm>
          <a:prstGeom prst="rect">
            <a:avLst/>
          </a:prstGeom>
        </p:spPr>
      </p:pic>
    </p:spTree>
    <p:extLst>
      <p:ext uri="{BB962C8B-B14F-4D97-AF65-F5344CB8AC3E}">
        <p14:creationId xmlns:p14="http://schemas.microsoft.com/office/powerpoint/2010/main" val="1027391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Índice 4">
    <p:spTree>
      <p:nvGrpSpPr>
        <p:cNvPr id="1" name=""/>
        <p:cNvGrpSpPr/>
        <p:nvPr/>
      </p:nvGrpSpPr>
      <p:grpSpPr>
        <a:xfrm>
          <a:off x="0" y="0"/>
          <a:ext cx="0" cy="0"/>
          <a:chOff x="0" y="0"/>
          <a:chExt cx="0" cy="0"/>
        </a:xfrm>
      </p:grpSpPr>
      <p:sp>
        <p:nvSpPr>
          <p:cNvPr id="13" name="Subtitle 2"/>
          <p:cNvSpPr>
            <a:spLocks noGrp="1"/>
          </p:cNvSpPr>
          <p:nvPr>
            <p:ph type="subTitle" idx="1"/>
          </p:nvPr>
        </p:nvSpPr>
        <p:spPr>
          <a:xfrm>
            <a:off x="1338776" y="3013226"/>
            <a:ext cx="8773932" cy="3403093"/>
          </a:xfrm>
        </p:spPr>
        <p:txBody>
          <a:bodyPr>
            <a:normAutofit/>
          </a:bodyPr>
          <a:lstStyle>
            <a:lvl1pPr marL="311079" indent="-311079" algn="l">
              <a:buFont typeface="Arial" charset="0"/>
              <a:buChar char="•"/>
              <a:defRPr sz="1633" b="0" i="0" baseline="0">
                <a:solidFill>
                  <a:srgbClr val="004877"/>
                </a:solidFill>
                <a:latin typeface="Helvetica" pitchFamily="2" charset="0"/>
                <a:ea typeface="Verdana" charset="0"/>
                <a:cs typeface="Verdana" charset="0"/>
              </a:defRPr>
            </a:lvl1pPr>
            <a:lvl2pPr marL="453180" indent="0" algn="ctr">
              <a:buNone/>
              <a:defRPr sz="1982"/>
            </a:lvl2pPr>
            <a:lvl3pPr marL="906359" indent="0" algn="ctr">
              <a:buNone/>
              <a:defRPr sz="1784"/>
            </a:lvl3pPr>
            <a:lvl4pPr marL="1359539" indent="0" algn="ctr">
              <a:buNone/>
              <a:defRPr sz="1586"/>
            </a:lvl4pPr>
            <a:lvl5pPr marL="1812719" indent="0" algn="ctr">
              <a:buNone/>
              <a:defRPr sz="1586"/>
            </a:lvl5pPr>
            <a:lvl6pPr marL="2265899" indent="0" algn="ctr">
              <a:buNone/>
              <a:defRPr sz="1586"/>
            </a:lvl6pPr>
            <a:lvl7pPr marL="2719078" indent="0" algn="ctr">
              <a:buNone/>
              <a:defRPr sz="1586"/>
            </a:lvl7pPr>
            <a:lvl8pPr marL="3172258" indent="0" algn="ctr">
              <a:buNone/>
              <a:defRPr sz="1586"/>
            </a:lvl8pPr>
            <a:lvl9pPr marL="3625438" indent="0" algn="ctr">
              <a:buNone/>
              <a:defRPr sz="1586"/>
            </a:lvl9pPr>
          </a:lstStyle>
          <a:p>
            <a:r>
              <a:rPr lang="en-US" dirty="0"/>
              <a:t>Click to edit Master subtitle style</a:t>
            </a:r>
          </a:p>
        </p:txBody>
      </p:sp>
      <p:sp>
        <p:nvSpPr>
          <p:cNvPr id="14" name="Title 1"/>
          <p:cNvSpPr>
            <a:spLocks noGrp="1"/>
          </p:cNvSpPr>
          <p:nvPr>
            <p:ph type="ctrTitle"/>
          </p:nvPr>
        </p:nvSpPr>
        <p:spPr>
          <a:xfrm>
            <a:off x="466422" y="773833"/>
            <a:ext cx="9001077" cy="786937"/>
          </a:xfrm>
        </p:spPr>
        <p:txBody>
          <a:bodyPr anchor="b">
            <a:noAutofit/>
          </a:bodyPr>
          <a:lstStyle>
            <a:lvl1pPr algn="l">
              <a:defRPr sz="2722" b="0" i="0" baseline="0">
                <a:solidFill>
                  <a:srgbClr val="EE7600"/>
                </a:solidFill>
                <a:latin typeface="Helvetica" pitchFamily="2" charset="0"/>
                <a:ea typeface="Verdana" charset="0"/>
                <a:cs typeface="Verdana" charset="0"/>
              </a:defRPr>
            </a:lvl1pPr>
          </a:lstStyle>
          <a:p>
            <a:r>
              <a:rPr lang="en-US" dirty="0"/>
              <a:t>Click to edit Master title style</a:t>
            </a:r>
          </a:p>
        </p:txBody>
      </p:sp>
      <p:sp>
        <p:nvSpPr>
          <p:cNvPr id="15" name="Text Placeholder 24"/>
          <p:cNvSpPr>
            <a:spLocks noGrp="1"/>
          </p:cNvSpPr>
          <p:nvPr>
            <p:ph type="body" sz="quarter" idx="10"/>
          </p:nvPr>
        </p:nvSpPr>
        <p:spPr>
          <a:xfrm>
            <a:off x="466423" y="2468054"/>
            <a:ext cx="8369485" cy="495040"/>
          </a:xfrm>
        </p:spPr>
        <p:txBody>
          <a:bodyPr>
            <a:noAutofit/>
          </a:bodyPr>
          <a:lstStyle>
            <a:lvl1pPr marL="0" indent="0">
              <a:buNone/>
              <a:defRPr sz="3266" b="1">
                <a:solidFill>
                  <a:srgbClr val="40D5AE"/>
                </a:solidFill>
                <a:latin typeface="Helvetica" pitchFamily="2" charset="0"/>
                <a:ea typeface="Verdana" charset="0"/>
                <a:cs typeface="Verdana" charset="0"/>
              </a:defRPr>
            </a:lvl1pPr>
            <a:lvl2pPr marL="453180" indent="0">
              <a:buNone/>
              <a:defRPr/>
            </a:lvl2pPr>
            <a:lvl3pPr marL="906360" indent="0">
              <a:buNone/>
              <a:defRPr/>
            </a:lvl3pPr>
            <a:lvl4pPr marL="1359540" indent="0">
              <a:buNone/>
              <a:defRPr/>
            </a:lvl4pPr>
            <a:lvl5pPr marL="1812719" indent="0">
              <a:buNone/>
              <a:defRPr/>
            </a:lvl5pPr>
          </a:lstStyle>
          <a:p>
            <a:pPr lvl="0"/>
            <a:r>
              <a:rPr lang="en-US" dirty="0"/>
              <a:t>Click to edit Master text styles</a:t>
            </a:r>
          </a:p>
        </p:txBody>
      </p:sp>
      <p:pic>
        <p:nvPicPr>
          <p:cNvPr id="9" name="Picture 8">
            <a:extLst>
              <a:ext uri="{FF2B5EF4-FFF2-40B4-BE49-F238E27FC236}">
                <a16:creationId xmlns:a16="http://schemas.microsoft.com/office/drawing/2014/main" id="{AEDA951E-4BBB-1C47-B34B-92F279F8289F}"/>
              </a:ext>
            </a:extLst>
          </p:cNvPr>
          <p:cNvPicPr>
            <a:picLocks noChangeAspect="1"/>
          </p:cNvPicPr>
          <p:nvPr userDrawn="1"/>
        </p:nvPicPr>
        <p:blipFill>
          <a:blip r:embed="rId2"/>
          <a:stretch>
            <a:fillRect/>
          </a:stretch>
        </p:blipFill>
        <p:spPr>
          <a:xfrm>
            <a:off x="10345344" y="365445"/>
            <a:ext cx="1497680" cy="442805"/>
          </a:xfrm>
          <a:prstGeom prst="rect">
            <a:avLst/>
          </a:prstGeom>
        </p:spPr>
      </p:pic>
      <p:sp>
        <p:nvSpPr>
          <p:cNvPr id="12" name="Round Single Corner Rectangle 11">
            <a:extLst>
              <a:ext uri="{FF2B5EF4-FFF2-40B4-BE49-F238E27FC236}">
                <a16:creationId xmlns:a16="http://schemas.microsoft.com/office/drawing/2014/main" id="{00E2D651-FA98-5546-BBAC-2323A948BBE9}"/>
              </a:ext>
            </a:extLst>
          </p:cNvPr>
          <p:cNvSpPr/>
          <p:nvPr userDrawn="1"/>
        </p:nvSpPr>
        <p:spPr>
          <a:xfrm>
            <a:off x="0" y="6421230"/>
            <a:ext cx="11568559" cy="436771"/>
          </a:xfrm>
          <a:prstGeom prst="round1Rect">
            <a:avLst>
              <a:gd name="adj" fmla="val 50000"/>
            </a:avLst>
          </a:prstGeom>
          <a:solidFill>
            <a:srgbClr val="0037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33"/>
          </a:p>
        </p:txBody>
      </p:sp>
      <p:pic>
        <p:nvPicPr>
          <p:cNvPr id="10" name="Picture 9">
            <a:extLst>
              <a:ext uri="{FF2B5EF4-FFF2-40B4-BE49-F238E27FC236}">
                <a16:creationId xmlns:a16="http://schemas.microsoft.com/office/drawing/2014/main" id="{EDAC33B8-508C-D946-9838-7DBE2460E85A}"/>
              </a:ext>
            </a:extLst>
          </p:cNvPr>
          <p:cNvPicPr>
            <a:picLocks noChangeAspect="1"/>
          </p:cNvPicPr>
          <p:nvPr userDrawn="1"/>
        </p:nvPicPr>
        <p:blipFill>
          <a:blip r:embed="rId3">
            <a:alphaModFix amt="5000"/>
          </a:blip>
          <a:stretch>
            <a:fillRect/>
          </a:stretch>
        </p:blipFill>
        <p:spPr>
          <a:xfrm>
            <a:off x="9850582" y="2263078"/>
            <a:ext cx="2341419" cy="4624976"/>
          </a:xfrm>
          <a:prstGeom prst="rect">
            <a:avLst/>
          </a:prstGeom>
        </p:spPr>
      </p:pic>
    </p:spTree>
    <p:extLst>
      <p:ext uri="{BB962C8B-B14F-4D97-AF65-F5344CB8AC3E}">
        <p14:creationId xmlns:p14="http://schemas.microsoft.com/office/powerpoint/2010/main" val="2028707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ortada">
    <p:spTree>
      <p:nvGrpSpPr>
        <p:cNvPr id="1" name=""/>
        <p:cNvGrpSpPr/>
        <p:nvPr/>
      </p:nvGrpSpPr>
      <p:grpSpPr>
        <a:xfrm>
          <a:off x="0" y="0"/>
          <a:ext cx="0" cy="0"/>
          <a:chOff x="0" y="0"/>
          <a:chExt cx="0" cy="0"/>
        </a:xfrm>
      </p:grpSpPr>
      <p:pic>
        <p:nvPicPr>
          <p:cNvPr id="15"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 y="345617"/>
            <a:ext cx="12193587"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F5622A65-7FFA-466E-B214-9E7F245FC921}"/>
              </a:ext>
            </a:extLst>
          </p:cNvPr>
          <p:cNvSpPr>
            <a:spLocks noGrp="1"/>
          </p:cNvSpPr>
          <p:nvPr>
            <p:ph type="sldNum" sz="quarter" idx="4"/>
          </p:nvPr>
        </p:nvSpPr>
        <p:spPr>
          <a:xfrm>
            <a:off x="9448800" y="6570921"/>
            <a:ext cx="2743200" cy="251256"/>
          </a:xfrm>
          <a:prstGeom prst="rect">
            <a:avLst/>
          </a:prstGeom>
        </p:spPr>
        <p:txBody>
          <a:bodyPr anchor="ctr"/>
          <a:lstStyle>
            <a:lvl1pPr algn="r">
              <a:defRPr sz="1100" b="1">
                <a:solidFill>
                  <a:schemeClr val="accent1">
                    <a:lumMod val="50000"/>
                  </a:schemeClr>
                </a:solidFill>
                <a:latin typeface="Verdana" panose="020B0604030504040204" pitchFamily="34" charset="0"/>
                <a:ea typeface="Verdana" panose="020B0604030504040204" pitchFamily="34" charset="0"/>
                <a:cs typeface="Verdana" panose="020B0604030504040204" pitchFamily="34" charset="0"/>
              </a:defRPr>
            </a:lvl1pPr>
          </a:lstStyle>
          <a:p>
            <a:fld id="{8019D99C-55E1-460B-9A0D-8A98164D8E32}" type="slidenum">
              <a:rPr lang="en-US" smtClean="0"/>
              <a:pPr/>
              <a:t>‹Nº›</a:t>
            </a:fld>
            <a:endParaRPr lang="en-US" dirty="0"/>
          </a:p>
        </p:txBody>
      </p:sp>
    </p:spTree>
    <p:extLst>
      <p:ext uri="{BB962C8B-B14F-4D97-AF65-F5344CB8AC3E}">
        <p14:creationId xmlns:p14="http://schemas.microsoft.com/office/powerpoint/2010/main" val="24742034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C6A1253-6E68-0AAF-1796-8549969565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58C10C4-CBA0-BFA5-49D5-BE3BBA51BD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D5E8C43-125A-6FAA-CE5E-BAAE68733D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D6E0D7-A945-4E25-BD80-AA51D3103112}" type="datetimeFigureOut">
              <a:rPr lang="es-MX" smtClean="0"/>
              <a:t>04/03/2026</a:t>
            </a:fld>
            <a:endParaRPr lang="es-MX"/>
          </a:p>
        </p:txBody>
      </p:sp>
      <p:sp>
        <p:nvSpPr>
          <p:cNvPr id="5" name="Marcador de pie de página 4">
            <a:extLst>
              <a:ext uri="{FF2B5EF4-FFF2-40B4-BE49-F238E27FC236}">
                <a16:creationId xmlns:a16="http://schemas.microsoft.com/office/drawing/2014/main" id="{1D97F29B-9ACB-163A-7744-3764E3CD3D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F37CD58-D314-8320-EE25-FD86786FF5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74E7CD-A1EB-4B2E-B532-47A5739A5653}" type="slidenum">
              <a:rPr lang="es-MX" smtClean="0"/>
              <a:t>‹Nº›</a:t>
            </a:fld>
            <a:endParaRPr lang="es-MX"/>
          </a:p>
        </p:txBody>
      </p:sp>
    </p:spTree>
    <p:extLst>
      <p:ext uri="{BB962C8B-B14F-4D97-AF65-F5344CB8AC3E}">
        <p14:creationId xmlns:p14="http://schemas.microsoft.com/office/powerpoint/2010/main" val="2359886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chart" Target="../charts/char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14.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7C9162-DEC7-4508-830B-F1E91F4F0A40}"/>
              </a:ext>
            </a:extLst>
          </p:cNvPr>
          <p:cNvSpPr>
            <a:spLocks noGrp="1"/>
          </p:cNvSpPr>
          <p:nvPr>
            <p:ph type="ctrTitle"/>
          </p:nvPr>
        </p:nvSpPr>
        <p:spPr>
          <a:xfrm>
            <a:off x="2499360" y="1956385"/>
            <a:ext cx="9233456" cy="580341"/>
          </a:xfrm>
        </p:spPr>
        <p:txBody>
          <a:bodyPr/>
          <a:lstStyle/>
          <a:p>
            <a:r>
              <a:rPr lang="es-MX" b="1" dirty="0"/>
              <a:t>Análisis de productividad LMM </a:t>
            </a:r>
          </a:p>
        </p:txBody>
      </p:sp>
      <p:sp>
        <p:nvSpPr>
          <p:cNvPr id="3" name="Slide Number Placeholder 3">
            <a:extLst>
              <a:ext uri="{FF2B5EF4-FFF2-40B4-BE49-F238E27FC236}">
                <a16:creationId xmlns:a16="http://schemas.microsoft.com/office/drawing/2014/main" id="{B637B45F-7EE7-4B90-BB74-C863AC01A054}"/>
              </a:ext>
            </a:extLst>
          </p:cNvPr>
          <p:cNvSpPr txBox="1">
            <a:spLocks/>
          </p:cNvSpPr>
          <p:nvPr/>
        </p:nvSpPr>
        <p:spPr>
          <a:xfrm>
            <a:off x="9448800" y="6570663"/>
            <a:ext cx="2743200" cy="2508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019D99C-55E1-460B-9A0D-8A98164D8E32}" type="slidenum">
              <a:rPr kumimoji="0" lang="en-US" sz="1100" b="1" i="0" u="none" strike="noStrike" kern="1200" cap="none" spc="0" normalizeH="0" baseline="0" noProof="0" smtClean="0">
                <a:ln>
                  <a:noFill/>
                </a:ln>
                <a:solidFill>
                  <a:srgbClr val="4472C4">
                    <a:lumMod val="50000"/>
                  </a:srgbClr>
                </a:solidFill>
                <a:effectLst/>
                <a:uLnTx/>
                <a:uFillTx/>
                <a:latin typeface="Helvetica" panose="020B0604020202020204" pitchFamily="34" charset="0"/>
                <a:ea typeface="+mn-ea"/>
                <a:cs typeface="Helvetica"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100" b="1" i="0" u="none" strike="noStrike" kern="1200" cap="none" spc="0" normalizeH="0" baseline="0" noProof="0" dirty="0">
              <a:ln>
                <a:noFill/>
              </a:ln>
              <a:solidFill>
                <a:srgbClr val="4472C4">
                  <a:lumMod val="50000"/>
                </a:srgbClr>
              </a:solidFill>
              <a:effectLst/>
              <a:uLnTx/>
              <a:uFillTx/>
              <a:latin typeface="Helvetica" panose="020B0604020202020204" pitchFamily="34" charset="0"/>
              <a:ea typeface="+mn-ea"/>
              <a:cs typeface="Helvetica" panose="020B0604020202020204" pitchFamily="34" charset="0"/>
            </a:endParaRPr>
          </a:p>
        </p:txBody>
      </p:sp>
    </p:spTree>
    <p:extLst>
      <p:ext uri="{BB962C8B-B14F-4D97-AF65-F5344CB8AC3E}">
        <p14:creationId xmlns:p14="http://schemas.microsoft.com/office/powerpoint/2010/main" val="103428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0EAF1-2B4A-89E8-7A1B-FBFEE17474B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4E3F179-4097-CFA8-BA11-838D642FD9FA}"/>
              </a:ext>
            </a:extLst>
          </p:cNvPr>
          <p:cNvSpPr txBox="1">
            <a:spLocks/>
          </p:cNvSpPr>
          <p:nvPr/>
        </p:nvSpPr>
        <p:spPr>
          <a:xfrm>
            <a:off x="269620" y="168484"/>
            <a:ext cx="8249422" cy="333753"/>
          </a:xfrm>
          <a:prstGeom prst="rect">
            <a:avLst/>
          </a:prstGeom>
        </p:spPr>
        <p:txBody>
          <a:bodyPr vert="horz" lIns="82953" tIns="41476" rIns="82953" bIns="41476" rtlCol="0" anchor="t">
            <a:noAutofit/>
          </a:bodyPr>
          <a:lstStyle>
            <a:lvl1pPr algn="l" defTabSz="914400" rtl="0" eaLnBrk="1" latinLnBrk="0" hangingPunct="1">
              <a:lnSpc>
                <a:spcPct val="90000"/>
              </a:lnSpc>
              <a:spcBef>
                <a:spcPct val="0"/>
              </a:spcBef>
              <a:buNone/>
              <a:defRPr sz="1000" b="1" kern="1200">
                <a:solidFill>
                  <a:srgbClr val="004877"/>
                </a:solidFill>
                <a:latin typeface="Verdana" panose="020B0604030504040204" pitchFamily="34" charset="0"/>
                <a:ea typeface="Verdana" panose="020B0604030504040204" pitchFamily="34" charset="0"/>
                <a:cs typeface="Verdana" panose="020B0604030504040204" pitchFamily="34" charset="0"/>
              </a:defRPr>
            </a:lvl1pPr>
          </a:lstStyle>
          <a:p>
            <a:pPr defTabSz="829544">
              <a:defRPr/>
            </a:pPr>
            <a:r>
              <a:rPr lang="en-US" sz="2800" kern="0" dirty="0" err="1">
                <a:solidFill>
                  <a:srgbClr val="EE7600"/>
                </a:solidFill>
                <a:latin typeface="Helvetica" panose="020B0604020202020204" pitchFamily="34" charset="0"/>
                <a:cs typeface="Helvetica" panose="020B0604020202020204" pitchFamily="34" charset="0"/>
              </a:rPr>
              <a:t>Análisis</a:t>
            </a:r>
            <a:r>
              <a:rPr lang="en-US" sz="2800" kern="0" dirty="0">
                <a:solidFill>
                  <a:srgbClr val="EE7600"/>
                </a:solidFill>
                <a:latin typeface="Helvetica" panose="020B0604020202020204" pitchFamily="34" charset="0"/>
                <a:cs typeface="Helvetica" panose="020B0604020202020204" pitchFamily="34" charset="0"/>
              </a:rPr>
              <a:t> de </a:t>
            </a:r>
            <a:r>
              <a:rPr lang="en-US" sz="2800" kern="0" dirty="0" err="1">
                <a:solidFill>
                  <a:srgbClr val="EE7600"/>
                </a:solidFill>
                <a:latin typeface="Helvetica" panose="020B0604020202020204" pitchFamily="34" charset="0"/>
                <a:cs typeface="Helvetica" panose="020B0604020202020204" pitchFamily="34" charset="0"/>
              </a:rPr>
              <a:t>Productividad</a:t>
            </a:r>
            <a:r>
              <a:rPr lang="en-US" sz="2800" kern="0" dirty="0">
                <a:solidFill>
                  <a:srgbClr val="EE7600"/>
                </a:solidFill>
                <a:latin typeface="Helvetica" panose="020B0604020202020204" pitchFamily="34" charset="0"/>
                <a:cs typeface="Helvetica" panose="020B0604020202020204" pitchFamily="34" charset="0"/>
              </a:rPr>
              <a:t> LMM</a:t>
            </a:r>
            <a:endParaRPr lang="en-US" sz="1200" kern="0" dirty="0">
              <a:solidFill>
                <a:srgbClr val="EE7600"/>
              </a:solidFill>
              <a:latin typeface="Helvetica" panose="020B0604020202020204" pitchFamily="34" charset="0"/>
              <a:cs typeface="Helvetica" panose="020B0604020202020204" pitchFamily="34" charset="0"/>
            </a:endParaRPr>
          </a:p>
        </p:txBody>
      </p:sp>
      <p:sp>
        <p:nvSpPr>
          <p:cNvPr id="39" name="TextBox 46">
            <a:extLst>
              <a:ext uri="{FF2B5EF4-FFF2-40B4-BE49-F238E27FC236}">
                <a16:creationId xmlns:a16="http://schemas.microsoft.com/office/drawing/2014/main" id="{C765C0A0-35C0-CC24-7BF3-13F87AC00911}"/>
              </a:ext>
            </a:extLst>
          </p:cNvPr>
          <p:cNvSpPr txBox="1"/>
          <p:nvPr/>
        </p:nvSpPr>
        <p:spPr>
          <a:xfrm>
            <a:off x="142103" y="687860"/>
            <a:ext cx="1258993"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Enfoque SG&amp;A</a:t>
            </a:r>
          </a:p>
        </p:txBody>
      </p:sp>
      <p:sp>
        <p:nvSpPr>
          <p:cNvPr id="7" name="TextBox 46">
            <a:extLst>
              <a:ext uri="{FF2B5EF4-FFF2-40B4-BE49-F238E27FC236}">
                <a16:creationId xmlns:a16="http://schemas.microsoft.com/office/drawing/2014/main" id="{9654DD3D-45EA-71E2-2BF5-E338C7638A40}"/>
              </a:ext>
            </a:extLst>
          </p:cNvPr>
          <p:cNvSpPr txBox="1"/>
          <p:nvPr/>
        </p:nvSpPr>
        <p:spPr>
          <a:xfrm>
            <a:off x="142104" y="934466"/>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Iniciativa</a:t>
            </a:r>
          </a:p>
        </p:txBody>
      </p:sp>
      <p:sp>
        <p:nvSpPr>
          <p:cNvPr id="12" name="TextBox 46">
            <a:extLst>
              <a:ext uri="{FF2B5EF4-FFF2-40B4-BE49-F238E27FC236}">
                <a16:creationId xmlns:a16="http://schemas.microsoft.com/office/drawing/2014/main" id="{576B26CD-1ACE-C0F2-49BA-7A0F86DA929A}"/>
              </a:ext>
            </a:extLst>
          </p:cNvPr>
          <p:cNvSpPr txBox="1"/>
          <p:nvPr/>
        </p:nvSpPr>
        <p:spPr>
          <a:xfrm>
            <a:off x="142103" y="2414223"/>
            <a:ext cx="4056922" cy="1323439"/>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Al comparar el gasto en salario vs el volumen generado, el equipo de iniciativa tuvo una mejora de 2023 vs 2024, reduciendo el  porcentaje de gasto sobre volumen de 7.14% a 6.87%.</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2025 quedará prácticamente al mismo nivel que 2024</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Se espera una eficiencia para 2026 disminuyendo el porcentaje de gasto sobre volumen a 5.49%</a:t>
            </a:r>
          </a:p>
        </p:txBody>
      </p:sp>
      <p:graphicFrame>
        <p:nvGraphicFramePr>
          <p:cNvPr id="16" name="Table 39">
            <a:extLst>
              <a:ext uri="{FF2B5EF4-FFF2-40B4-BE49-F238E27FC236}">
                <a16:creationId xmlns:a16="http://schemas.microsoft.com/office/drawing/2014/main" id="{E31F4BC2-CBAA-CE50-4E8B-42E8C1716DC3}"/>
              </a:ext>
            </a:extLst>
          </p:cNvPr>
          <p:cNvGraphicFramePr>
            <a:graphicFrameLocks noGrp="1"/>
          </p:cNvGraphicFramePr>
          <p:nvPr>
            <p:extLst>
              <p:ext uri="{D42A27DB-BD31-4B8C-83A1-F6EECF244321}">
                <p14:modId xmlns:p14="http://schemas.microsoft.com/office/powerpoint/2010/main" val="3949716403"/>
              </p:ext>
            </p:extLst>
          </p:nvPr>
        </p:nvGraphicFramePr>
        <p:xfrm>
          <a:off x="142104" y="1247740"/>
          <a:ext cx="4056922" cy="1024360"/>
        </p:xfrm>
        <a:graphic>
          <a:graphicData uri="http://schemas.openxmlformats.org/drawingml/2006/table">
            <a:tbl>
              <a:tblPr firstRow="1" bandRow="1">
                <a:tableStyleId>{5C22544A-7EE6-4342-B048-85BDC9FD1C3A}</a:tableStyleId>
              </a:tblPr>
              <a:tblGrid>
                <a:gridCol w="1222122">
                  <a:extLst>
                    <a:ext uri="{9D8B030D-6E8A-4147-A177-3AD203B41FA5}">
                      <a16:colId xmlns:a16="http://schemas.microsoft.com/office/drawing/2014/main" val="3292533045"/>
                    </a:ext>
                  </a:extLst>
                </a:gridCol>
                <a:gridCol w="582907">
                  <a:extLst>
                    <a:ext uri="{9D8B030D-6E8A-4147-A177-3AD203B41FA5}">
                      <a16:colId xmlns:a16="http://schemas.microsoft.com/office/drawing/2014/main" val="2740267779"/>
                    </a:ext>
                  </a:extLst>
                </a:gridCol>
                <a:gridCol w="750631">
                  <a:extLst>
                    <a:ext uri="{9D8B030D-6E8A-4147-A177-3AD203B41FA5}">
                      <a16:colId xmlns:a16="http://schemas.microsoft.com/office/drawing/2014/main" val="1338503036"/>
                    </a:ext>
                  </a:extLst>
                </a:gridCol>
                <a:gridCol w="750631">
                  <a:extLst>
                    <a:ext uri="{9D8B030D-6E8A-4147-A177-3AD203B41FA5}">
                      <a16:colId xmlns:a16="http://schemas.microsoft.com/office/drawing/2014/main" val="2588899552"/>
                    </a:ext>
                  </a:extLst>
                </a:gridCol>
                <a:gridCol w="750631">
                  <a:extLst>
                    <a:ext uri="{9D8B030D-6E8A-4147-A177-3AD203B41FA5}">
                      <a16:colId xmlns:a16="http://schemas.microsoft.com/office/drawing/2014/main" val="2140089295"/>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algn="ctr"/>
                      <a:r>
                        <a:rPr lang="es-MX" sz="800" b="0" dirty="0" err="1">
                          <a:solidFill>
                            <a:srgbClr val="004877"/>
                          </a:solidFill>
                          <a:latin typeface="Helvetica" panose="020B0604020202020204" pitchFamily="34" charset="0"/>
                          <a:ea typeface="Verdana" panose="020B0604030504040204" pitchFamily="34" charset="0"/>
                          <a:cs typeface="Helvetica" panose="020B0604020202020204" pitchFamily="34" charset="0"/>
                        </a:rPr>
                        <a:t>Vol</a:t>
                      </a: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 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$1,053.7</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$1,164.3</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$1,021.1</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$1,176.0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530674"/>
                  </a:ext>
                </a:extLst>
              </a:tr>
              <a:tr h="179952">
                <a:tc>
                  <a:txBody>
                    <a:bodyPr/>
                    <a:lstStyle/>
                    <a:p>
                      <a:pPr algn="ct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SG&amp;A (Salario)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$75.2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$80.0</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$70.5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$64.6</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algn="ctr"/>
                      <a:r>
                        <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rPr>
                        <a:t>Volumen Vs Salario</a:t>
                      </a:r>
                    </a:p>
                  </a:txBody>
                  <a:tcPr marL="82953" marR="82953" marT="41476" marB="41476"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14.0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14.6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14.5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18.2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04956658"/>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Gasto / Volumen</a:t>
                      </a:r>
                    </a:p>
                  </a:txBody>
                  <a:tcPr marL="82953" marR="82953" marT="41476" marB="41476"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7.14%</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6.87%</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6.90%</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5.49%</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33755489"/>
                  </a:ext>
                </a:extLst>
              </a:tr>
            </a:tbl>
          </a:graphicData>
        </a:graphic>
      </p:graphicFrame>
      <p:cxnSp>
        <p:nvCxnSpPr>
          <p:cNvPr id="10" name="Conector recto 9">
            <a:extLst>
              <a:ext uri="{FF2B5EF4-FFF2-40B4-BE49-F238E27FC236}">
                <a16:creationId xmlns:a16="http://schemas.microsoft.com/office/drawing/2014/main" id="{C9981128-AC51-9E6A-861F-2B21BC726DEA}"/>
              </a:ext>
            </a:extLst>
          </p:cNvPr>
          <p:cNvCxnSpPr>
            <a:cxnSpLocks/>
          </p:cNvCxnSpPr>
          <p:nvPr/>
        </p:nvCxnSpPr>
        <p:spPr>
          <a:xfrm>
            <a:off x="429768" y="4001445"/>
            <a:ext cx="1083564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6">
            <a:extLst>
              <a:ext uri="{FF2B5EF4-FFF2-40B4-BE49-F238E27FC236}">
                <a16:creationId xmlns:a16="http://schemas.microsoft.com/office/drawing/2014/main" id="{D2E37A74-DF53-919B-5425-B3C349DD7455}"/>
              </a:ext>
            </a:extLst>
          </p:cNvPr>
          <p:cNvSpPr txBox="1"/>
          <p:nvPr/>
        </p:nvSpPr>
        <p:spPr>
          <a:xfrm>
            <a:off x="5848495" y="939386"/>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Core</a:t>
            </a:r>
          </a:p>
        </p:txBody>
      </p:sp>
      <p:graphicFrame>
        <p:nvGraphicFramePr>
          <p:cNvPr id="8" name="Table 39">
            <a:extLst>
              <a:ext uri="{FF2B5EF4-FFF2-40B4-BE49-F238E27FC236}">
                <a16:creationId xmlns:a16="http://schemas.microsoft.com/office/drawing/2014/main" id="{5701F43D-D5EC-842D-EF22-32D5D4EF61F6}"/>
              </a:ext>
            </a:extLst>
          </p:cNvPr>
          <p:cNvGraphicFramePr>
            <a:graphicFrameLocks noGrp="1"/>
          </p:cNvGraphicFramePr>
          <p:nvPr>
            <p:extLst>
              <p:ext uri="{D42A27DB-BD31-4B8C-83A1-F6EECF244321}">
                <p14:modId xmlns:p14="http://schemas.microsoft.com/office/powerpoint/2010/main" val="458147018"/>
              </p:ext>
            </p:extLst>
          </p:nvPr>
        </p:nvGraphicFramePr>
        <p:xfrm>
          <a:off x="5848495" y="1252660"/>
          <a:ext cx="4056922" cy="1063328"/>
        </p:xfrm>
        <a:graphic>
          <a:graphicData uri="http://schemas.openxmlformats.org/drawingml/2006/table">
            <a:tbl>
              <a:tblPr firstRow="1" bandRow="1">
                <a:tableStyleId>{5C22544A-7EE6-4342-B048-85BDC9FD1C3A}</a:tableStyleId>
              </a:tblPr>
              <a:tblGrid>
                <a:gridCol w="1222122">
                  <a:extLst>
                    <a:ext uri="{9D8B030D-6E8A-4147-A177-3AD203B41FA5}">
                      <a16:colId xmlns:a16="http://schemas.microsoft.com/office/drawing/2014/main" val="3292533045"/>
                    </a:ext>
                  </a:extLst>
                </a:gridCol>
                <a:gridCol w="582907">
                  <a:extLst>
                    <a:ext uri="{9D8B030D-6E8A-4147-A177-3AD203B41FA5}">
                      <a16:colId xmlns:a16="http://schemas.microsoft.com/office/drawing/2014/main" val="2740267779"/>
                    </a:ext>
                  </a:extLst>
                </a:gridCol>
                <a:gridCol w="750631">
                  <a:extLst>
                    <a:ext uri="{9D8B030D-6E8A-4147-A177-3AD203B41FA5}">
                      <a16:colId xmlns:a16="http://schemas.microsoft.com/office/drawing/2014/main" val="1338503036"/>
                    </a:ext>
                  </a:extLst>
                </a:gridCol>
                <a:gridCol w="750631">
                  <a:extLst>
                    <a:ext uri="{9D8B030D-6E8A-4147-A177-3AD203B41FA5}">
                      <a16:colId xmlns:a16="http://schemas.microsoft.com/office/drawing/2014/main" val="2588899552"/>
                    </a:ext>
                  </a:extLst>
                </a:gridCol>
                <a:gridCol w="750631">
                  <a:extLst>
                    <a:ext uri="{9D8B030D-6E8A-4147-A177-3AD203B41FA5}">
                      <a16:colId xmlns:a16="http://schemas.microsoft.com/office/drawing/2014/main" val="2140089295"/>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algn="ctr"/>
                      <a:r>
                        <a:rPr lang="es-MX" sz="800" b="0" dirty="0" err="1">
                          <a:solidFill>
                            <a:srgbClr val="004877"/>
                          </a:solidFill>
                          <a:latin typeface="Helvetica" panose="020B0604020202020204" pitchFamily="34" charset="0"/>
                          <a:ea typeface="Verdana" panose="020B0604030504040204" pitchFamily="34" charset="0"/>
                          <a:cs typeface="Helvetica" panose="020B0604020202020204" pitchFamily="34" charset="0"/>
                        </a:rPr>
                        <a:t>Vol</a:t>
                      </a: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 LMM Core</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$349.1</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$328.0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$473.4</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$528.0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530674"/>
                  </a:ext>
                </a:extLst>
              </a:tr>
              <a:tr h="179952">
                <a:tc>
                  <a:txBody>
                    <a:bodyPr/>
                    <a:lstStyle/>
                    <a:p>
                      <a:pPr algn="ct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SG&amp;A (Salario)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$96.6</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$107.0</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$108.7</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$102.4</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algn="ctr"/>
                      <a:r>
                        <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rPr>
                        <a:t>Volumen Vs Salario</a:t>
                      </a:r>
                    </a:p>
                  </a:txBody>
                  <a:tcPr marL="82953" marR="82953" marT="41476" marB="41476"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                    3.6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3.1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4.4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5.2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04956658"/>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Gasto / Volumen</a:t>
                      </a:r>
                    </a:p>
                  </a:txBody>
                  <a:tcPr marL="82953" marR="82953" marT="41476" marB="41476"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27.7%</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32.6%</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23.0%</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19.4%</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33755489"/>
                  </a:ext>
                </a:extLst>
              </a:tr>
            </a:tbl>
          </a:graphicData>
        </a:graphic>
      </p:graphicFrame>
      <p:sp>
        <p:nvSpPr>
          <p:cNvPr id="9" name="TextBox 46">
            <a:extLst>
              <a:ext uri="{FF2B5EF4-FFF2-40B4-BE49-F238E27FC236}">
                <a16:creationId xmlns:a16="http://schemas.microsoft.com/office/drawing/2014/main" id="{03B4BCEB-2CB1-1E4D-DD14-4A423FB677F5}"/>
              </a:ext>
            </a:extLst>
          </p:cNvPr>
          <p:cNvSpPr txBox="1"/>
          <p:nvPr/>
        </p:nvSpPr>
        <p:spPr>
          <a:xfrm>
            <a:off x="5806699" y="2414223"/>
            <a:ext cx="4098718" cy="1169551"/>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El equipo de Core en el segmento de LMM paso de representar un gasto en salario vs volumen de 27.7% a 32.6% en 2024</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En 2025 tuvo una fuerte corrección disminuyendo a 23%</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Se espera aún una mayor eficiencia para 2026 disminuyendo el porcentaje de gasto sobre volumen a 19.4%</a:t>
            </a:r>
          </a:p>
        </p:txBody>
      </p:sp>
      <p:sp>
        <p:nvSpPr>
          <p:cNvPr id="11" name="TextBox 46">
            <a:extLst>
              <a:ext uri="{FF2B5EF4-FFF2-40B4-BE49-F238E27FC236}">
                <a16:creationId xmlns:a16="http://schemas.microsoft.com/office/drawing/2014/main" id="{11AE9F53-D984-0D58-7EDF-FDD4A1122C40}"/>
              </a:ext>
            </a:extLst>
          </p:cNvPr>
          <p:cNvSpPr txBox="1"/>
          <p:nvPr/>
        </p:nvSpPr>
        <p:spPr>
          <a:xfrm>
            <a:off x="5853414" y="4166827"/>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Core Total</a:t>
            </a:r>
          </a:p>
        </p:txBody>
      </p:sp>
      <p:graphicFrame>
        <p:nvGraphicFramePr>
          <p:cNvPr id="13" name="Table 39">
            <a:extLst>
              <a:ext uri="{FF2B5EF4-FFF2-40B4-BE49-F238E27FC236}">
                <a16:creationId xmlns:a16="http://schemas.microsoft.com/office/drawing/2014/main" id="{DCA83B8C-59FD-9D82-EA8C-2FF4EFC120F2}"/>
              </a:ext>
            </a:extLst>
          </p:cNvPr>
          <p:cNvGraphicFramePr>
            <a:graphicFrameLocks noGrp="1"/>
          </p:cNvGraphicFramePr>
          <p:nvPr>
            <p:extLst>
              <p:ext uri="{D42A27DB-BD31-4B8C-83A1-F6EECF244321}">
                <p14:modId xmlns:p14="http://schemas.microsoft.com/office/powerpoint/2010/main" val="2009425270"/>
              </p:ext>
            </p:extLst>
          </p:nvPr>
        </p:nvGraphicFramePr>
        <p:xfrm>
          <a:off x="5853414" y="4480101"/>
          <a:ext cx="4056922" cy="1063328"/>
        </p:xfrm>
        <a:graphic>
          <a:graphicData uri="http://schemas.openxmlformats.org/drawingml/2006/table">
            <a:tbl>
              <a:tblPr firstRow="1" bandRow="1">
                <a:tableStyleId>{5C22544A-7EE6-4342-B048-85BDC9FD1C3A}</a:tableStyleId>
              </a:tblPr>
              <a:tblGrid>
                <a:gridCol w="1222122">
                  <a:extLst>
                    <a:ext uri="{9D8B030D-6E8A-4147-A177-3AD203B41FA5}">
                      <a16:colId xmlns:a16="http://schemas.microsoft.com/office/drawing/2014/main" val="3292533045"/>
                    </a:ext>
                  </a:extLst>
                </a:gridCol>
                <a:gridCol w="582907">
                  <a:extLst>
                    <a:ext uri="{9D8B030D-6E8A-4147-A177-3AD203B41FA5}">
                      <a16:colId xmlns:a16="http://schemas.microsoft.com/office/drawing/2014/main" val="2740267779"/>
                    </a:ext>
                  </a:extLst>
                </a:gridCol>
                <a:gridCol w="750631">
                  <a:extLst>
                    <a:ext uri="{9D8B030D-6E8A-4147-A177-3AD203B41FA5}">
                      <a16:colId xmlns:a16="http://schemas.microsoft.com/office/drawing/2014/main" val="1338503036"/>
                    </a:ext>
                  </a:extLst>
                </a:gridCol>
                <a:gridCol w="750631">
                  <a:extLst>
                    <a:ext uri="{9D8B030D-6E8A-4147-A177-3AD203B41FA5}">
                      <a16:colId xmlns:a16="http://schemas.microsoft.com/office/drawing/2014/main" val="2588899552"/>
                    </a:ext>
                  </a:extLst>
                </a:gridCol>
                <a:gridCol w="750631">
                  <a:extLst>
                    <a:ext uri="{9D8B030D-6E8A-4147-A177-3AD203B41FA5}">
                      <a16:colId xmlns:a16="http://schemas.microsoft.com/office/drawing/2014/main" val="2140089295"/>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algn="ctr"/>
                      <a:r>
                        <a:rPr lang="es-MX" sz="800" b="0" dirty="0" err="1">
                          <a:solidFill>
                            <a:srgbClr val="004877"/>
                          </a:solidFill>
                          <a:latin typeface="Helvetica" panose="020B0604020202020204" pitchFamily="34" charset="0"/>
                          <a:ea typeface="Verdana" panose="020B0604030504040204" pitchFamily="34" charset="0"/>
                          <a:cs typeface="Helvetica" panose="020B0604020202020204" pitchFamily="34" charset="0"/>
                        </a:rPr>
                        <a:t>Vol</a:t>
                      </a: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 Core Total</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$4,963.0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$5,016.8</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$4,712.4</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$4,874.0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530674"/>
                  </a:ext>
                </a:extLst>
              </a:tr>
              <a:tr h="179952">
                <a:tc>
                  <a:txBody>
                    <a:bodyPr/>
                    <a:lstStyle/>
                    <a:p>
                      <a:pPr algn="ct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SG&amp;A (Salario)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$96.6</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$107.0</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$108.7</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$102.4</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algn="ctr"/>
                      <a:r>
                        <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rPr>
                        <a:t>Volumen Vs Salario</a:t>
                      </a:r>
                    </a:p>
                  </a:txBody>
                  <a:tcPr marL="82953" marR="82953" marT="41476" marB="41476"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                 51.4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46.9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43.4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Helvetica" panose="020B0604020202020204"/>
                          <a:ea typeface="+mn-ea"/>
                          <a:cs typeface="+mn-cs"/>
                        </a:rPr>
                        <a:t>47.6 </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04956658"/>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Gasto / Volumen</a:t>
                      </a:r>
                    </a:p>
                  </a:txBody>
                  <a:tcPr marL="82953" marR="82953" marT="41476" marB="41476"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1.9%</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2.1%</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2.3%</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2.1%</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33755489"/>
                  </a:ext>
                </a:extLst>
              </a:tr>
            </a:tbl>
          </a:graphicData>
        </a:graphic>
      </p:graphicFrame>
      <p:sp>
        <p:nvSpPr>
          <p:cNvPr id="19" name="TextBox 46">
            <a:extLst>
              <a:ext uri="{FF2B5EF4-FFF2-40B4-BE49-F238E27FC236}">
                <a16:creationId xmlns:a16="http://schemas.microsoft.com/office/drawing/2014/main" id="{30C035EE-DE8E-7A93-2F6B-FCDEE3EC395F}"/>
              </a:ext>
            </a:extLst>
          </p:cNvPr>
          <p:cNvSpPr txBox="1"/>
          <p:nvPr/>
        </p:nvSpPr>
        <p:spPr>
          <a:xfrm>
            <a:off x="5811618" y="5615240"/>
            <a:ext cx="4098718" cy="861774"/>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El gasto en salario vs volumen total generado por Core (sea en segmento LMM o Core) ha aumentado año con año de 1.9% en 2023 a 2.1% en 2024 y 2.3% para 2025.</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Se espera una mayor eficiencia para 2026 regresando a 2.1% </a:t>
            </a:r>
          </a:p>
        </p:txBody>
      </p:sp>
      <p:sp>
        <p:nvSpPr>
          <p:cNvPr id="21" name="TextBox 46">
            <a:extLst>
              <a:ext uri="{FF2B5EF4-FFF2-40B4-BE49-F238E27FC236}">
                <a16:creationId xmlns:a16="http://schemas.microsoft.com/office/drawing/2014/main" id="{F6DFE38D-98B7-C8C7-2A8F-2AD761468C4C}"/>
              </a:ext>
            </a:extLst>
          </p:cNvPr>
          <p:cNvSpPr txBox="1"/>
          <p:nvPr/>
        </p:nvSpPr>
        <p:spPr>
          <a:xfrm>
            <a:off x="142102" y="4937622"/>
            <a:ext cx="5415859" cy="553998"/>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Dejando a un lado la diferencia de rentabilidad entre operaciones de Core y LMM.  El porcentaje de gasto por cada unidad de volumen generado del equipo de LMM es alrededor de 3 veces el porcentaje equivalente del equipo Core</a:t>
            </a:r>
          </a:p>
        </p:txBody>
      </p:sp>
    </p:spTree>
    <p:extLst>
      <p:ext uri="{BB962C8B-B14F-4D97-AF65-F5344CB8AC3E}">
        <p14:creationId xmlns:p14="http://schemas.microsoft.com/office/powerpoint/2010/main" val="2715912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4EBE9-30D9-54BD-6156-BA6AB1FB7F3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562BAE6-01C2-1414-8C35-7B0D73DBBA9D}"/>
              </a:ext>
            </a:extLst>
          </p:cNvPr>
          <p:cNvSpPr txBox="1">
            <a:spLocks/>
          </p:cNvSpPr>
          <p:nvPr/>
        </p:nvSpPr>
        <p:spPr>
          <a:xfrm>
            <a:off x="269620" y="168484"/>
            <a:ext cx="8249422" cy="333753"/>
          </a:xfrm>
          <a:prstGeom prst="rect">
            <a:avLst/>
          </a:prstGeom>
        </p:spPr>
        <p:txBody>
          <a:bodyPr vert="horz" lIns="82953" tIns="41476" rIns="82953" bIns="41476" rtlCol="0" anchor="t">
            <a:noAutofit/>
          </a:bodyPr>
          <a:lstStyle>
            <a:lvl1pPr algn="l" defTabSz="914400" rtl="0" eaLnBrk="1" latinLnBrk="0" hangingPunct="1">
              <a:lnSpc>
                <a:spcPct val="90000"/>
              </a:lnSpc>
              <a:spcBef>
                <a:spcPct val="0"/>
              </a:spcBef>
              <a:buNone/>
              <a:defRPr sz="1000" b="1" kern="1200">
                <a:solidFill>
                  <a:srgbClr val="004877"/>
                </a:solidFill>
                <a:latin typeface="Verdana" panose="020B0604030504040204" pitchFamily="34" charset="0"/>
                <a:ea typeface="Verdana" panose="020B0604030504040204" pitchFamily="34" charset="0"/>
                <a:cs typeface="Verdana" panose="020B0604030504040204" pitchFamily="34" charset="0"/>
              </a:defRPr>
            </a:lvl1pPr>
          </a:lstStyle>
          <a:p>
            <a:pPr defTabSz="829544">
              <a:defRPr/>
            </a:pPr>
            <a:r>
              <a:rPr lang="en-US" sz="2800" kern="0" dirty="0" err="1">
                <a:solidFill>
                  <a:srgbClr val="EE7600"/>
                </a:solidFill>
                <a:latin typeface="Helvetica" panose="020B0604020202020204" pitchFamily="34" charset="0"/>
                <a:cs typeface="Helvetica" panose="020B0604020202020204" pitchFamily="34" charset="0"/>
              </a:rPr>
              <a:t>Análisis</a:t>
            </a:r>
            <a:r>
              <a:rPr lang="en-US" sz="2800" kern="0" dirty="0">
                <a:solidFill>
                  <a:srgbClr val="EE7600"/>
                </a:solidFill>
                <a:latin typeface="Helvetica" panose="020B0604020202020204" pitchFamily="34" charset="0"/>
                <a:cs typeface="Helvetica" panose="020B0604020202020204" pitchFamily="34" charset="0"/>
              </a:rPr>
              <a:t> de </a:t>
            </a:r>
            <a:r>
              <a:rPr lang="en-US" sz="2800" kern="0" dirty="0" err="1">
                <a:solidFill>
                  <a:srgbClr val="EE7600"/>
                </a:solidFill>
                <a:latin typeface="Helvetica" panose="020B0604020202020204" pitchFamily="34" charset="0"/>
                <a:cs typeface="Helvetica" panose="020B0604020202020204" pitchFamily="34" charset="0"/>
              </a:rPr>
              <a:t>Productividad</a:t>
            </a:r>
            <a:r>
              <a:rPr lang="en-US" sz="2800" kern="0" dirty="0">
                <a:solidFill>
                  <a:srgbClr val="EE7600"/>
                </a:solidFill>
                <a:latin typeface="Helvetica" panose="020B0604020202020204" pitchFamily="34" charset="0"/>
                <a:cs typeface="Helvetica" panose="020B0604020202020204" pitchFamily="34" charset="0"/>
              </a:rPr>
              <a:t> LMM</a:t>
            </a:r>
            <a:endParaRPr lang="en-US" sz="1200" kern="0" dirty="0">
              <a:solidFill>
                <a:srgbClr val="EE7600"/>
              </a:solidFill>
              <a:latin typeface="Helvetica" panose="020B0604020202020204" pitchFamily="34" charset="0"/>
              <a:cs typeface="Helvetica" panose="020B0604020202020204" pitchFamily="34" charset="0"/>
            </a:endParaRPr>
          </a:p>
        </p:txBody>
      </p:sp>
      <p:sp>
        <p:nvSpPr>
          <p:cNvPr id="39" name="TextBox 46">
            <a:extLst>
              <a:ext uri="{FF2B5EF4-FFF2-40B4-BE49-F238E27FC236}">
                <a16:creationId xmlns:a16="http://schemas.microsoft.com/office/drawing/2014/main" id="{A3C1E5AB-BB40-2C69-441C-B023EB7AD923}"/>
              </a:ext>
            </a:extLst>
          </p:cNvPr>
          <p:cNvSpPr txBox="1"/>
          <p:nvPr/>
        </p:nvSpPr>
        <p:spPr>
          <a:xfrm>
            <a:off x="142103" y="687860"/>
            <a:ext cx="2313503"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Enfoque per </a:t>
            </a:r>
            <a:r>
              <a:rPr lang="es-MX" sz="1000" b="1" dirty="0" err="1">
                <a:solidFill>
                  <a:schemeClr val="bg1"/>
                </a:solidFill>
                <a:latin typeface="Helvetica" panose="020B0604020202020204" pitchFamily="34" charset="0"/>
                <a:cs typeface="Helvetica" panose="020B0604020202020204" pitchFamily="34" charset="0"/>
              </a:rPr>
              <a:t>capita</a:t>
            </a:r>
            <a:endParaRPr lang="es-MX" sz="1000" b="1" dirty="0">
              <a:solidFill>
                <a:schemeClr val="bg1"/>
              </a:solidFill>
              <a:latin typeface="Helvetica" panose="020B0604020202020204" pitchFamily="34" charset="0"/>
              <a:cs typeface="Helvetica" panose="020B0604020202020204" pitchFamily="34" charset="0"/>
            </a:endParaRPr>
          </a:p>
        </p:txBody>
      </p:sp>
      <p:sp>
        <p:nvSpPr>
          <p:cNvPr id="7" name="TextBox 46">
            <a:extLst>
              <a:ext uri="{FF2B5EF4-FFF2-40B4-BE49-F238E27FC236}">
                <a16:creationId xmlns:a16="http://schemas.microsoft.com/office/drawing/2014/main" id="{2D093097-28EF-BB23-F813-F7AFAD3CC560}"/>
              </a:ext>
            </a:extLst>
          </p:cNvPr>
          <p:cNvSpPr txBox="1"/>
          <p:nvPr/>
        </p:nvSpPr>
        <p:spPr>
          <a:xfrm>
            <a:off x="142104" y="934466"/>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Iniciativa</a:t>
            </a:r>
          </a:p>
        </p:txBody>
      </p:sp>
      <p:graphicFrame>
        <p:nvGraphicFramePr>
          <p:cNvPr id="16" name="Table 39">
            <a:extLst>
              <a:ext uri="{FF2B5EF4-FFF2-40B4-BE49-F238E27FC236}">
                <a16:creationId xmlns:a16="http://schemas.microsoft.com/office/drawing/2014/main" id="{DC725630-A9F8-85A1-8F8E-A492F90F32A7}"/>
              </a:ext>
            </a:extLst>
          </p:cNvPr>
          <p:cNvGraphicFramePr>
            <a:graphicFrameLocks noGrp="1"/>
          </p:cNvGraphicFramePr>
          <p:nvPr>
            <p:extLst>
              <p:ext uri="{D42A27DB-BD31-4B8C-83A1-F6EECF244321}">
                <p14:modId xmlns:p14="http://schemas.microsoft.com/office/powerpoint/2010/main" val="4136739029"/>
              </p:ext>
            </p:extLst>
          </p:nvPr>
        </p:nvGraphicFramePr>
        <p:xfrm>
          <a:off x="142104" y="1247740"/>
          <a:ext cx="5041128" cy="118524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gridCol w="651784">
                  <a:extLst>
                    <a:ext uri="{9D8B030D-6E8A-4147-A177-3AD203B41FA5}">
                      <a16:colId xmlns:a16="http://schemas.microsoft.com/office/drawing/2014/main" val="2140089295"/>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algn="ctr"/>
                      <a:r>
                        <a:rPr lang="es-MX" sz="800" b="0" dirty="0" err="1">
                          <a:solidFill>
                            <a:srgbClr val="004877"/>
                          </a:solidFill>
                          <a:latin typeface="Helvetica" panose="020B0604020202020204" pitchFamily="34" charset="0"/>
                          <a:ea typeface="Verdana" panose="020B0604030504040204" pitchFamily="34" charset="0"/>
                          <a:cs typeface="Helvetica" panose="020B0604020202020204" pitchFamily="34" charset="0"/>
                        </a:rPr>
                        <a:t>Vol</a:t>
                      </a: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 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$88.1</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$406.7</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$834.6</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$1,053.7</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$1,164.3</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$1,021.1</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buNone/>
                      </a:pPr>
                      <a:r>
                        <a:rPr lang="es-MX" sz="800" b="0" i="0" u="none" strike="noStrike" dirty="0">
                          <a:solidFill>
                            <a:srgbClr val="004877"/>
                          </a:solidFill>
                          <a:effectLst/>
                          <a:latin typeface="Arial" panose="020B0604020202020204" pitchFamily="34" charset="0"/>
                        </a:rPr>
                        <a:t>$1,176.0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53067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vendedores &gt; 6 meses</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8</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12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26</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28</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19</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algn="ctr"/>
                      <a:r>
                        <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rPr>
                        <a:t>Volumen per </a:t>
                      </a:r>
                      <a:r>
                        <a:rPr lang="es-MX" sz="800" b="1" dirty="0" err="1">
                          <a:solidFill>
                            <a:srgbClr val="004877"/>
                          </a:solidFill>
                          <a:latin typeface="Helvetica" panose="020B0604020202020204" pitchFamily="34" charset="0"/>
                          <a:ea typeface="Verdana" panose="020B0604030504040204" pitchFamily="34" charset="0"/>
                          <a:cs typeface="Helvetica" panose="020B0604020202020204" pitchFamily="34" charset="0"/>
                        </a:rPr>
                        <a:t>capita</a:t>
                      </a: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$11.0</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$33.9</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$33.4</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$40.5</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$41.6</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$46.4</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$61.9</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04956658"/>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208%</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21%</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12%</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33%</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33755489"/>
                  </a:ext>
                </a:extLst>
              </a:tr>
            </a:tbl>
          </a:graphicData>
        </a:graphic>
      </p:graphicFrame>
      <p:sp>
        <p:nvSpPr>
          <p:cNvPr id="5" name="TextBox 46">
            <a:extLst>
              <a:ext uri="{FF2B5EF4-FFF2-40B4-BE49-F238E27FC236}">
                <a16:creationId xmlns:a16="http://schemas.microsoft.com/office/drawing/2014/main" id="{9D878330-604E-D7B4-BD2D-2D08510A6FE6}"/>
              </a:ext>
            </a:extLst>
          </p:cNvPr>
          <p:cNvSpPr txBox="1"/>
          <p:nvPr/>
        </p:nvSpPr>
        <p:spPr>
          <a:xfrm>
            <a:off x="7152510" y="939386"/>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Core</a:t>
            </a:r>
          </a:p>
        </p:txBody>
      </p:sp>
      <p:graphicFrame>
        <p:nvGraphicFramePr>
          <p:cNvPr id="17" name="Gráfico 16">
            <a:extLst>
              <a:ext uri="{FF2B5EF4-FFF2-40B4-BE49-F238E27FC236}">
                <a16:creationId xmlns:a16="http://schemas.microsoft.com/office/drawing/2014/main" id="{1FBD64C4-BF6C-3340-D6F6-9F6A768CD398}"/>
              </a:ext>
            </a:extLst>
          </p:cNvPr>
          <p:cNvGraphicFramePr/>
          <p:nvPr>
            <p:extLst>
              <p:ext uri="{D42A27DB-BD31-4B8C-83A1-F6EECF244321}">
                <p14:modId xmlns:p14="http://schemas.microsoft.com/office/powerpoint/2010/main" val="1551178296"/>
              </p:ext>
            </p:extLst>
          </p:nvPr>
        </p:nvGraphicFramePr>
        <p:xfrm>
          <a:off x="1298854" y="2773687"/>
          <a:ext cx="3672348" cy="26753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Table 39">
            <a:extLst>
              <a:ext uri="{FF2B5EF4-FFF2-40B4-BE49-F238E27FC236}">
                <a16:creationId xmlns:a16="http://schemas.microsoft.com/office/drawing/2014/main" id="{64D5C334-4E3D-5773-55C5-CDD5CAAEB9E5}"/>
              </a:ext>
            </a:extLst>
          </p:cNvPr>
          <p:cNvGraphicFramePr>
            <a:graphicFrameLocks noGrp="1"/>
          </p:cNvGraphicFramePr>
          <p:nvPr>
            <p:extLst>
              <p:ext uri="{D42A27DB-BD31-4B8C-83A1-F6EECF244321}">
                <p14:modId xmlns:p14="http://schemas.microsoft.com/office/powerpoint/2010/main" val="3196939960"/>
              </p:ext>
            </p:extLst>
          </p:nvPr>
        </p:nvGraphicFramePr>
        <p:xfrm>
          <a:off x="7147590" y="1253119"/>
          <a:ext cx="5041128" cy="118524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gridCol w="651784">
                  <a:extLst>
                    <a:ext uri="{9D8B030D-6E8A-4147-A177-3AD203B41FA5}">
                      <a16:colId xmlns:a16="http://schemas.microsoft.com/office/drawing/2014/main" val="2140089295"/>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algn="ctr"/>
                      <a:r>
                        <a:rPr lang="es-MX" sz="800" b="0" dirty="0" err="1">
                          <a:solidFill>
                            <a:srgbClr val="004877"/>
                          </a:solidFill>
                          <a:latin typeface="Helvetica" panose="020B0604020202020204" pitchFamily="34" charset="0"/>
                          <a:ea typeface="Verdana" panose="020B0604030504040204" pitchFamily="34" charset="0"/>
                          <a:cs typeface="Helvetica" panose="020B0604020202020204" pitchFamily="34" charset="0"/>
                        </a:rPr>
                        <a:t>Vol</a:t>
                      </a: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 LMM Core</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$134.4</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$273.4</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$339.6</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$349.1</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$328.0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$473.4</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$528.0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53067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vendedores &gt; 6 meses</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23</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33</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30</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algn="ctr"/>
                      <a:r>
                        <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rPr>
                        <a:t>Volumen per </a:t>
                      </a:r>
                      <a:r>
                        <a:rPr lang="es-MX" sz="800" b="1" dirty="0" err="1">
                          <a:solidFill>
                            <a:srgbClr val="004877"/>
                          </a:solidFill>
                          <a:latin typeface="Helvetica" panose="020B0604020202020204" pitchFamily="34" charset="0"/>
                          <a:ea typeface="Verdana" panose="020B0604030504040204" pitchFamily="34" charset="0"/>
                          <a:cs typeface="Helvetica" panose="020B0604020202020204" pitchFamily="34" charset="0"/>
                        </a:rPr>
                        <a:t>capita</a:t>
                      </a: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$5.4</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$11.9</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$13.6</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$10.9</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$9.9</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$14.8</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$17.6</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04956658"/>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121%</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14%</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-20%</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-9%</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49%</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19%</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33755489"/>
                  </a:ext>
                </a:extLst>
              </a:tr>
            </a:tbl>
          </a:graphicData>
        </a:graphic>
      </p:graphicFrame>
      <p:graphicFrame>
        <p:nvGraphicFramePr>
          <p:cNvPr id="20" name="Tabla 19">
            <a:extLst>
              <a:ext uri="{FF2B5EF4-FFF2-40B4-BE49-F238E27FC236}">
                <a16:creationId xmlns:a16="http://schemas.microsoft.com/office/drawing/2014/main" id="{906F61A3-5B90-4E03-8722-1383DA219390}"/>
              </a:ext>
            </a:extLst>
          </p:cNvPr>
          <p:cNvGraphicFramePr>
            <a:graphicFrameLocks noGrp="1"/>
          </p:cNvGraphicFramePr>
          <p:nvPr>
            <p:extLst>
              <p:ext uri="{D42A27DB-BD31-4B8C-83A1-F6EECF244321}">
                <p14:modId xmlns:p14="http://schemas.microsoft.com/office/powerpoint/2010/main" val="3969182823"/>
              </p:ext>
            </p:extLst>
          </p:nvPr>
        </p:nvGraphicFramePr>
        <p:xfrm>
          <a:off x="7072022" y="2596625"/>
          <a:ext cx="5041128" cy="118524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1546319215"/>
                    </a:ext>
                  </a:extLst>
                </a:gridCol>
                <a:gridCol w="506147">
                  <a:extLst>
                    <a:ext uri="{9D8B030D-6E8A-4147-A177-3AD203B41FA5}">
                      <a16:colId xmlns:a16="http://schemas.microsoft.com/office/drawing/2014/main" val="53172177"/>
                    </a:ext>
                  </a:extLst>
                </a:gridCol>
                <a:gridCol w="506147">
                  <a:extLst>
                    <a:ext uri="{9D8B030D-6E8A-4147-A177-3AD203B41FA5}">
                      <a16:colId xmlns:a16="http://schemas.microsoft.com/office/drawing/2014/main" val="890326861"/>
                    </a:ext>
                  </a:extLst>
                </a:gridCol>
                <a:gridCol w="506147">
                  <a:extLst>
                    <a:ext uri="{9D8B030D-6E8A-4147-A177-3AD203B41FA5}">
                      <a16:colId xmlns:a16="http://schemas.microsoft.com/office/drawing/2014/main" val="636108416"/>
                    </a:ext>
                  </a:extLst>
                </a:gridCol>
                <a:gridCol w="506147">
                  <a:extLst>
                    <a:ext uri="{9D8B030D-6E8A-4147-A177-3AD203B41FA5}">
                      <a16:colId xmlns:a16="http://schemas.microsoft.com/office/drawing/2014/main" val="880649383"/>
                    </a:ext>
                  </a:extLst>
                </a:gridCol>
                <a:gridCol w="651784">
                  <a:extLst>
                    <a:ext uri="{9D8B030D-6E8A-4147-A177-3AD203B41FA5}">
                      <a16:colId xmlns:a16="http://schemas.microsoft.com/office/drawing/2014/main" val="2037943469"/>
                    </a:ext>
                  </a:extLst>
                </a:gridCol>
                <a:gridCol w="651784">
                  <a:extLst>
                    <a:ext uri="{9D8B030D-6E8A-4147-A177-3AD203B41FA5}">
                      <a16:colId xmlns:a16="http://schemas.microsoft.com/office/drawing/2014/main" val="1063579698"/>
                    </a:ext>
                  </a:extLst>
                </a:gridCol>
                <a:gridCol w="651784">
                  <a:extLst>
                    <a:ext uri="{9D8B030D-6E8A-4147-A177-3AD203B41FA5}">
                      <a16:colId xmlns:a16="http://schemas.microsoft.com/office/drawing/2014/main" val="3408078999"/>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10046243"/>
                  </a:ext>
                </a:extLst>
              </a:tr>
              <a:tr h="179952">
                <a:tc>
                  <a:txBody>
                    <a:bodyPr/>
                    <a:lstStyle/>
                    <a:p>
                      <a:pPr algn="ctr"/>
                      <a:r>
                        <a:rPr lang="es-MX" sz="800" b="0" dirty="0" err="1">
                          <a:solidFill>
                            <a:srgbClr val="004877"/>
                          </a:solidFill>
                          <a:latin typeface="Helvetica" panose="020B0604020202020204" pitchFamily="34" charset="0"/>
                          <a:ea typeface="Verdana" panose="020B0604030504040204" pitchFamily="34" charset="0"/>
                          <a:cs typeface="Helvetica" panose="020B0604020202020204" pitchFamily="34" charset="0"/>
                        </a:rPr>
                        <a:t>Vol</a:t>
                      </a:r>
                      <a:r>
                        <a:rPr lang="es-MX" sz="800" b="0" dirty="0">
                          <a:solidFill>
                            <a:srgbClr val="004877"/>
                          </a:solidFill>
                          <a:latin typeface="Helvetica" panose="020B0604020202020204" pitchFamily="34" charset="0"/>
                          <a:ea typeface="Verdana" panose="020B0604030504040204" pitchFamily="34" charset="0"/>
                          <a:cs typeface="Helvetica" panose="020B0604020202020204" pitchFamily="34" charset="0"/>
                        </a:rPr>
                        <a:t> Core</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$4,457.7</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$3,738.8</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$4,410.5</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$4,963.0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$5,016.8</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$4,712.4</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$4,874.0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054437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vendedores &gt; 6 meses</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23</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33</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30</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9956323"/>
                  </a:ext>
                </a:extLst>
              </a:tr>
              <a:tr h="179952">
                <a:tc>
                  <a:txBody>
                    <a:bodyPr/>
                    <a:lstStyle/>
                    <a:p>
                      <a:pPr algn="ctr"/>
                      <a:r>
                        <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rPr>
                        <a:t>Volumen per </a:t>
                      </a:r>
                      <a:r>
                        <a:rPr lang="es-MX" sz="800" b="1" dirty="0" err="1">
                          <a:solidFill>
                            <a:srgbClr val="004877"/>
                          </a:solidFill>
                          <a:latin typeface="Helvetica" panose="020B0604020202020204" pitchFamily="34" charset="0"/>
                          <a:ea typeface="Verdana" panose="020B0604030504040204" pitchFamily="34" charset="0"/>
                          <a:cs typeface="Helvetica" panose="020B0604020202020204" pitchFamily="34" charset="0"/>
                        </a:rPr>
                        <a:t>capita</a:t>
                      </a: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$178.3</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$162.6</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$176.4</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$155.1</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$152.0</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$147.3</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$162.5</a:t>
                      </a:r>
                    </a:p>
                  </a:txBody>
                  <a:tcPr marL="0" marR="0" marT="0" marB="0" anchor="b">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2670246"/>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-9%</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9%</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-12%</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10%</a:t>
                      </a:r>
                    </a:p>
                  </a:txBody>
                  <a:tcPr marL="0" marR="0" marT="0" marB="0" anchor="b">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05746982"/>
                  </a:ext>
                </a:extLst>
              </a:tr>
            </a:tbl>
          </a:graphicData>
        </a:graphic>
      </p:graphicFrame>
      <p:sp>
        <p:nvSpPr>
          <p:cNvPr id="22" name="TextBox 46">
            <a:extLst>
              <a:ext uri="{FF2B5EF4-FFF2-40B4-BE49-F238E27FC236}">
                <a16:creationId xmlns:a16="http://schemas.microsoft.com/office/drawing/2014/main" id="{3AC18248-7F38-2C7B-AC41-9BF13CDBC355}"/>
              </a:ext>
            </a:extLst>
          </p:cNvPr>
          <p:cNvSpPr txBox="1"/>
          <p:nvPr/>
        </p:nvSpPr>
        <p:spPr>
          <a:xfrm>
            <a:off x="-69754" y="5577666"/>
            <a:ext cx="5834450" cy="861774"/>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A pesar que en 2025 se espera que disminuya el volumen total de LMM Iniciativa vs 2024,  el volumen por originador subió de  $41.6M a $46.4M. Pasando de 28 a 22 originadores con más de 6 meses respectivamente</a:t>
            </a:r>
          </a:p>
          <a:p>
            <a:pPr algn="just" defTabSz="829544">
              <a:defRPr/>
            </a:pPr>
            <a:r>
              <a:rPr lang="es-MX" sz="1000" dirty="0">
                <a:latin typeface="Helvetica" panose="020B0604020202020204" pitchFamily="34" charset="0"/>
                <a:cs typeface="Helvetica" panose="020B0604020202020204" pitchFamily="34" charset="0"/>
              </a:rPr>
              <a:t>Se tiene reto para 2026 donde se espera crecer el volumen por originador a 33% al considerar un menor números de vendedores</a:t>
            </a:r>
          </a:p>
        </p:txBody>
      </p:sp>
      <p:sp>
        <p:nvSpPr>
          <p:cNvPr id="25" name="TextBox 46">
            <a:extLst>
              <a:ext uri="{FF2B5EF4-FFF2-40B4-BE49-F238E27FC236}">
                <a16:creationId xmlns:a16="http://schemas.microsoft.com/office/drawing/2014/main" id="{8E59FBAB-7456-26BA-FFEF-0AA6B7FE6302}"/>
              </a:ext>
            </a:extLst>
          </p:cNvPr>
          <p:cNvSpPr txBox="1"/>
          <p:nvPr/>
        </p:nvSpPr>
        <p:spPr>
          <a:xfrm>
            <a:off x="7124075" y="2529112"/>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Core Total</a:t>
            </a:r>
          </a:p>
        </p:txBody>
      </p:sp>
      <p:graphicFrame>
        <p:nvGraphicFramePr>
          <p:cNvPr id="26" name="Gráfico 25">
            <a:extLst>
              <a:ext uri="{FF2B5EF4-FFF2-40B4-BE49-F238E27FC236}">
                <a16:creationId xmlns:a16="http://schemas.microsoft.com/office/drawing/2014/main" id="{CDF333A3-FD30-A306-8DBD-DC8838E34BAA}"/>
              </a:ext>
            </a:extLst>
          </p:cNvPr>
          <p:cNvGraphicFramePr/>
          <p:nvPr>
            <p:extLst>
              <p:ext uri="{D42A27DB-BD31-4B8C-83A1-F6EECF244321}">
                <p14:modId xmlns:p14="http://schemas.microsoft.com/office/powerpoint/2010/main" val="1002053839"/>
              </p:ext>
            </p:extLst>
          </p:nvPr>
        </p:nvGraphicFramePr>
        <p:xfrm>
          <a:off x="6273925" y="3784247"/>
          <a:ext cx="2846555" cy="175549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Gráfico 26">
            <a:extLst>
              <a:ext uri="{FF2B5EF4-FFF2-40B4-BE49-F238E27FC236}">
                <a16:creationId xmlns:a16="http://schemas.microsoft.com/office/drawing/2014/main" id="{E637A441-F3F5-E568-5321-452C1BDDDDC9}"/>
              </a:ext>
            </a:extLst>
          </p:cNvPr>
          <p:cNvGraphicFramePr/>
          <p:nvPr>
            <p:extLst>
              <p:ext uri="{D42A27DB-BD31-4B8C-83A1-F6EECF244321}">
                <p14:modId xmlns:p14="http://schemas.microsoft.com/office/powerpoint/2010/main" val="650157034"/>
              </p:ext>
            </p:extLst>
          </p:nvPr>
        </p:nvGraphicFramePr>
        <p:xfrm>
          <a:off x="9128431" y="3849386"/>
          <a:ext cx="2846555" cy="1755495"/>
        </p:xfrm>
        <a:graphic>
          <a:graphicData uri="http://schemas.openxmlformats.org/drawingml/2006/chart">
            <c:chart xmlns:c="http://schemas.openxmlformats.org/drawingml/2006/chart" xmlns:r="http://schemas.openxmlformats.org/officeDocument/2006/relationships" r:id="rId5"/>
          </a:graphicData>
        </a:graphic>
      </p:graphicFrame>
      <p:sp>
        <p:nvSpPr>
          <p:cNvPr id="28" name="TextBox 46">
            <a:extLst>
              <a:ext uri="{FF2B5EF4-FFF2-40B4-BE49-F238E27FC236}">
                <a16:creationId xmlns:a16="http://schemas.microsoft.com/office/drawing/2014/main" id="{AE2CB18B-ED3D-8A86-A533-BE1B33EC0828}"/>
              </a:ext>
            </a:extLst>
          </p:cNvPr>
          <p:cNvSpPr txBox="1"/>
          <p:nvPr/>
        </p:nvSpPr>
        <p:spPr>
          <a:xfrm>
            <a:off x="6154310" y="5539742"/>
            <a:ext cx="6034408" cy="861774"/>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El equipo de Core tuvo un incremento relevante en el volumen por originador en LMM, de $9.9MM a $14.8MM sin embargo aún se encuentra lejos de los niveles de LMM Iniciativa.</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El enfoque del equipo Core está centrado en operaciones de su segmento atestiguado por el volumen total per </a:t>
            </a:r>
            <a:r>
              <a:rPr lang="es-MX" sz="1000" dirty="0" err="1">
                <a:latin typeface="Helvetica" panose="020B0604020202020204" pitchFamily="34" charset="0"/>
                <a:cs typeface="Helvetica" panose="020B0604020202020204" pitchFamily="34" charset="0"/>
              </a:rPr>
              <a:t>capita</a:t>
            </a:r>
            <a:r>
              <a:rPr lang="es-MX" sz="1000" dirty="0">
                <a:latin typeface="Helvetica" panose="020B0604020202020204" pitchFamily="34" charset="0"/>
                <a:cs typeface="Helvetica" panose="020B0604020202020204" pitchFamily="34" charset="0"/>
              </a:rPr>
              <a:t> que ronda los $150MM</a:t>
            </a:r>
          </a:p>
        </p:txBody>
      </p:sp>
    </p:spTree>
    <p:extLst>
      <p:ext uri="{BB962C8B-B14F-4D97-AF65-F5344CB8AC3E}">
        <p14:creationId xmlns:p14="http://schemas.microsoft.com/office/powerpoint/2010/main" val="3273517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3AD3B-B420-EDFF-F005-3A4559E803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F9318CD-9E56-EF31-BC58-99AF54E6B2DB}"/>
              </a:ext>
            </a:extLst>
          </p:cNvPr>
          <p:cNvSpPr txBox="1">
            <a:spLocks/>
          </p:cNvSpPr>
          <p:nvPr/>
        </p:nvSpPr>
        <p:spPr>
          <a:xfrm>
            <a:off x="269620" y="168484"/>
            <a:ext cx="8249422" cy="333753"/>
          </a:xfrm>
          <a:prstGeom prst="rect">
            <a:avLst/>
          </a:prstGeom>
        </p:spPr>
        <p:txBody>
          <a:bodyPr vert="horz" lIns="82953" tIns="41476" rIns="82953" bIns="41476" rtlCol="0" anchor="t">
            <a:noAutofit/>
          </a:bodyPr>
          <a:lstStyle>
            <a:lvl1pPr algn="l" defTabSz="914400" rtl="0" eaLnBrk="1" latinLnBrk="0" hangingPunct="1">
              <a:lnSpc>
                <a:spcPct val="90000"/>
              </a:lnSpc>
              <a:spcBef>
                <a:spcPct val="0"/>
              </a:spcBef>
              <a:buNone/>
              <a:defRPr sz="1000" b="1" kern="1200">
                <a:solidFill>
                  <a:srgbClr val="004877"/>
                </a:solidFill>
                <a:latin typeface="Verdana" panose="020B0604030504040204" pitchFamily="34" charset="0"/>
                <a:ea typeface="Verdana" panose="020B0604030504040204" pitchFamily="34" charset="0"/>
                <a:cs typeface="Verdana" panose="020B0604030504040204" pitchFamily="34" charset="0"/>
              </a:defRPr>
            </a:lvl1pPr>
          </a:lstStyle>
          <a:p>
            <a:pPr defTabSz="829544">
              <a:defRPr/>
            </a:pPr>
            <a:r>
              <a:rPr lang="en-US" sz="2800" kern="0" dirty="0" err="1">
                <a:solidFill>
                  <a:srgbClr val="EE7600"/>
                </a:solidFill>
                <a:latin typeface="Helvetica" panose="020B0604020202020204" pitchFamily="34" charset="0"/>
                <a:cs typeface="Helvetica" panose="020B0604020202020204" pitchFamily="34" charset="0"/>
              </a:rPr>
              <a:t>Análisis</a:t>
            </a:r>
            <a:r>
              <a:rPr lang="en-US" sz="2800" kern="0" dirty="0">
                <a:solidFill>
                  <a:srgbClr val="EE7600"/>
                </a:solidFill>
                <a:latin typeface="Helvetica" panose="020B0604020202020204" pitchFamily="34" charset="0"/>
                <a:cs typeface="Helvetica" panose="020B0604020202020204" pitchFamily="34" charset="0"/>
              </a:rPr>
              <a:t> de </a:t>
            </a:r>
            <a:r>
              <a:rPr lang="en-US" sz="2800" kern="0" dirty="0" err="1">
                <a:solidFill>
                  <a:srgbClr val="EE7600"/>
                </a:solidFill>
                <a:latin typeface="Helvetica" panose="020B0604020202020204" pitchFamily="34" charset="0"/>
                <a:cs typeface="Helvetica" panose="020B0604020202020204" pitchFamily="34" charset="0"/>
              </a:rPr>
              <a:t>Productividad</a:t>
            </a:r>
            <a:r>
              <a:rPr lang="en-US" sz="2800" kern="0" dirty="0">
                <a:solidFill>
                  <a:srgbClr val="EE7600"/>
                </a:solidFill>
                <a:latin typeface="Helvetica" panose="020B0604020202020204" pitchFamily="34" charset="0"/>
                <a:cs typeface="Helvetica" panose="020B0604020202020204" pitchFamily="34" charset="0"/>
              </a:rPr>
              <a:t> LMM</a:t>
            </a:r>
            <a:endParaRPr lang="en-US" sz="1200" kern="0" dirty="0">
              <a:solidFill>
                <a:srgbClr val="EE7600"/>
              </a:solidFill>
              <a:latin typeface="Helvetica" panose="020B0604020202020204" pitchFamily="34" charset="0"/>
              <a:cs typeface="Helvetica" panose="020B0604020202020204" pitchFamily="34" charset="0"/>
            </a:endParaRPr>
          </a:p>
        </p:txBody>
      </p:sp>
      <p:sp>
        <p:nvSpPr>
          <p:cNvPr id="39" name="TextBox 46">
            <a:extLst>
              <a:ext uri="{FF2B5EF4-FFF2-40B4-BE49-F238E27FC236}">
                <a16:creationId xmlns:a16="http://schemas.microsoft.com/office/drawing/2014/main" id="{C834AAF4-3161-70E1-3CAF-877DDC35B1CF}"/>
              </a:ext>
            </a:extLst>
          </p:cNvPr>
          <p:cNvSpPr txBox="1"/>
          <p:nvPr/>
        </p:nvSpPr>
        <p:spPr>
          <a:xfrm>
            <a:off x="142103" y="687860"/>
            <a:ext cx="3189494"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 Rotación y composición de fuerza de ventas</a:t>
            </a:r>
          </a:p>
        </p:txBody>
      </p:sp>
      <p:sp>
        <p:nvSpPr>
          <p:cNvPr id="7" name="TextBox 46">
            <a:extLst>
              <a:ext uri="{FF2B5EF4-FFF2-40B4-BE49-F238E27FC236}">
                <a16:creationId xmlns:a16="http://schemas.microsoft.com/office/drawing/2014/main" id="{06B74A36-DF54-8E8B-2588-F7DC62559510}"/>
              </a:ext>
            </a:extLst>
          </p:cNvPr>
          <p:cNvSpPr txBox="1"/>
          <p:nvPr/>
        </p:nvSpPr>
        <p:spPr>
          <a:xfrm>
            <a:off x="142104" y="1872717"/>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Iniciativa</a:t>
            </a:r>
          </a:p>
        </p:txBody>
      </p:sp>
      <p:graphicFrame>
        <p:nvGraphicFramePr>
          <p:cNvPr id="16" name="Table 39">
            <a:extLst>
              <a:ext uri="{FF2B5EF4-FFF2-40B4-BE49-F238E27FC236}">
                <a16:creationId xmlns:a16="http://schemas.microsoft.com/office/drawing/2014/main" id="{2CC0BCDA-6FF7-0694-1DFD-FCD5D482A513}"/>
              </a:ext>
            </a:extLst>
          </p:cNvPr>
          <p:cNvGraphicFramePr>
            <a:graphicFrameLocks noGrp="1"/>
          </p:cNvGraphicFramePr>
          <p:nvPr>
            <p:extLst>
              <p:ext uri="{D42A27DB-BD31-4B8C-83A1-F6EECF244321}">
                <p14:modId xmlns:p14="http://schemas.microsoft.com/office/powerpoint/2010/main" val="1948439066"/>
              </p:ext>
            </p:extLst>
          </p:nvPr>
        </p:nvGraphicFramePr>
        <p:xfrm>
          <a:off x="269620" y="1989116"/>
          <a:ext cx="5041128" cy="980376"/>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gridCol w="651784">
                  <a:extLst>
                    <a:ext uri="{9D8B030D-6E8A-4147-A177-3AD203B41FA5}">
                      <a16:colId xmlns:a16="http://schemas.microsoft.com/office/drawing/2014/main" val="2140089295"/>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vendedores que salieron</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17</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12</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50%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183%</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-41%</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-67%</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vendedores &gt; 6 meses</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8</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12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26</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28</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22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s-MX" sz="800" b="0" i="0" u="none" strike="noStrike" kern="1200" dirty="0">
                          <a:solidFill>
                            <a:srgbClr val="004877"/>
                          </a:solidFill>
                          <a:effectLst/>
                          <a:latin typeface="Arial" panose="020B0604020202020204" pitchFamily="34" charset="0"/>
                          <a:ea typeface="+mn-ea"/>
                          <a:cs typeface="+mn-cs"/>
                        </a:rPr>
                        <a:t>19</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bl>
          </a:graphicData>
        </a:graphic>
      </p:graphicFrame>
      <p:sp>
        <p:nvSpPr>
          <p:cNvPr id="22" name="TextBox 46">
            <a:extLst>
              <a:ext uri="{FF2B5EF4-FFF2-40B4-BE49-F238E27FC236}">
                <a16:creationId xmlns:a16="http://schemas.microsoft.com/office/drawing/2014/main" id="{64C2D97F-347D-CB6D-711C-04F14B99D79D}"/>
              </a:ext>
            </a:extLst>
          </p:cNvPr>
          <p:cNvSpPr txBox="1"/>
          <p:nvPr/>
        </p:nvSpPr>
        <p:spPr>
          <a:xfrm>
            <a:off x="261549" y="1389486"/>
            <a:ext cx="11708537" cy="400110"/>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Tanto en LMM Iniciativa como en los equipos Core hemos tenido un aumento relevante de bajas en 2025, lo que reduce el número total de originadores que tendremos en 2026 dado que algunas de estas posiciones no se sustituirán</a:t>
            </a:r>
          </a:p>
        </p:txBody>
      </p:sp>
      <p:sp>
        <p:nvSpPr>
          <p:cNvPr id="28" name="TextBox 46">
            <a:extLst>
              <a:ext uri="{FF2B5EF4-FFF2-40B4-BE49-F238E27FC236}">
                <a16:creationId xmlns:a16="http://schemas.microsoft.com/office/drawing/2014/main" id="{873D0461-5FCE-79BF-B5BB-0D0B4B8051B0}"/>
              </a:ext>
            </a:extLst>
          </p:cNvPr>
          <p:cNvSpPr txBox="1"/>
          <p:nvPr/>
        </p:nvSpPr>
        <p:spPr>
          <a:xfrm>
            <a:off x="72887" y="6056522"/>
            <a:ext cx="12046226" cy="553998"/>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La composición de originadores de Core ha estado más cargada a originadores con cierto </a:t>
            </a:r>
            <a:r>
              <a:rPr lang="es-MX" sz="1000" dirty="0" err="1">
                <a:latin typeface="Helvetica" panose="020B0604020202020204" pitchFamily="34" charset="0"/>
                <a:cs typeface="Helvetica" panose="020B0604020202020204" pitchFamily="34" charset="0"/>
              </a:rPr>
              <a:t>tenure</a:t>
            </a:r>
            <a:r>
              <a:rPr lang="es-MX" sz="1000" dirty="0">
                <a:latin typeface="Helvetica" panose="020B0604020202020204" pitchFamily="34" charset="0"/>
                <a:cs typeface="Helvetica" panose="020B0604020202020204" pitchFamily="34" charset="0"/>
              </a:rPr>
              <a:t> (</a:t>
            </a:r>
            <a:r>
              <a:rPr lang="es-MX" sz="1000" dirty="0" err="1">
                <a:latin typeface="Helvetica" panose="020B0604020202020204" pitchFamily="34" charset="0"/>
                <a:cs typeface="Helvetica" panose="020B0604020202020204" pitchFamily="34" charset="0"/>
              </a:rPr>
              <a:t>Mid</a:t>
            </a:r>
            <a:r>
              <a:rPr lang="es-MX" sz="1000" dirty="0">
                <a:latin typeface="Helvetica" panose="020B0604020202020204" pitchFamily="34" charset="0"/>
                <a:cs typeface="Helvetica" panose="020B0604020202020204" pitchFamily="34" charset="0"/>
              </a:rPr>
              <a:t> &amp; High) aunque a últimas fechas hayamos tenido una disminución de nuestros originadores más veteranos (High), por otra parte el equipo de LMM empezó como un equipo nuevo por lo que apenas a 2025 se está logrando una composición con originadores con mayor </a:t>
            </a:r>
            <a:r>
              <a:rPr lang="es-MX" sz="1000" dirty="0" err="1">
                <a:latin typeface="Helvetica" panose="020B0604020202020204" pitchFamily="34" charset="0"/>
                <a:cs typeface="Helvetica" panose="020B0604020202020204" pitchFamily="34" charset="0"/>
              </a:rPr>
              <a:t>tenure</a:t>
            </a:r>
            <a:r>
              <a:rPr lang="es-MX" sz="1000" dirty="0">
                <a:latin typeface="Helvetica" panose="020B0604020202020204" pitchFamily="34" charset="0"/>
                <a:cs typeface="Helvetica" panose="020B0604020202020204" pitchFamily="34" charset="0"/>
              </a:rPr>
              <a:t>.</a:t>
            </a:r>
          </a:p>
          <a:p>
            <a:pPr algn="just" defTabSz="829544">
              <a:defRPr/>
            </a:pPr>
            <a:endParaRPr lang="es-MX" sz="1000" dirty="0">
              <a:latin typeface="Helvetica" panose="020B0604020202020204" pitchFamily="34" charset="0"/>
              <a:cs typeface="Helvetica" panose="020B0604020202020204" pitchFamily="34" charset="0"/>
            </a:endParaRPr>
          </a:p>
        </p:txBody>
      </p:sp>
      <p:sp>
        <p:nvSpPr>
          <p:cNvPr id="2" name="TextBox 46">
            <a:extLst>
              <a:ext uri="{FF2B5EF4-FFF2-40B4-BE49-F238E27FC236}">
                <a16:creationId xmlns:a16="http://schemas.microsoft.com/office/drawing/2014/main" id="{0C8EDF7F-DAF5-834A-89E9-B154AB219116}"/>
              </a:ext>
            </a:extLst>
          </p:cNvPr>
          <p:cNvSpPr txBox="1"/>
          <p:nvPr/>
        </p:nvSpPr>
        <p:spPr>
          <a:xfrm>
            <a:off x="6504469" y="1897904"/>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Core</a:t>
            </a:r>
          </a:p>
        </p:txBody>
      </p:sp>
      <p:sp>
        <p:nvSpPr>
          <p:cNvPr id="3" name="TextBox 46">
            <a:extLst>
              <a:ext uri="{FF2B5EF4-FFF2-40B4-BE49-F238E27FC236}">
                <a16:creationId xmlns:a16="http://schemas.microsoft.com/office/drawing/2014/main" id="{46E76D82-6D11-52DB-EDD4-E3A47F871FF9}"/>
              </a:ext>
            </a:extLst>
          </p:cNvPr>
          <p:cNvSpPr txBox="1"/>
          <p:nvPr/>
        </p:nvSpPr>
        <p:spPr>
          <a:xfrm>
            <a:off x="0" y="3213368"/>
            <a:ext cx="11708537" cy="246221"/>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Estas bajas, tanto de originadores nuevos como de originadores más veteranos, impactan la composición de vendedores por </a:t>
            </a:r>
            <a:r>
              <a:rPr lang="es-MX" sz="1000" dirty="0" err="1">
                <a:latin typeface="Helvetica" panose="020B0604020202020204" pitchFamily="34" charset="0"/>
                <a:cs typeface="Helvetica" panose="020B0604020202020204" pitchFamily="34" charset="0"/>
              </a:rPr>
              <a:t>tenure</a:t>
            </a:r>
            <a:r>
              <a:rPr lang="es-MX" sz="1000" dirty="0">
                <a:latin typeface="Helvetica" panose="020B0604020202020204" pitchFamily="34" charset="0"/>
                <a:cs typeface="Helvetica" panose="020B0604020202020204" pitchFamily="34" charset="0"/>
              </a:rPr>
              <a:t>, ralentizando la maduración del equipo comercial. </a:t>
            </a:r>
          </a:p>
        </p:txBody>
      </p:sp>
      <p:graphicFrame>
        <p:nvGraphicFramePr>
          <p:cNvPr id="4" name="Table 39">
            <a:extLst>
              <a:ext uri="{FF2B5EF4-FFF2-40B4-BE49-F238E27FC236}">
                <a16:creationId xmlns:a16="http://schemas.microsoft.com/office/drawing/2014/main" id="{7686F6E6-E613-ED75-F13F-57858763109D}"/>
              </a:ext>
            </a:extLst>
          </p:cNvPr>
          <p:cNvGraphicFramePr>
            <a:graphicFrameLocks noGrp="1"/>
          </p:cNvGraphicFramePr>
          <p:nvPr>
            <p:extLst>
              <p:ext uri="{D42A27DB-BD31-4B8C-83A1-F6EECF244321}">
                <p14:modId xmlns:p14="http://schemas.microsoft.com/office/powerpoint/2010/main" val="252496152"/>
              </p:ext>
            </p:extLst>
          </p:nvPr>
        </p:nvGraphicFramePr>
        <p:xfrm>
          <a:off x="6528618" y="1982488"/>
          <a:ext cx="5041128" cy="980376"/>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gridCol w="651784">
                  <a:extLst>
                    <a:ext uri="{9D8B030D-6E8A-4147-A177-3AD203B41FA5}">
                      <a16:colId xmlns:a16="http://schemas.microsoft.com/office/drawing/2014/main" val="2140089295"/>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 (</a:t>
                      </a:r>
                      <a:r>
                        <a:rPr lang="es-MX" sz="800" b="1" i="0" u="none" strike="noStrike" dirty="0" err="1">
                          <a:solidFill>
                            <a:srgbClr val="004877"/>
                          </a:solidFill>
                          <a:effectLst/>
                          <a:latin typeface="Helvetica" panose="020B0604020202020204" pitchFamily="34" charset="0"/>
                        </a:rPr>
                        <a:t>Est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’26 (</a:t>
                      </a:r>
                      <a:r>
                        <a:rPr lang="es-MX" sz="800" b="1" i="0" u="none" strike="noStrike" dirty="0" err="1">
                          <a:solidFill>
                            <a:srgbClr val="004877"/>
                          </a:solidFill>
                          <a:effectLst/>
                          <a:latin typeface="Helvetica" panose="020B0604020202020204" pitchFamily="34" charset="0"/>
                        </a:rPr>
                        <a:t>Bgt</a:t>
                      </a:r>
                      <a:r>
                        <a:rPr lang="es-MX" sz="800" b="1" i="0" u="none" strike="noStrike" dirty="0">
                          <a:solidFill>
                            <a:srgbClr val="004877"/>
                          </a:solidFill>
                          <a:effectLst/>
                          <a:latin typeface="Helvetica" panose="020B0604020202020204" pitchFamily="34" charset="0"/>
                        </a:rPr>
                        <a:t>)</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vendedores que salieron</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13</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33%</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63%</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-62%</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vendedores &gt; 6 meses</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23</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33</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30</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bl>
          </a:graphicData>
        </a:graphic>
      </p:graphicFrame>
      <p:graphicFrame>
        <p:nvGraphicFramePr>
          <p:cNvPr id="10" name="Gráfico 9">
            <a:extLst>
              <a:ext uri="{FF2B5EF4-FFF2-40B4-BE49-F238E27FC236}">
                <a16:creationId xmlns:a16="http://schemas.microsoft.com/office/drawing/2014/main" id="{7119BB5F-0EF0-A540-02DB-5422AEE56EB3}"/>
              </a:ext>
            </a:extLst>
          </p:cNvPr>
          <p:cNvGraphicFramePr/>
          <p:nvPr>
            <p:extLst>
              <p:ext uri="{D42A27DB-BD31-4B8C-83A1-F6EECF244321}">
                <p14:modId xmlns:p14="http://schemas.microsoft.com/office/powerpoint/2010/main" val="1309960439"/>
              </p:ext>
            </p:extLst>
          </p:nvPr>
        </p:nvGraphicFramePr>
        <p:xfrm>
          <a:off x="445273" y="3876129"/>
          <a:ext cx="4540195" cy="22042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Gráfico 10">
            <a:extLst>
              <a:ext uri="{FF2B5EF4-FFF2-40B4-BE49-F238E27FC236}">
                <a16:creationId xmlns:a16="http://schemas.microsoft.com/office/drawing/2014/main" id="{A95ADF04-5976-6D30-1E89-8BF1FA499CB0}"/>
              </a:ext>
            </a:extLst>
          </p:cNvPr>
          <p:cNvGraphicFramePr/>
          <p:nvPr>
            <p:extLst>
              <p:ext uri="{D42A27DB-BD31-4B8C-83A1-F6EECF244321}">
                <p14:modId xmlns:p14="http://schemas.microsoft.com/office/powerpoint/2010/main" val="205026264"/>
              </p:ext>
            </p:extLst>
          </p:nvPr>
        </p:nvGraphicFramePr>
        <p:xfrm>
          <a:off x="6585005" y="3806608"/>
          <a:ext cx="4540195" cy="2204246"/>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46">
            <a:extLst>
              <a:ext uri="{FF2B5EF4-FFF2-40B4-BE49-F238E27FC236}">
                <a16:creationId xmlns:a16="http://schemas.microsoft.com/office/drawing/2014/main" id="{AB85E8C5-8DFD-D2E3-3C2B-16FD26B0BA3F}"/>
              </a:ext>
            </a:extLst>
          </p:cNvPr>
          <p:cNvSpPr txBox="1"/>
          <p:nvPr/>
        </p:nvSpPr>
        <p:spPr>
          <a:xfrm>
            <a:off x="135480" y="3583573"/>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Iniciativa</a:t>
            </a:r>
          </a:p>
        </p:txBody>
      </p:sp>
      <p:sp>
        <p:nvSpPr>
          <p:cNvPr id="13" name="TextBox 46">
            <a:extLst>
              <a:ext uri="{FF2B5EF4-FFF2-40B4-BE49-F238E27FC236}">
                <a16:creationId xmlns:a16="http://schemas.microsoft.com/office/drawing/2014/main" id="{31B14E9C-2F3C-FC78-E275-43DED07DE711}"/>
              </a:ext>
            </a:extLst>
          </p:cNvPr>
          <p:cNvSpPr txBox="1"/>
          <p:nvPr/>
        </p:nvSpPr>
        <p:spPr>
          <a:xfrm>
            <a:off x="6656869" y="3608760"/>
            <a:ext cx="1089386"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Core</a:t>
            </a:r>
          </a:p>
        </p:txBody>
      </p:sp>
    </p:spTree>
    <p:extLst>
      <p:ext uri="{BB962C8B-B14F-4D97-AF65-F5344CB8AC3E}">
        <p14:creationId xmlns:p14="http://schemas.microsoft.com/office/powerpoint/2010/main" val="4148704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DC188-B993-9FEA-AE43-2257863ABE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ACC411C-E0F9-2B21-B34F-1A74AC805869}"/>
              </a:ext>
            </a:extLst>
          </p:cNvPr>
          <p:cNvSpPr txBox="1">
            <a:spLocks/>
          </p:cNvSpPr>
          <p:nvPr/>
        </p:nvSpPr>
        <p:spPr>
          <a:xfrm>
            <a:off x="269620" y="168484"/>
            <a:ext cx="8249422" cy="333753"/>
          </a:xfrm>
          <a:prstGeom prst="rect">
            <a:avLst/>
          </a:prstGeom>
        </p:spPr>
        <p:txBody>
          <a:bodyPr vert="horz" lIns="82953" tIns="41476" rIns="82953" bIns="41476" rtlCol="0" anchor="t">
            <a:noAutofit/>
          </a:bodyPr>
          <a:lstStyle>
            <a:lvl1pPr algn="l" defTabSz="914400" rtl="0" eaLnBrk="1" latinLnBrk="0" hangingPunct="1">
              <a:lnSpc>
                <a:spcPct val="90000"/>
              </a:lnSpc>
              <a:spcBef>
                <a:spcPct val="0"/>
              </a:spcBef>
              <a:buNone/>
              <a:defRPr sz="1000" b="1" kern="1200">
                <a:solidFill>
                  <a:srgbClr val="004877"/>
                </a:solidFill>
                <a:latin typeface="Verdana" panose="020B0604030504040204" pitchFamily="34" charset="0"/>
                <a:ea typeface="Verdana" panose="020B0604030504040204" pitchFamily="34" charset="0"/>
                <a:cs typeface="Verdana" panose="020B0604030504040204" pitchFamily="34" charset="0"/>
              </a:defRPr>
            </a:lvl1pPr>
          </a:lstStyle>
          <a:p>
            <a:pPr defTabSz="829544">
              <a:defRPr/>
            </a:pPr>
            <a:r>
              <a:rPr lang="en-US" sz="2800" kern="0" dirty="0" err="1">
                <a:solidFill>
                  <a:srgbClr val="EE7600"/>
                </a:solidFill>
                <a:latin typeface="Helvetica" panose="020B0604020202020204" pitchFamily="34" charset="0"/>
                <a:cs typeface="Helvetica" panose="020B0604020202020204" pitchFamily="34" charset="0"/>
              </a:rPr>
              <a:t>Análisis</a:t>
            </a:r>
            <a:r>
              <a:rPr lang="en-US" sz="2800" kern="0" dirty="0">
                <a:solidFill>
                  <a:srgbClr val="EE7600"/>
                </a:solidFill>
                <a:latin typeface="Helvetica" panose="020B0604020202020204" pitchFamily="34" charset="0"/>
                <a:cs typeface="Helvetica" panose="020B0604020202020204" pitchFamily="34" charset="0"/>
              </a:rPr>
              <a:t> de </a:t>
            </a:r>
            <a:r>
              <a:rPr lang="en-US" sz="2800" kern="0" dirty="0" err="1">
                <a:solidFill>
                  <a:srgbClr val="EE7600"/>
                </a:solidFill>
                <a:latin typeface="Helvetica" panose="020B0604020202020204" pitchFamily="34" charset="0"/>
                <a:cs typeface="Helvetica" panose="020B0604020202020204" pitchFamily="34" charset="0"/>
              </a:rPr>
              <a:t>Productividad</a:t>
            </a:r>
            <a:r>
              <a:rPr lang="en-US" sz="2800" kern="0" dirty="0">
                <a:solidFill>
                  <a:srgbClr val="EE7600"/>
                </a:solidFill>
                <a:latin typeface="Helvetica" panose="020B0604020202020204" pitchFamily="34" charset="0"/>
                <a:cs typeface="Helvetica" panose="020B0604020202020204" pitchFamily="34" charset="0"/>
              </a:rPr>
              <a:t> LMM</a:t>
            </a:r>
            <a:endParaRPr lang="en-US" sz="1200" kern="0" dirty="0">
              <a:solidFill>
                <a:srgbClr val="EE7600"/>
              </a:solidFill>
              <a:latin typeface="Helvetica" panose="020B0604020202020204" pitchFamily="34" charset="0"/>
              <a:cs typeface="Helvetica" panose="020B0604020202020204" pitchFamily="34" charset="0"/>
            </a:endParaRPr>
          </a:p>
        </p:txBody>
      </p:sp>
      <p:sp>
        <p:nvSpPr>
          <p:cNvPr id="39" name="TextBox 46">
            <a:extLst>
              <a:ext uri="{FF2B5EF4-FFF2-40B4-BE49-F238E27FC236}">
                <a16:creationId xmlns:a16="http://schemas.microsoft.com/office/drawing/2014/main" id="{1B790B2B-73B9-6BA3-E171-B7440C790EAA}"/>
              </a:ext>
            </a:extLst>
          </p:cNvPr>
          <p:cNvSpPr txBox="1"/>
          <p:nvPr/>
        </p:nvSpPr>
        <p:spPr>
          <a:xfrm>
            <a:off x="142103" y="687860"/>
            <a:ext cx="3189494"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 Citas</a:t>
            </a:r>
          </a:p>
        </p:txBody>
      </p:sp>
      <p:sp>
        <p:nvSpPr>
          <p:cNvPr id="7" name="TextBox 46">
            <a:extLst>
              <a:ext uri="{FF2B5EF4-FFF2-40B4-BE49-F238E27FC236}">
                <a16:creationId xmlns:a16="http://schemas.microsoft.com/office/drawing/2014/main" id="{DEA4955E-8E89-5E33-04BB-AB10AA9EBF31}"/>
              </a:ext>
            </a:extLst>
          </p:cNvPr>
          <p:cNvSpPr txBox="1"/>
          <p:nvPr/>
        </p:nvSpPr>
        <p:spPr>
          <a:xfrm>
            <a:off x="142103" y="1238080"/>
            <a:ext cx="1829571"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Total del citas en LMM</a:t>
            </a:r>
          </a:p>
        </p:txBody>
      </p:sp>
      <p:graphicFrame>
        <p:nvGraphicFramePr>
          <p:cNvPr id="16" name="Table 39">
            <a:extLst>
              <a:ext uri="{FF2B5EF4-FFF2-40B4-BE49-F238E27FC236}">
                <a16:creationId xmlns:a16="http://schemas.microsoft.com/office/drawing/2014/main" id="{CC87C849-5B13-E22C-872B-B35167F2AE8D}"/>
              </a:ext>
            </a:extLst>
          </p:cNvPr>
          <p:cNvGraphicFramePr>
            <a:graphicFrameLocks noGrp="1"/>
          </p:cNvGraphicFramePr>
          <p:nvPr>
            <p:extLst>
              <p:ext uri="{D42A27DB-BD31-4B8C-83A1-F6EECF244321}">
                <p14:modId xmlns:p14="http://schemas.microsoft.com/office/powerpoint/2010/main" val="618149363"/>
              </p:ext>
            </p:extLst>
          </p:nvPr>
        </p:nvGraphicFramePr>
        <p:xfrm>
          <a:off x="269620" y="1483638"/>
          <a:ext cx="4389344" cy="155100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1,222 </a:t>
                      </a:r>
                    </a:p>
                  </a:txBody>
                  <a:tcPr marL="0" marR="0" marT="0" marB="0">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1,962 </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4,371 </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3,915 </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3,380 </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3,276 </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61%</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123%</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-10%</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-14%</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Core</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1,185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1,290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1,164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1,617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1,733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1,306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39%</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-25%</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Total</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2,407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3,252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5,535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5,532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5,113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4,582 </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35%</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70%</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0%</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-8%</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-10%</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22" name="TextBox 46">
            <a:extLst>
              <a:ext uri="{FF2B5EF4-FFF2-40B4-BE49-F238E27FC236}">
                <a16:creationId xmlns:a16="http://schemas.microsoft.com/office/drawing/2014/main" id="{27302B67-DE48-90A5-4CB4-C2268FFD1D13}"/>
              </a:ext>
            </a:extLst>
          </p:cNvPr>
          <p:cNvSpPr txBox="1"/>
          <p:nvPr/>
        </p:nvSpPr>
        <p:spPr>
          <a:xfrm>
            <a:off x="261549" y="979911"/>
            <a:ext cx="4397415" cy="246221"/>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El total de citas en el segmento de LMM ha disminuido de ‘23 a ‘25*</a:t>
            </a:r>
          </a:p>
        </p:txBody>
      </p:sp>
      <p:sp>
        <p:nvSpPr>
          <p:cNvPr id="5" name="TextBox 46">
            <a:extLst>
              <a:ext uri="{FF2B5EF4-FFF2-40B4-BE49-F238E27FC236}">
                <a16:creationId xmlns:a16="http://schemas.microsoft.com/office/drawing/2014/main" id="{804813FE-DE8F-7B0A-F857-A86628FDDE16}"/>
              </a:ext>
            </a:extLst>
          </p:cNvPr>
          <p:cNvSpPr txBox="1"/>
          <p:nvPr/>
        </p:nvSpPr>
        <p:spPr>
          <a:xfrm>
            <a:off x="5819003" y="1405992"/>
            <a:ext cx="192725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Total del citas per </a:t>
            </a:r>
            <a:r>
              <a:rPr lang="es-MX" sz="1000" b="1" dirty="0" err="1">
                <a:latin typeface="Helvetica" panose="020B0604020202020204" pitchFamily="34" charset="0"/>
                <a:cs typeface="Helvetica" panose="020B0604020202020204" pitchFamily="34" charset="0"/>
              </a:rPr>
              <a:t>capita</a:t>
            </a:r>
            <a:r>
              <a:rPr lang="es-MX" sz="1000" b="1" dirty="0">
                <a:latin typeface="Helvetica" panose="020B0604020202020204" pitchFamily="34" charset="0"/>
                <a:cs typeface="Helvetica" panose="020B0604020202020204" pitchFamily="34" charset="0"/>
              </a:rPr>
              <a:t> (**)</a:t>
            </a:r>
          </a:p>
        </p:txBody>
      </p:sp>
      <p:graphicFrame>
        <p:nvGraphicFramePr>
          <p:cNvPr id="8" name="Table 39">
            <a:extLst>
              <a:ext uri="{FF2B5EF4-FFF2-40B4-BE49-F238E27FC236}">
                <a16:creationId xmlns:a16="http://schemas.microsoft.com/office/drawing/2014/main" id="{EFA8E4F1-99A2-0A7A-E52F-4FE102613E42}"/>
              </a:ext>
            </a:extLst>
          </p:cNvPr>
          <p:cNvGraphicFramePr>
            <a:graphicFrameLocks noGrp="1"/>
          </p:cNvGraphicFramePr>
          <p:nvPr>
            <p:extLst>
              <p:ext uri="{D42A27DB-BD31-4B8C-83A1-F6EECF244321}">
                <p14:modId xmlns:p14="http://schemas.microsoft.com/office/powerpoint/2010/main" val="765266686"/>
              </p:ext>
            </p:extLst>
          </p:nvPr>
        </p:nvGraphicFramePr>
        <p:xfrm>
          <a:off x="5832220" y="1589968"/>
          <a:ext cx="4389344" cy="155242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153 </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164 </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175 </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151 </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121 </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149 </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0" marR="0" marT="0" marB="0"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7%</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7%</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-14%</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-20%</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23%</a:t>
                      </a:r>
                    </a:p>
                  </a:txBody>
                  <a:tcPr marL="0" marR="0" marT="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245260">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Core</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47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56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47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51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53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41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18%</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-17%</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9%</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4%</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i="0" u="none" strike="noStrike" kern="1200" dirty="0">
                          <a:solidFill>
                            <a:srgbClr val="004877"/>
                          </a:solidFill>
                          <a:effectLst/>
                          <a:latin typeface="Arial" panose="020B0604020202020204" pitchFamily="34" charset="0"/>
                          <a:ea typeface="+mn-ea"/>
                          <a:cs typeface="+mn-cs"/>
                        </a:rPr>
                        <a:t>-22%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LMM Total</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73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93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111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95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84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85 </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27%</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19%</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-14%</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-12%</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a:t>
                      </a:r>
                    </a:p>
                  </a:txBody>
                  <a:tcPr marL="0" marR="0" marT="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9" name="TextBox 46">
            <a:extLst>
              <a:ext uri="{FF2B5EF4-FFF2-40B4-BE49-F238E27FC236}">
                <a16:creationId xmlns:a16="http://schemas.microsoft.com/office/drawing/2014/main" id="{5DB95CF9-8ACF-3953-1902-837E0CCDD90D}"/>
              </a:ext>
            </a:extLst>
          </p:cNvPr>
          <p:cNvSpPr txBox="1"/>
          <p:nvPr/>
        </p:nvSpPr>
        <p:spPr>
          <a:xfrm>
            <a:off x="5724525" y="979911"/>
            <a:ext cx="6325372" cy="400110"/>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Al analizarlo por originador (per </a:t>
            </a:r>
            <a:r>
              <a:rPr lang="es-MX" sz="1000" dirty="0" err="1">
                <a:latin typeface="Helvetica" panose="020B0604020202020204" pitchFamily="34" charset="0"/>
                <a:cs typeface="Helvetica" panose="020B0604020202020204" pitchFamily="34" charset="0"/>
              </a:rPr>
              <a:t>capita</a:t>
            </a:r>
            <a:r>
              <a:rPr lang="es-MX" sz="1000" dirty="0">
                <a:latin typeface="Helvetica" panose="020B0604020202020204" pitchFamily="34" charset="0"/>
                <a:cs typeface="Helvetica" panose="020B0604020202020204" pitchFamily="34" charset="0"/>
              </a:rPr>
              <a:t>) el equipo de LMM Iniciativa presentó una caía relevante en ‘24, recuperándose a casi el mismo nivel en ‘25. </a:t>
            </a:r>
          </a:p>
        </p:txBody>
      </p:sp>
      <p:sp>
        <p:nvSpPr>
          <p:cNvPr id="15" name="CuadroTexto 14">
            <a:extLst>
              <a:ext uri="{FF2B5EF4-FFF2-40B4-BE49-F238E27FC236}">
                <a16:creationId xmlns:a16="http://schemas.microsoft.com/office/drawing/2014/main" id="{EAF235C4-9BA1-5A47-923B-014F6400C340}"/>
              </a:ext>
            </a:extLst>
          </p:cNvPr>
          <p:cNvSpPr txBox="1"/>
          <p:nvPr/>
        </p:nvSpPr>
        <p:spPr>
          <a:xfrm>
            <a:off x="5724525" y="3138301"/>
            <a:ext cx="6394588" cy="400110"/>
          </a:xfrm>
          <a:prstGeom prst="rect">
            <a:avLst/>
          </a:prstGeom>
          <a:noFill/>
        </p:spPr>
        <p:txBody>
          <a:bodyPr wrap="square">
            <a:spAutoFit/>
          </a:bodyPr>
          <a:lstStyle/>
          <a:p>
            <a:r>
              <a:rPr lang="es-MX" sz="1000" dirty="0">
                <a:solidFill>
                  <a:srgbClr val="004877"/>
                </a:solidFill>
                <a:latin typeface="Helvetica" panose="020B0604020202020204" pitchFamily="34" charset="0"/>
                <a:cs typeface="Helvetica" panose="020B0604020202020204" pitchFamily="34" charset="0"/>
              </a:rPr>
              <a:t>De ‘24 a ‘25 se mantuvo prácticamente el mismo número de citas en LMM  por originador en  a pesar de la incertidumbre por factores externos (aranceles)  vivida durante ‘25 </a:t>
            </a:r>
          </a:p>
        </p:txBody>
      </p:sp>
      <p:sp>
        <p:nvSpPr>
          <p:cNvPr id="17" name="TextBox 46">
            <a:extLst>
              <a:ext uri="{FF2B5EF4-FFF2-40B4-BE49-F238E27FC236}">
                <a16:creationId xmlns:a16="http://schemas.microsoft.com/office/drawing/2014/main" id="{1A0249B7-66D0-585E-9CC8-0F16AEADEAF5}"/>
              </a:ext>
            </a:extLst>
          </p:cNvPr>
          <p:cNvSpPr txBox="1"/>
          <p:nvPr/>
        </p:nvSpPr>
        <p:spPr>
          <a:xfrm>
            <a:off x="170678" y="3500612"/>
            <a:ext cx="3189494"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 Generación de Oportunidades</a:t>
            </a:r>
          </a:p>
        </p:txBody>
      </p:sp>
      <p:sp>
        <p:nvSpPr>
          <p:cNvPr id="18" name="TextBox 46">
            <a:extLst>
              <a:ext uri="{FF2B5EF4-FFF2-40B4-BE49-F238E27FC236}">
                <a16:creationId xmlns:a16="http://schemas.microsoft.com/office/drawing/2014/main" id="{74534DBD-9087-F9E3-3D73-33A95B53DB35}"/>
              </a:ext>
            </a:extLst>
          </p:cNvPr>
          <p:cNvSpPr txBox="1"/>
          <p:nvPr/>
        </p:nvSpPr>
        <p:spPr>
          <a:xfrm>
            <a:off x="170678" y="4243101"/>
            <a:ext cx="280112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Generación de </a:t>
            </a:r>
            <a:r>
              <a:rPr lang="es-MX" sz="1000" b="1" dirty="0" err="1">
                <a:latin typeface="Helvetica" panose="020B0604020202020204" pitchFamily="34" charset="0"/>
                <a:cs typeface="Helvetica" panose="020B0604020202020204" pitchFamily="34" charset="0"/>
              </a:rPr>
              <a:t>Ops</a:t>
            </a:r>
            <a:r>
              <a:rPr lang="es-MX" sz="1000" b="1" dirty="0">
                <a:latin typeface="Helvetica" panose="020B0604020202020204" pitchFamily="34" charset="0"/>
                <a:cs typeface="Helvetica" panose="020B0604020202020204" pitchFamily="34" charset="0"/>
              </a:rPr>
              <a:t> LMM  ($MM)</a:t>
            </a:r>
          </a:p>
        </p:txBody>
      </p:sp>
      <p:graphicFrame>
        <p:nvGraphicFramePr>
          <p:cNvPr id="19" name="Table 39">
            <a:extLst>
              <a:ext uri="{FF2B5EF4-FFF2-40B4-BE49-F238E27FC236}">
                <a16:creationId xmlns:a16="http://schemas.microsoft.com/office/drawing/2014/main" id="{F5391A40-7E80-37E3-2F9A-5F706FB90F8B}"/>
              </a:ext>
            </a:extLst>
          </p:cNvPr>
          <p:cNvGraphicFramePr>
            <a:graphicFrameLocks noGrp="1"/>
          </p:cNvGraphicFramePr>
          <p:nvPr>
            <p:extLst>
              <p:ext uri="{D42A27DB-BD31-4B8C-83A1-F6EECF244321}">
                <p14:modId xmlns:p14="http://schemas.microsoft.com/office/powerpoint/2010/main" val="2498964095"/>
              </p:ext>
            </p:extLst>
          </p:nvPr>
        </p:nvGraphicFramePr>
        <p:xfrm>
          <a:off x="298195" y="4490433"/>
          <a:ext cx="4389344" cy="157005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2,394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4,922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10,328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8,935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7,761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7,230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106%</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110%</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-13%</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-13%</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Core</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6,108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5,536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5,332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5,228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5,535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6,069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Total</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8,501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                  10,458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                  15,660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                  14,163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13,296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13,299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23%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50%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-10%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a:solidFill>
                            <a:srgbClr val="004877"/>
                          </a:solidFill>
                          <a:latin typeface="Helvetica" panose="020B0604020202020204" pitchFamily="34" charset="0"/>
                          <a:ea typeface="Verdana" panose="020B0604030504040204" pitchFamily="34" charset="0"/>
                          <a:cs typeface="Helvetica" panose="020B0604020202020204" pitchFamily="34" charset="0"/>
                        </a:rPr>
                        <a:t>-6%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20" name="TextBox 46">
            <a:extLst>
              <a:ext uri="{FF2B5EF4-FFF2-40B4-BE49-F238E27FC236}">
                <a16:creationId xmlns:a16="http://schemas.microsoft.com/office/drawing/2014/main" id="{4F901DD6-969E-4212-60CC-98C229B45AE8}"/>
              </a:ext>
            </a:extLst>
          </p:cNvPr>
          <p:cNvSpPr txBox="1"/>
          <p:nvPr/>
        </p:nvSpPr>
        <p:spPr>
          <a:xfrm>
            <a:off x="170678" y="3739498"/>
            <a:ext cx="5144272" cy="553998"/>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La generación de oportunidades en monto alcanzó su pico en ‘22, con $15,660 MM, teniendo una baja en ‘23 y ‘24 (MEDDICC empezó  desde 2H de ‘23). ‘25 muestra el mismo número de pipeline generado que ‘24 destacando el crecimiento de LMM Core</a:t>
            </a:r>
          </a:p>
        </p:txBody>
      </p:sp>
      <p:sp>
        <p:nvSpPr>
          <p:cNvPr id="21" name="TextBox 46">
            <a:extLst>
              <a:ext uri="{FF2B5EF4-FFF2-40B4-BE49-F238E27FC236}">
                <a16:creationId xmlns:a16="http://schemas.microsoft.com/office/drawing/2014/main" id="{49895623-DBA4-59C8-B8C8-FB3E1A04710F}"/>
              </a:ext>
            </a:extLst>
          </p:cNvPr>
          <p:cNvSpPr txBox="1"/>
          <p:nvPr/>
        </p:nvSpPr>
        <p:spPr>
          <a:xfrm>
            <a:off x="5847578" y="4234701"/>
            <a:ext cx="192725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Generación de </a:t>
            </a:r>
            <a:r>
              <a:rPr lang="es-MX" sz="1000" b="1" dirty="0" err="1">
                <a:latin typeface="Helvetica" panose="020B0604020202020204" pitchFamily="34" charset="0"/>
                <a:cs typeface="Helvetica" panose="020B0604020202020204" pitchFamily="34" charset="0"/>
              </a:rPr>
              <a:t>Ops</a:t>
            </a:r>
            <a:r>
              <a:rPr lang="es-MX" sz="1000" b="1" dirty="0">
                <a:latin typeface="Helvetica" panose="020B0604020202020204" pitchFamily="34" charset="0"/>
                <a:cs typeface="Helvetica" panose="020B0604020202020204" pitchFamily="34" charset="0"/>
              </a:rPr>
              <a:t> (#)</a:t>
            </a:r>
          </a:p>
        </p:txBody>
      </p:sp>
      <p:graphicFrame>
        <p:nvGraphicFramePr>
          <p:cNvPr id="23" name="Table 39">
            <a:extLst>
              <a:ext uri="{FF2B5EF4-FFF2-40B4-BE49-F238E27FC236}">
                <a16:creationId xmlns:a16="http://schemas.microsoft.com/office/drawing/2014/main" id="{AEE17307-810D-5F44-5EEC-0073409DDAF1}"/>
              </a:ext>
            </a:extLst>
          </p:cNvPr>
          <p:cNvGraphicFramePr>
            <a:graphicFrameLocks noGrp="1"/>
          </p:cNvGraphicFramePr>
          <p:nvPr>
            <p:extLst>
              <p:ext uri="{D42A27DB-BD31-4B8C-83A1-F6EECF244321}">
                <p14:modId xmlns:p14="http://schemas.microsoft.com/office/powerpoint/2010/main" val="1677371793"/>
              </p:ext>
            </p:extLst>
          </p:nvPr>
        </p:nvGraphicFramePr>
        <p:xfrm>
          <a:off x="5860795" y="4495538"/>
          <a:ext cx="4389344" cy="157005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265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658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1,405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1,309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980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808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dirty="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148%</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114%</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-7%</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-25%</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-18%</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245260">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Core</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352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364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482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389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373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318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dirty="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LMM Total</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617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1,022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1,887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1,698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1,353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1,126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dirty="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66%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85%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-17%</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24" name="TextBox 46">
            <a:extLst>
              <a:ext uri="{FF2B5EF4-FFF2-40B4-BE49-F238E27FC236}">
                <a16:creationId xmlns:a16="http://schemas.microsoft.com/office/drawing/2014/main" id="{AF534553-787D-6490-25B6-4CDCE5F83836}"/>
              </a:ext>
            </a:extLst>
          </p:cNvPr>
          <p:cNvSpPr txBox="1"/>
          <p:nvPr/>
        </p:nvSpPr>
        <p:spPr>
          <a:xfrm>
            <a:off x="5753100" y="3856461"/>
            <a:ext cx="6325372" cy="400110"/>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En número de oportunidades se alcanzó el pico en ‘22, teniendo una caída en ‘23, ‘24 y ‘25, tanto en las oportunidades identificadas por el equipo de Iniciativa y el equipo Core.</a:t>
            </a:r>
          </a:p>
        </p:txBody>
      </p:sp>
      <p:sp>
        <p:nvSpPr>
          <p:cNvPr id="26" name="TextBox 46">
            <a:extLst>
              <a:ext uri="{FF2B5EF4-FFF2-40B4-BE49-F238E27FC236}">
                <a16:creationId xmlns:a16="http://schemas.microsoft.com/office/drawing/2014/main" id="{231E4EC0-A510-3536-A7F0-F829582FE538}"/>
              </a:ext>
            </a:extLst>
          </p:cNvPr>
          <p:cNvSpPr txBox="1"/>
          <p:nvPr/>
        </p:nvSpPr>
        <p:spPr>
          <a:xfrm>
            <a:off x="94607" y="6440960"/>
            <a:ext cx="5415859" cy="553998"/>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solidFill>
                  <a:schemeClr val="bg1"/>
                </a:solidFill>
                <a:latin typeface="Helvetica" panose="020B0604020202020204" pitchFamily="34" charset="0"/>
                <a:cs typeface="Helvetica" panose="020B0604020202020204" pitchFamily="34" charset="0"/>
              </a:rPr>
              <a:t>(*) Citas y oportunidades al 19 de Dic de 2025</a:t>
            </a:r>
          </a:p>
          <a:p>
            <a:pPr algn="just" defTabSz="829544">
              <a:defRPr/>
            </a:pPr>
            <a:r>
              <a:rPr lang="es-MX" sz="1000" dirty="0">
                <a:solidFill>
                  <a:schemeClr val="bg1"/>
                </a:solidFill>
                <a:latin typeface="Helvetica" panose="020B0604020202020204" pitchFamily="34" charset="0"/>
                <a:cs typeface="Helvetica" panose="020B0604020202020204" pitchFamily="34" charset="0"/>
              </a:rPr>
              <a:t>(**) Originadores que estuvieron al menos 6 meses por año</a:t>
            </a:r>
          </a:p>
          <a:p>
            <a:pPr marL="171450" indent="-171450" algn="just" defTabSz="829544">
              <a:buFont typeface="Arial" panose="020B0604020202020204" pitchFamily="34" charset="0"/>
              <a:buChar char="•"/>
              <a:defRPr/>
            </a:pPr>
            <a:endParaRPr lang="es-MX" sz="1000" dirty="0">
              <a:solidFill>
                <a:schemeClr val="bg1"/>
              </a:solidFill>
              <a:latin typeface="Helvetica" panose="020B0604020202020204" pitchFamily="34" charset="0"/>
              <a:cs typeface="Helvetica" panose="020B0604020202020204" pitchFamily="34" charset="0"/>
            </a:endParaRPr>
          </a:p>
        </p:txBody>
      </p:sp>
      <p:graphicFrame>
        <p:nvGraphicFramePr>
          <p:cNvPr id="2" name="Tabla 1">
            <a:extLst>
              <a:ext uri="{FF2B5EF4-FFF2-40B4-BE49-F238E27FC236}">
                <a16:creationId xmlns:a16="http://schemas.microsoft.com/office/drawing/2014/main" id="{9B9A310A-304D-AFE8-9A92-4982DE6D5F21}"/>
              </a:ext>
            </a:extLst>
          </p:cNvPr>
          <p:cNvGraphicFramePr>
            <a:graphicFrameLocks noGrp="1"/>
          </p:cNvGraphicFramePr>
          <p:nvPr>
            <p:extLst>
              <p:ext uri="{D42A27DB-BD31-4B8C-83A1-F6EECF244321}">
                <p14:modId xmlns:p14="http://schemas.microsoft.com/office/powerpoint/2010/main" val="2302098226"/>
              </p:ext>
            </p:extLst>
          </p:nvPr>
        </p:nvGraphicFramePr>
        <p:xfrm>
          <a:off x="261549" y="3128785"/>
          <a:ext cx="4389344" cy="204872"/>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2173785551"/>
                    </a:ext>
                  </a:extLst>
                </a:gridCol>
                <a:gridCol w="506147">
                  <a:extLst>
                    <a:ext uri="{9D8B030D-6E8A-4147-A177-3AD203B41FA5}">
                      <a16:colId xmlns:a16="http://schemas.microsoft.com/office/drawing/2014/main" val="1772441902"/>
                    </a:ext>
                  </a:extLst>
                </a:gridCol>
                <a:gridCol w="506147">
                  <a:extLst>
                    <a:ext uri="{9D8B030D-6E8A-4147-A177-3AD203B41FA5}">
                      <a16:colId xmlns:a16="http://schemas.microsoft.com/office/drawing/2014/main" val="1844287797"/>
                    </a:ext>
                  </a:extLst>
                </a:gridCol>
                <a:gridCol w="506147">
                  <a:extLst>
                    <a:ext uri="{9D8B030D-6E8A-4147-A177-3AD203B41FA5}">
                      <a16:colId xmlns:a16="http://schemas.microsoft.com/office/drawing/2014/main" val="1897064021"/>
                    </a:ext>
                  </a:extLst>
                </a:gridCol>
                <a:gridCol w="506147">
                  <a:extLst>
                    <a:ext uri="{9D8B030D-6E8A-4147-A177-3AD203B41FA5}">
                      <a16:colId xmlns:a16="http://schemas.microsoft.com/office/drawing/2014/main" val="3993529428"/>
                    </a:ext>
                  </a:extLst>
                </a:gridCol>
                <a:gridCol w="651784">
                  <a:extLst>
                    <a:ext uri="{9D8B030D-6E8A-4147-A177-3AD203B41FA5}">
                      <a16:colId xmlns:a16="http://schemas.microsoft.com/office/drawing/2014/main" val="2744340257"/>
                    </a:ext>
                  </a:extLst>
                </a:gridCol>
                <a:gridCol w="651784">
                  <a:extLst>
                    <a:ext uri="{9D8B030D-6E8A-4147-A177-3AD203B41FA5}">
                      <a16:colId xmlns:a16="http://schemas.microsoft.com/office/drawing/2014/main" val="3551481845"/>
                    </a:ext>
                  </a:extLst>
                </a:gridCol>
              </a:tblGrid>
              <a:tr h="121123">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Digital</a:t>
                      </a:r>
                    </a:p>
                  </a:txBody>
                  <a:tcPr marL="82953" marR="82953" marT="41476" marB="41476"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endPar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5</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706</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590</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255</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215</a:t>
                      </a: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167882"/>
                  </a:ext>
                </a:extLst>
              </a:tr>
            </a:tbl>
          </a:graphicData>
        </a:graphic>
      </p:graphicFrame>
      <p:graphicFrame>
        <p:nvGraphicFramePr>
          <p:cNvPr id="3" name="Tabla 2">
            <a:extLst>
              <a:ext uri="{FF2B5EF4-FFF2-40B4-BE49-F238E27FC236}">
                <a16:creationId xmlns:a16="http://schemas.microsoft.com/office/drawing/2014/main" id="{08A4F7A6-6825-9578-53E6-B7A95341B3DF}"/>
              </a:ext>
            </a:extLst>
          </p:cNvPr>
          <p:cNvGraphicFramePr>
            <a:graphicFrameLocks noGrp="1"/>
          </p:cNvGraphicFramePr>
          <p:nvPr>
            <p:extLst>
              <p:ext uri="{D42A27DB-BD31-4B8C-83A1-F6EECF244321}">
                <p14:modId xmlns:p14="http://schemas.microsoft.com/office/powerpoint/2010/main" val="2377985335"/>
              </p:ext>
            </p:extLst>
          </p:nvPr>
        </p:nvGraphicFramePr>
        <p:xfrm>
          <a:off x="328885" y="6162616"/>
          <a:ext cx="4389344" cy="204872"/>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2173785551"/>
                    </a:ext>
                  </a:extLst>
                </a:gridCol>
                <a:gridCol w="506147">
                  <a:extLst>
                    <a:ext uri="{9D8B030D-6E8A-4147-A177-3AD203B41FA5}">
                      <a16:colId xmlns:a16="http://schemas.microsoft.com/office/drawing/2014/main" val="1772441902"/>
                    </a:ext>
                  </a:extLst>
                </a:gridCol>
                <a:gridCol w="506147">
                  <a:extLst>
                    <a:ext uri="{9D8B030D-6E8A-4147-A177-3AD203B41FA5}">
                      <a16:colId xmlns:a16="http://schemas.microsoft.com/office/drawing/2014/main" val="1844287797"/>
                    </a:ext>
                  </a:extLst>
                </a:gridCol>
                <a:gridCol w="506147">
                  <a:extLst>
                    <a:ext uri="{9D8B030D-6E8A-4147-A177-3AD203B41FA5}">
                      <a16:colId xmlns:a16="http://schemas.microsoft.com/office/drawing/2014/main" val="1897064021"/>
                    </a:ext>
                  </a:extLst>
                </a:gridCol>
                <a:gridCol w="506147">
                  <a:extLst>
                    <a:ext uri="{9D8B030D-6E8A-4147-A177-3AD203B41FA5}">
                      <a16:colId xmlns:a16="http://schemas.microsoft.com/office/drawing/2014/main" val="3993529428"/>
                    </a:ext>
                  </a:extLst>
                </a:gridCol>
                <a:gridCol w="651784">
                  <a:extLst>
                    <a:ext uri="{9D8B030D-6E8A-4147-A177-3AD203B41FA5}">
                      <a16:colId xmlns:a16="http://schemas.microsoft.com/office/drawing/2014/main" val="2744340257"/>
                    </a:ext>
                  </a:extLst>
                </a:gridCol>
                <a:gridCol w="651784">
                  <a:extLst>
                    <a:ext uri="{9D8B030D-6E8A-4147-A177-3AD203B41FA5}">
                      <a16:colId xmlns:a16="http://schemas.microsoft.com/office/drawing/2014/main" val="3551481845"/>
                    </a:ext>
                  </a:extLst>
                </a:gridCol>
              </a:tblGrid>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Digital</a:t>
                      </a:r>
                    </a:p>
                  </a:txBody>
                  <a:tcPr marL="82953" marR="82953" marT="41476" marB="41476"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34</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820</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552</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197</a:t>
                      </a: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164</a:t>
                      </a: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167882"/>
                  </a:ext>
                </a:extLst>
              </a:tr>
            </a:tbl>
          </a:graphicData>
        </a:graphic>
      </p:graphicFrame>
      <p:graphicFrame>
        <p:nvGraphicFramePr>
          <p:cNvPr id="4" name="Tabla 3">
            <a:extLst>
              <a:ext uri="{FF2B5EF4-FFF2-40B4-BE49-F238E27FC236}">
                <a16:creationId xmlns:a16="http://schemas.microsoft.com/office/drawing/2014/main" id="{68283C06-97FB-54D3-D10A-062A4B0195A1}"/>
              </a:ext>
            </a:extLst>
          </p:cNvPr>
          <p:cNvGraphicFramePr>
            <a:graphicFrameLocks noGrp="1"/>
          </p:cNvGraphicFramePr>
          <p:nvPr>
            <p:extLst>
              <p:ext uri="{D42A27DB-BD31-4B8C-83A1-F6EECF244321}">
                <p14:modId xmlns:p14="http://schemas.microsoft.com/office/powerpoint/2010/main" val="1204977148"/>
              </p:ext>
            </p:extLst>
          </p:nvPr>
        </p:nvGraphicFramePr>
        <p:xfrm>
          <a:off x="5821323" y="6142450"/>
          <a:ext cx="4389344" cy="179952"/>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14198295"/>
                    </a:ext>
                  </a:extLst>
                </a:gridCol>
                <a:gridCol w="506147">
                  <a:extLst>
                    <a:ext uri="{9D8B030D-6E8A-4147-A177-3AD203B41FA5}">
                      <a16:colId xmlns:a16="http://schemas.microsoft.com/office/drawing/2014/main" val="1076981057"/>
                    </a:ext>
                  </a:extLst>
                </a:gridCol>
                <a:gridCol w="506147">
                  <a:extLst>
                    <a:ext uri="{9D8B030D-6E8A-4147-A177-3AD203B41FA5}">
                      <a16:colId xmlns:a16="http://schemas.microsoft.com/office/drawing/2014/main" val="3382611929"/>
                    </a:ext>
                  </a:extLst>
                </a:gridCol>
                <a:gridCol w="506147">
                  <a:extLst>
                    <a:ext uri="{9D8B030D-6E8A-4147-A177-3AD203B41FA5}">
                      <a16:colId xmlns:a16="http://schemas.microsoft.com/office/drawing/2014/main" val="479334411"/>
                    </a:ext>
                  </a:extLst>
                </a:gridCol>
                <a:gridCol w="506147">
                  <a:extLst>
                    <a:ext uri="{9D8B030D-6E8A-4147-A177-3AD203B41FA5}">
                      <a16:colId xmlns:a16="http://schemas.microsoft.com/office/drawing/2014/main" val="4288431462"/>
                    </a:ext>
                  </a:extLst>
                </a:gridCol>
                <a:gridCol w="651784">
                  <a:extLst>
                    <a:ext uri="{9D8B030D-6E8A-4147-A177-3AD203B41FA5}">
                      <a16:colId xmlns:a16="http://schemas.microsoft.com/office/drawing/2014/main" val="14139485"/>
                    </a:ext>
                  </a:extLst>
                </a:gridCol>
                <a:gridCol w="651784">
                  <a:extLst>
                    <a:ext uri="{9D8B030D-6E8A-4147-A177-3AD203B41FA5}">
                      <a16:colId xmlns:a16="http://schemas.microsoft.com/office/drawing/2014/main" val="1465673641"/>
                    </a:ext>
                  </a:extLst>
                </a:gridCol>
              </a:tblGrid>
              <a:tr h="179952">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Digital</a:t>
                      </a:r>
                    </a:p>
                  </a:txBody>
                  <a:tcPr marL="0" marR="0" marT="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323</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215</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76</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69</a:t>
                      </a:r>
                    </a:p>
                  </a:txBody>
                  <a:tcPr marL="6350" marR="6350" marT="635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3636578"/>
                  </a:ext>
                </a:extLst>
              </a:tr>
            </a:tbl>
          </a:graphicData>
        </a:graphic>
      </p:graphicFrame>
    </p:spTree>
    <p:extLst>
      <p:ext uri="{BB962C8B-B14F-4D97-AF65-F5344CB8AC3E}">
        <p14:creationId xmlns:p14="http://schemas.microsoft.com/office/powerpoint/2010/main" val="470258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2DE67-3C39-F610-4FC9-DFF858B66DC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8D10AFA-D945-4EAE-9285-7C5BB19FBA15}"/>
              </a:ext>
            </a:extLst>
          </p:cNvPr>
          <p:cNvSpPr txBox="1">
            <a:spLocks/>
          </p:cNvSpPr>
          <p:nvPr/>
        </p:nvSpPr>
        <p:spPr>
          <a:xfrm>
            <a:off x="269620" y="168484"/>
            <a:ext cx="8249422" cy="333753"/>
          </a:xfrm>
          <a:prstGeom prst="rect">
            <a:avLst/>
          </a:prstGeom>
        </p:spPr>
        <p:txBody>
          <a:bodyPr vert="horz" lIns="82953" tIns="41476" rIns="82953" bIns="41476" rtlCol="0" anchor="t">
            <a:noAutofit/>
          </a:bodyPr>
          <a:lstStyle>
            <a:lvl1pPr algn="l" defTabSz="914400" rtl="0" eaLnBrk="1" latinLnBrk="0" hangingPunct="1">
              <a:lnSpc>
                <a:spcPct val="90000"/>
              </a:lnSpc>
              <a:spcBef>
                <a:spcPct val="0"/>
              </a:spcBef>
              <a:buNone/>
              <a:defRPr sz="1000" b="1" kern="1200">
                <a:solidFill>
                  <a:srgbClr val="004877"/>
                </a:solidFill>
                <a:latin typeface="Verdana" panose="020B0604030504040204" pitchFamily="34" charset="0"/>
                <a:ea typeface="Verdana" panose="020B0604030504040204" pitchFamily="34" charset="0"/>
                <a:cs typeface="Verdana" panose="020B0604030504040204" pitchFamily="34" charset="0"/>
              </a:defRPr>
            </a:lvl1pPr>
          </a:lstStyle>
          <a:p>
            <a:pPr defTabSz="829544">
              <a:defRPr/>
            </a:pPr>
            <a:r>
              <a:rPr lang="en-US" sz="2800" kern="0" dirty="0" err="1">
                <a:solidFill>
                  <a:srgbClr val="EE7600"/>
                </a:solidFill>
                <a:latin typeface="Helvetica" panose="020B0604020202020204" pitchFamily="34" charset="0"/>
                <a:cs typeface="Helvetica" panose="020B0604020202020204" pitchFamily="34" charset="0"/>
              </a:rPr>
              <a:t>Análisis</a:t>
            </a:r>
            <a:r>
              <a:rPr lang="en-US" sz="2800" kern="0" dirty="0">
                <a:solidFill>
                  <a:srgbClr val="EE7600"/>
                </a:solidFill>
                <a:latin typeface="Helvetica" panose="020B0604020202020204" pitchFamily="34" charset="0"/>
                <a:cs typeface="Helvetica" panose="020B0604020202020204" pitchFamily="34" charset="0"/>
              </a:rPr>
              <a:t> de </a:t>
            </a:r>
            <a:r>
              <a:rPr lang="en-US" sz="2800" kern="0" dirty="0" err="1">
                <a:solidFill>
                  <a:srgbClr val="EE7600"/>
                </a:solidFill>
                <a:latin typeface="Helvetica" panose="020B0604020202020204" pitchFamily="34" charset="0"/>
                <a:cs typeface="Helvetica" panose="020B0604020202020204" pitchFamily="34" charset="0"/>
              </a:rPr>
              <a:t>Productividad</a:t>
            </a:r>
            <a:r>
              <a:rPr lang="en-US" sz="2800" kern="0" dirty="0">
                <a:solidFill>
                  <a:srgbClr val="EE7600"/>
                </a:solidFill>
                <a:latin typeface="Helvetica" panose="020B0604020202020204" pitchFamily="34" charset="0"/>
                <a:cs typeface="Helvetica" panose="020B0604020202020204" pitchFamily="34" charset="0"/>
              </a:rPr>
              <a:t> LMM</a:t>
            </a:r>
            <a:endParaRPr lang="en-US" sz="1200" kern="0" dirty="0">
              <a:solidFill>
                <a:srgbClr val="EE7600"/>
              </a:solidFill>
              <a:latin typeface="Helvetica" panose="020B0604020202020204" pitchFamily="34" charset="0"/>
              <a:cs typeface="Helvetica" panose="020B0604020202020204" pitchFamily="34" charset="0"/>
            </a:endParaRPr>
          </a:p>
        </p:txBody>
      </p:sp>
      <p:sp>
        <p:nvSpPr>
          <p:cNvPr id="17" name="TextBox 46">
            <a:extLst>
              <a:ext uri="{FF2B5EF4-FFF2-40B4-BE49-F238E27FC236}">
                <a16:creationId xmlns:a16="http://schemas.microsoft.com/office/drawing/2014/main" id="{E679C2BD-F0A7-6896-B0EC-3E825FD98471}"/>
              </a:ext>
            </a:extLst>
          </p:cNvPr>
          <p:cNvSpPr txBox="1"/>
          <p:nvPr/>
        </p:nvSpPr>
        <p:spPr>
          <a:xfrm>
            <a:off x="170678" y="725960"/>
            <a:ext cx="2686822"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 Generación de Oportunidades per </a:t>
            </a:r>
            <a:r>
              <a:rPr lang="es-MX" sz="1000" b="1" dirty="0" err="1">
                <a:solidFill>
                  <a:schemeClr val="bg1"/>
                </a:solidFill>
                <a:latin typeface="Helvetica" panose="020B0604020202020204" pitchFamily="34" charset="0"/>
                <a:cs typeface="Helvetica" panose="020B0604020202020204" pitchFamily="34" charset="0"/>
              </a:rPr>
              <a:t>Capita</a:t>
            </a:r>
            <a:endParaRPr lang="es-MX" sz="1000" b="1" dirty="0">
              <a:solidFill>
                <a:schemeClr val="bg1"/>
              </a:solidFill>
              <a:latin typeface="Helvetica" panose="020B0604020202020204" pitchFamily="34" charset="0"/>
              <a:cs typeface="Helvetica" panose="020B0604020202020204" pitchFamily="34" charset="0"/>
            </a:endParaRPr>
          </a:p>
        </p:txBody>
      </p:sp>
      <p:sp>
        <p:nvSpPr>
          <p:cNvPr id="18" name="TextBox 46">
            <a:extLst>
              <a:ext uri="{FF2B5EF4-FFF2-40B4-BE49-F238E27FC236}">
                <a16:creationId xmlns:a16="http://schemas.microsoft.com/office/drawing/2014/main" id="{7BACF0EC-A636-4DB3-14AC-A7DA82C7E24A}"/>
              </a:ext>
            </a:extLst>
          </p:cNvPr>
          <p:cNvSpPr txBox="1"/>
          <p:nvPr/>
        </p:nvSpPr>
        <p:spPr>
          <a:xfrm>
            <a:off x="170678" y="3291942"/>
            <a:ext cx="280112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Generación de </a:t>
            </a:r>
            <a:r>
              <a:rPr lang="es-MX" sz="1000" b="1" dirty="0" err="1">
                <a:latin typeface="Helvetica" panose="020B0604020202020204" pitchFamily="34" charset="0"/>
                <a:cs typeface="Helvetica" panose="020B0604020202020204" pitchFamily="34" charset="0"/>
              </a:rPr>
              <a:t>Ops</a:t>
            </a:r>
            <a:r>
              <a:rPr lang="es-MX" sz="1000" b="1" dirty="0">
                <a:latin typeface="Helvetica" panose="020B0604020202020204" pitchFamily="34" charset="0"/>
                <a:cs typeface="Helvetica" panose="020B0604020202020204" pitchFamily="34" charset="0"/>
              </a:rPr>
              <a:t> LMM  (#) per </a:t>
            </a:r>
            <a:r>
              <a:rPr lang="es-MX" sz="1000" b="1" dirty="0" err="1">
                <a:latin typeface="Helvetica" panose="020B0604020202020204" pitchFamily="34" charset="0"/>
                <a:cs typeface="Helvetica" panose="020B0604020202020204" pitchFamily="34" charset="0"/>
              </a:rPr>
              <a:t>capita</a:t>
            </a:r>
            <a:endParaRPr lang="es-MX" sz="1000" b="1" dirty="0">
              <a:latin typeface="Helvetica" panose="020B0604020202020204" pitchFamily="34" charset="0"/>
              <a:cs typeface="Helvetica" panose="020B0604020202020204" pitchFamily="34" charset="0"/>
            </a:endParaRPr>
          </a:p>
        </p:txBody>
      </p:sp>
      <p:graphicFrame>
        <p:nvGraphicFramePr>
          <p:cNvPr id="19" name="Table 39">
            <a:extLst>
              <a:ext uri="{FF2B5EF4-FFF2-40B4-BE49-F238E27FC236}">
                <a16:creationId xmlns:a16="http://schemas.microsoft.com/office/drawing/2014/main" id="{674044B8-7837-3A00-6726-1C310C897F28}"/>
              </a:ext>
            </a:extLst>
          </p:cNvPr>
          <p:cNvGraphicFramePr>
            <a:graphicFrameLocks noGrp="1"/>
          </p:cNvGraphicFramePr>
          <p:nvPr>
            <p:extLst>
              <p:ext uri="{D42A27DB-BD31-4B8C-83A1-F6EECF244321}">
                <p14:modId xmlns:p14="http://schemas.microsoft.com/office/powerpoint/2010/main" val="1585401053"/>
              </p:ext>
            </p:extLst>
          </p:nvPr>
        </p:nvGraphicFramePr>
        <p:xfrm>
          <a:off x="298195" y="3494968"/>
          <a:ext cx="4389344" cy="1384264"/>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33</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55</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56</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50</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35</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37</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66%</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-30%</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Core</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-37%</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Total</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38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56%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20" name="TextBox 46">
            <a:extLst>
              <a:ext uri="{FF2B5EF4-FFF2-40B4-BE49-F238E27FC236}">
                <a16:creationId xmlns:a16="http://schemas.microsoft.com/office/drawing/2014/main" id="{4CCDF3A9-AE58-1686-54CF-89092B2E61D9}"/>
              </a:ext>
            </a:extLst>
          </p:cNvPr>
          <p:cNvSpPr txBox="1"/>
          <p:nvPr/>
        </p:nvSpPr>
        <p:spPr>
          <a:xfrm>
            <a:off x="290124" y="1018011"/>
            <a:ext cx="5024826" cy="1938992"/>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Adicional al efecto de MEDDICC, la disminución en número de oportunidades total no solo se explica por un aumento de rotación y disminución de </a:t>
            </a:r>
            <a:r>
              <a:rPr lang="es-MX" sz="1000" dirty="0" err="1">
                <a:latin typeface="Helvetica" panose="020B0604020202020204" pitchFamily="34" charset="0"/>
                <a:cs typeface="Helvetica" panose="020B0604020202020204" pitchFamily="34" charset="0"/>
              </a:rPr>
              <a:t>Headcount</a:t>
            </a:r>
            <a:r>
              <a:rPr lang="es-MX" sz="1000" dirty="0">
                <a:latin typeface="Helvetica" panose="020B0604020202020204" pitchFamily="34" charset="0"/>
                <a:cs typeface="Helvetica" panose="020B0604020202020204" pitchFamily="34" charset="0"/>
              </a:rPr>
              <a:t>. </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De 38 oportunidades identificadas por persona en ‘22, se ha caído a 22 en ‘24 y 21 en ‘25.</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En LMM Iniciativa se tuvo un 23% más de citas por persona entre ‘24 y ’25 pero solo se logró 5% más de oportunidades identificadas, reflejando la dificultad en el entorno económico de ‘25</a:t>
            </a:r>
          </a:p>
          <a:p>
            <a:pPr algn="just" defTabSz="829544">
              <a:defRPr/>
            </a:pPr>
            <a:endParaRPr lang="es-MX" sz="1000" dirty="0">
              <a:latin typeface="Helvetica" panose="020B0604020202020204" pitchFamily="34" charset="0"/>
              <a:cs typeface="Helvetica" panose="020B0604020202020204" pitchFamily="34" charset="0"/>
            </a:endParaRPr>
          </a:p>
          <a:p>
            <a:pPr algn="just" defTabSz="829544">
              <a:defRPr/>
            </a:pPr>
            <a:r>
              <a:rPr lang="es-MX" sz="1000" dirty="0">
                <a:latin typeface="Helvetica" panose="020B0604020202020204" pitchFamily="34" charset="0"/>
                <a:cs typeface="Helvetica" panose="020B0604020202020204" pitchFamily="34" charset="0"/>
              </a:rPr>
              <a:t>El equipo de Core en el segmento de LMM presentó tanto baja en citas per </a:t>
            </a:r>
            <a:r>
              <a:rPr lang="es-MX" sz="1000" dirty="0" err="1">
                <a:latin typeface="Helvetica" panose="020B0604020202020204" pitchFamily="34" charset="0"/>
                <a:cs typeface="Helvetica" panose="020B0604020202020204" pitchFamily="34" charset="0"/>
              </a:rPr>
              <a:t>capita</a:t>
            </a:r>
            <a:r>
              <a:rPr lang="es-MX" sz="1000" dirty="0">
                <a:latin typeface="Helvetica" panose="020B0604020202020204" pitchFamily="34" charset="0"/>
                <a:cs typeface="Helvetica" panose="020B0604020202020204" pitchFamily="34" charset="0"/>
              </a:rPr>
              <a:t> como baja en número de oportunidades per </a:t>
            </a:r>
            <a:r>
              <a:rPr lang="es-MX" sz="1000" dirty="0" err="1">
                <a:latin typeface="Helvetica" panose="020B0604020202020204" pitchFamily="34" charset="0"/>
                <a:cs typeface="Helvetica" panose="020B0604020202020204" pitchFamily="34" charset="0"/>
              </a:rPr>
              <a:t>capita</a:t>
            </a:r>
            <a:r>
              <a:rPr lang="es-MX" sz="1000" dirty="0">
                <a:latin typeface="Helvetica" panose="020B0604020202020204" pitchFamily="34" charset="0"/>
                <a:cs typeface="Helvetica" panose="020B0604020202020204" pitchFamily="34" charset="0"/>
              </a:rPr>
              <a:t> en el segmento entre ‘24 y ‘25.</a:t>
            </a:r>
          </a:p>
        </p:txBody>
      </p:sp>
      <p:sp>
        <p:nvSpPr>
          <p:cNvPr id="21" name="TextBox 46">
            <a:extLst>
              <a:ext uri="{FF2B5EF4-FFF2-40B4-BE49-F238E27FC236}">
                <a16:creationId xmlns:a16="http://schemas.microsoft.com/office/drawing/2014/main" id="{479C01DB-0A30-46E4-C222-4E4445B058E2}"/>
              </a:ext>
            </a:extLst>
          </p:cNvPr>
          <p:cNvSpPr txBox="1"/>
          <p:nvPr/>
        </p:nvSpPr>
        <p:spPr>
          <a:xfrm>
            <a:off x="5847578" y="1672692"/>
            <a:ext cx="192725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Deal </a:t>
            </a:r>
            <a:r>
              <a:rPr lang="es-MX" sz="1000" b="1" dirty="0" err="1">
                <a:latin typeface="Helvetica" panose="020B0604020202020204" pitchFamily="34" charset="0"/>
                <a:cs typeface="Helvetica" panose="020B0604020202020204" pitchFamily="34" charset="0"/>
              </a:rPr>
              <a:t>Size</a:t>
            </a:r>
            <a:r>
              <a:rPr lang="es-MX" sz="1000" b="1" dirty="0">
                <a:latin typeface="Helvetica" panose="020B0604020202020204" pitchFamily="34" charset="0"/>
                <a:cs typeface="Helvetica" panose="020B0604020202020204" pitchFamily="34" charset="0"/>
              </a:rPr>
              <a:t> $ MM</a:t>
            </a:r>
          </a:p>
        </p:txBody>
      </p:sp>
      <p:graphicFrame>
        <p:nvGraphicFramePr>
          <p:cNvPr id="23" name="Table 39">
            <a:extLst>
              <a:ext uri="{FF2B5EF4-FFF2-40B4-BE49-F238E27FC236}">
                <a16:creationId xmlns:a16="http://schemas.microsoft.com/office/drawing/2014/main" id="{5436AFFD-F3C7-C187-8EDC-CE4BF8C6B1C1}"/>
              </a:ext>
            </a:extLst>
          </p:cNvPr>
          <p:cNvGraphicFramePr>
            <a:graphicFrameLocks noGrp="1"/>
          </p:cNvGraphicFramePr>
          <p:nvPr>
            <p:extLst>
              <p:ext uri="{D42A27DB-BD31-4B8C-83A1-F6EECF244321}">
                <p14:modId xmlns:p14="http://schemas.microsoft.com/office/powerpoint/2010/main" val="456196949"/>
              </p:ext>
            </p:extLst>
          </p:nvPr>
        </p:nvGraphicFramePr>
        <p:xfrm>
          <a:off x="5860795" y="2018593"/>
          <a:ext cx="4389344" cy="1570058"/>
        </p:xfrm>
        <a:graphic>
          <a:graphicData uri="http://schemas.openxmlformats.org/drawingml/2006/table">
            <a:tbl>
              <a:tblPr firstRow="1" bandRow="1">
                <a:tableStyleId>{5C22544A-7EE6-4342-B048-85BDC9FD1C3A}</a:tableStyleId>
              </a:tblPr>
              <a:tblGrid>
                <a:gridCol w="1061188">
                  <a:extLst>
                    <a:ext uri="{9D8B030D-6E8A-4147-A177-3AD203B41FA5}">
                      <a16:colId xmlns:a16="http://schemas.microsoft.com/office/drawing/2014/main" val="3292533045"/>
                    </a:ext>
                  </a:extLst>
                </a:gridCol>
                <a:gridCol w="506147">
                  <a:extLst>
                    <a:ext uri="{9D8B030D-6E8A-4147-A177-3AD203B41FA5}">
                      <a16:colId xmlns:a16="http://schemas.microsoft.com/office/drawing/2014/main" val="516142936"/>
                    </a:ext>
                  </a:extLst>
                </a:gridCol>
                <a:gridCol w="506147">
                  <a:extLst>
                    <a:ext uri="{9D8B030D-6E8A-4147-A177-3AD203B41FA5}">
                      <a16:colId xmlns:a16="http://schemas.microsoft.com/office/drawing/2014/main" val="3569172254"/>
                    </a:ext>
                  </a:extLst>
                </a:gridCol>
                <a:gridCol w="506147">
                  <a:extLst>
                    <a:ext uri="{9D8B030D-6E8A-4147-A177-3AD203B41FA5}">
                      <a16:colId xmlns:a16="http://schemas.microsoft.com/office/drawing/2014/main" val="223242589"/>
                    </a:ext>
                  </a:extLst>
                </a:gridCol>
                <a:gridCol w="506147">
                  <a:extLst>
                    <a:ext uri="{9D8B030D-6E8A-4147-A177-3AD203B41FA5}">
                      <a16:colId xmlns:a16="http://schemas.microsoft.com/office/drawing/2014/main" val="2740267779"/>
                    </a:ext>
                  </a:extLst>
                </a:gridCol>
                <a:gridCol w="651784">
                  <a:extLst>
                    <a:ext uri="{9D8B030D-6E8A-4147-A177-3AD203B41FA5}">
                      <a16:colId xmlns:a16="http://schemas.microsoft.com/office/drawing/2014/main" val="1338503036"/>
                    </a:ext>
                  </a:extLst>
                </a:gridCol>
                <a:gridCol w="651784">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Iniciativa</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9.0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7.5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7.4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6.8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7.9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8.9 </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4530674"/>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-17%</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16%</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13%</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245260">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LMM Core</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17.4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15.2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11.1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13.4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14.8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19.1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-27%</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LMM Total</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13.8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10.2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8.3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                        8.3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9.8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                      11.8 </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1"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  Crecimiento</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endParaRPr lang="es-MX" sz="800" b="0" i="0" u="none" strike="noStrike" kern="1200">
                        <a:solidFill>
                          <a:srgbClr val="004877"/>
                        </a:solidFill>
                        <a:effectLst/>
                        <a:latin typeface="Arial" panose="020B0604020202020204" pitchFamily="34" charset="0"/>
                        <a:ea typeface="+mn-ea"/>
                        <a:cs typeface="+mn-cs"/>
                      </a:endParaRP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-26%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a:solidFill>
                            <a:srgbClr val="004877"/>
                          </a:solidFill>
                          <a:effectLst/>
                          <a:latin typeface="Arial" panose="020B0604020202020204" pitchFamily="34" charset="0"/>
                          <a:ea typeface="+mn-ea"/>
                          <a:cs typeface="+mn-cs"/>
                        </a:rPr>
                        <a:t>18%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20%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24" name="TextBox 46">
            <a:extLst>
              <a:ext uri="{FF2B5EF4-FFF2-40B4-BE49-F238E27FC236}">
                <a16:creationId xmlns:a16="http://schemas.microsoft.com/office/drawing/2014/main" id="{4FC82DB7-1D74-75FC-C46A-2BBE7AF880B5}"/>
              </a:ext>
            </a:extLst>
          </p:cNvPr>
          <p:cNvSpPr txBox="1"/>
          <p:nvPr/>
        </p:nvSpPr>
        <p:spPr>
          <a:xfrm>
            <a:off x="5753100" y="1018011"/>
            <a:ext cx="6325372" cy="553998"/>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latin typeface="Helvetica" panose="020B0604020202020204" pitchFamily="34" charset="0"/>
                <a:cs typeface="Helvetica" panose="020B0604020202020204" pitchFamily="34" charset="0"/>
              </a:rPr>
              <a:t>Si bien en lo últimos años se ha presentado una caíde en el número de oportunidades generadas, en monto el impacto ha sido parcialmente mitigado por un aumento en el Deal </a:t>
            </a:r>
            <a:r>
              <a:rPr lang="es-MX" sz="1000" dirty="0" err="1">
                <a:latin typeface="Helvetica" panose="020B0604020202020204" pitchFamily="34" charset="0"/>
                <a:cs typeface="Helvetica" panose="020B0604020202020204" pitchFamily="34" charset="0"/>
              </a:rPr>
              <a:t>Size</a:t>
            </a:r>
            <a:r>
              <a:rPr lang="es-MX" sz="1000" dirty="0">
                <a:latin typeface="Helvetica" panose="020B0604020202020204" pitchFamily="34" charset="0"/>
                <a:cs typeface="Helvetica" panose="020B0604020202020204" pitchFamily="34" charset="0"/>
              </a:rPr>
              <a:t> de las oportunidades identificadas tanto por Iniciativa como por los equipos Core en el segmento LMM .</a:t>
            </a:r>
          </a:p>
        </p:txBody>
      </p:sp>
      <p:sp>
        <p:nvSpPr>
          <p:cNvPr id="2" name="TextBox 46">
            <a:extLst>
              <a:ext uri="{FF2B5EF4-FFF2-40B4-BE49-F238E27FC236}">
                <a16:creationId xmlns:a16="http://schemas.microsoft.com/office/drawing/2014/main" id="{79BC6791-97CA-270A-03BD-10A2E465F631}"/>
              </a:ext>
            </a:extLst>
          </p:cNvPr>
          <p:cNvSpPr txBox="1"/>
          <p:nvPr/>
        </p:nvSpPr>
        <p:spPr>
          <a:xfrm>
            <a:off x="94607" y="6440960"/>
            <a:ext cx="5415859" cy="553998"/>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solidFill>
                  <a:schemeClr val="bg1"/>
                </a:solidFill>
                <a:latin typeface="Helvetica" panose="020B0604020202020204" pitchFamily="34" charset="0"/>
                <a:cs typeface="Helvetica" panose="020B0604020202020204" pitchFamily="34" charset="0"/>
              </a:rPr>
              <a:t>(*) Citas y oportunidades al 19 de Dic de 2025</a:t>
            </a:r>
          </a:p>
          <a:p>
            <a:pPr algn="just" defTabSz="829544">
              <a:defRPr/>
            </a:pPr>
            <a:r>
              <a:rPr lang="es-MX" sz="1000" dirty="0">
                <a:solidFill>
                  <a:schemeClr val="bg1"/>
                </a:solidFill>
                <a:latin typeface="Helvetica" panose="020B0604020202020204" pitchFamily="34" charset="0"/>
                <a:cs typeface="Helvetica" panose="020B0604020202020204" pitchFamily="34" charset="0"/>
              </a:rPr>
              <a:t>(**) Originadores que estuvieron al menos 6 meses por año</a:t>
            </a:r>
          </a:p>
          <a:p>
            <a:pPr marL="171450" indent="-171450" algn="just" defTabSz="829544">
              <a:buFont typeface="Arial" panose="020B0604020202020204" pitchFamily="34" charset="0"/>
              <a:buChar char="•"/>
              <a:defRPr/>
            </a:pPr>
            <a:endParaRPr lang="es-MX" sz="1000" dirty="0">
              <a:solidFill>
                <a:schemeClr val="bg1"/>
              </a:solidFill>
              <a:latin typeface="Helvetica" panose="020B0604020202020204" pitchFamily="34" charset="0"/>
              <a:cs typeface="Helvetica" panose="020B0604020202020204" pitchFamily="34" charset="0"/>
            </a:endParaRPr>
          </a:p>
        </p:txBody>
      </p:sp>
      <p:sp>
        <p:nvSpPr>
          <p:cNvPr id="3" name="TextBox 46">
            <a:extLst>
              <a:ext uri="{FF2B5EF4-FFF2-40B4-BE49-F238E27FC236}">
                <a16:creationId xmlns:a16="http://schemas.microsoft.com/office/drawing/2014/main" id="{2BED0AD0-B43E-83C6-E853-C069858F931C}"/>
              </a:ext>
            </a:extLst>
          </p:cNvPr>
          <p:cNvSpPr txBox="1"/>
          <p:nvPr/>
        </p:nvSpPr>
        <p:spPr>
          <a:xfrm>
            <a:off x="5857103" y="735485"/>
            <a:ext cx="2686822"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 Deal </a:t>
            </a:r>
            <a:r>
              <a:rPr lang="es-MX" sz="1000" b="1" dirty="0" err="1">
                <a:solidFill>
                  <a:schemeClr val="bg1"/>
                </a:solidFill>
                <a:latin typeface="Helvetica" panose="020B0604020202020204" pitchFamily="34" charset="0"/>
                <a:cs typeface="Helvetica" panose="020B0604020202020204" pitchFamily="34" charset="0"/>
              </a:rPr>
              <a:t>Size</a:t>
            </a:r>
            <a:endParaRPr lang="es-MX" sz="1000" b="1" dirty="0">
              <a:solidFill>
                <a:schemeClr val="bg1"/>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609185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A54D-A19A-2EBD-59BC-41975DCA1F9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EB909DB-88DF-F3BA-4887-1F41D364B2EB}"/>
              </a:ext>
            </a:extLst>
          </p:cNvPr>
          <p:cNvSpPr txBox="1">
            <a:spLocks/>
          </p:cNvSpPr>
          <p:nvPr/>
        </p:nvSpPr>
        <p:spPr>
          <a:xfrm>
            <a:off x="269620" y="168484"/>
            <a:ext cx="8249422" cy="333753"/>
          </a:xfrm>
          <a:prstGeom prst="rect">
            <a:avLst/>
          </a:prstGeom>
        </p:spPr>
        <p:txBody>
          <a:bodyPr vert="horz" lIns="82953" tIns="41476" rIns="82953" bIns="41476" rtlCol="0" anchor="t">
            <a:noAutofit/>
          </a:bodyPr>
          <a:lstStyle>
            <a:lvl1pPr algn="l" defTabSz="914400" rtl="0" eaLnBrk="1" latinLnBrk="0" hangingPunct="1">
              <a:lnSpc>
                <a:spcPct val="90000"/>
              </a:lnSpc>
              <a:spcBef>
                <a:spcPct val="0"/>
              </a:spcBef>
              <a:buNone/>
              <a:defRPr sz="1000" b="1" kern="1200">
                <a:solidFill>
                  <a:srgbClr val="004877"/>
                </a:solidFill>
                <a:latin typeface="Verdana" panose="020B0604030504040204" pitchFamily="34" charset="0"/>
                <a:ea typeface="Verdana" panose="020B0604030504040204" pitchFamily="34" charset="0"/>
                <a:cs typeface="Verdana" panose="020B0604030504040204" pitchFamily="34" charset="0"/>
              </a:defRPr>
            </a:lvl1pPr>
          </a:lstStyle>
          <a:p>
            <a:pPr defTabSz="829544">
              <a:defRPr/>
            </a:pPr>
            <a:r>
              <a:rPr lang="en-US" sz="2800" kern="0" dirty="0" err="1">
                <a:solidFill>
                  <a:srgbClr val="EE7600"/>
                </a:solidFill>
                <a:latin typeface="Helvetica" panose="020B0604020202020204" pitchFamily="34" charset="0"/>
                <a:cs typeface="Helvetica" panose="020B0604020202020204" pitchFamily="34" charset="0"/>
              </a:rPr>
              <a:t>Análisis</a:t>
            </a:r>
            <a:r>
              <a:rPr lang="en-US" sz="2800" kern="0" dirty="0">
                <a:solidFill>
                  <a:srgbClr val="EE7600"/>
                </a:solidFill>
                <a:latin typeface="Helvetica" panose="020B0604020202020204" pitchFamily="34" charset="0"/>
                <a:cs typeface="Helvetica" panose="020B0604020202020204" pitchFamily="34" charset="0"/>
              </a:rPr>
              <a:t> de </a:t>
            </a:r>
            <a:r>
              <a:rPr lang="en-US" sz="2800" kern="0" dirty="0" err="1">
                <a:solidFill>
                  <a:srgbClr val="EE7600"/>
                </a:solidFill>
                <a:latin typeface="Helvetica" panose="020B0604020202020204" pitchFamily="34" charset="0"/>
                <a:cs typeface="Helvetica" panose="020B0604020202020204" pitchFamily="34" charset="0"/>
              </a:rPr>
              <a:t>Productividad</a:t>
            </a:r>
            <a:r>
              <a:rPr lang="en-US" sz="2800" kern="0" dirty="0">
                <a:solidFill>
                  <a:srgbClr val="EE7600"/>
                </a:solidFill>
                <a:latin typeface="Helvetica" panose="020B0604020202020204" pitchFamily="34" charset="0"/>
                <a:cs typeface="Helvetica" panose="020B0604020202020204" pitchFamily="34" charset="0"/>
              </a:rPr>
              <a:t> LMM</a:t>
            </a:r>
            <a:endParaRPr lang="en-US" sz="1200" kern="0" dirty="0">
              <a:solidFill>
                <a:srgbClr val="EE7600"/>
              </a:solidFill>
              <a:latin typeface="Helvetica" panose="020B0604020202020204" pitchFamily="34" charset="0"/>
              <a:cs typeface="Helvetica" panose="020B0604020202020204" pitchFamily="34" charset="0"/>
            </a:endParaRPr>
          </a:p>
        </p:txBody>
      </p:sp>
      <p:sp>
        <p:nvSpPr>
          <p:cNvPr id="17" name="TextBox 46">
            <a:extLst>
              <a:ext uri="{FF2B5EF4-FFF2-40B4-BE49-F238E27FC236}">
                <a16:creationId xmlns:a16="http://schemas.microsoft.com/office/drawing/2014/main" id="{ED326F59-BAD9-9EF1-A60A-188B70DB98B4}"/>
              </a:ext>
            </a:extLst>
          </p:cNvPr>
          <p:cNvSpPr txBox="1"/>
          <p:nvPr/>
        </p:nvSpPr>
        <p:spPr>
          <a:xfrm>
            <a:off x="170678" y="725960"/>
            <a:ext cx="2686822" cy="246221"/>
          </a:xfrm>
          <a:prstGeom prst="rect">
            <a:avLst/>
          </a:prstGeom>
          <a:solidFill>
            <a:srgbClr val="003764"/>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solidFill>
                  <a:schemeClr val="bg1"/>
                </a:solidFill>
                <a:latin typeface="Helvetica" panose="020B0604020202020204" pitchFamily="34" charset="0"/>
                <a:cs typeface="Helvetica" panose="020B0604020202020204" pitchFamily="34" charset="0"/>
              </a:rPr>
              <a:t> Conversiones </a:t>
            </a:r>
          </a:p>
        </p:txBody>
      </p:sp>
      <p:sp>
        <p:nvSpPr>
          <p:cNvPr id="18" name="TextBox 46">
            <a:extLst>
              <a:ext uri="{FF2B5EF4-FFF2-40B4-BE49-F238E27FC236}">
                <a16:creationId xmlns:a16="http://schemas.microsoft.com/office/drawing/2014/main" id="{AABDF5C0-8556-C36D-A9C4-46D1999795C4}"/>
              </a:ext>
            </a:extLst>
          </p:cNvPr>
          <p:cNvSpPr txBox="1"/>
          <p:nvPr/>
        </p:nvSpPr>
        <p:spPr>
          <a:xfrm>
            <a:off x="170678" y="1103444"/>
            <a:ext cx="280112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Total LMM</a:t>
            </a:r>
          </a:p>
        </p:txBody>
      </p:sp>
      <p:graphicFrame>
        <p:nvGraphicFramePr>
          <p:cNvPr id="19" name="Table 39">
            <a:extLst>
              <a:ext uri="{FF2B5EF4-FFF2-40B4-BE49-F238E27FC236}">
                <a16:creationId xmlns:a16="http://schemas.microsoft.com/office/drawing/2014/main" id="{EF6A809A-8D08-7DF0-5B9D-C418375A4C71}"/>
              </a:ext>
            </a:extLst>
          </p:cNvPr>
          <p:cNvGraphicFramePr>
            <a:graphicFrameLocks noGrp="1"/>
          </p:cNvGraphicFramePr>
          <p:nvPr>
            <p:extLst>
              <p:ext uri="{D42A27DB-BD31-4B8C-83A1-F6EECF244321}">
                <p14:modId xmlns:p14="http://schemas.microsoft.com/office/powerpoint/2010/main" val="3368170777"/>
              </p:ext>
            </p:extLst>
          </p:nvPr>
        </p:nvGraphicFramePr>
        <p:xfrm>
          <a:off x="94607" y="1374510"/>
          <a:ext cx="7988556" cy="1179392"/>
        </p:xfrm>
        <a:graphic>
          <a:graphicData uri="http://schemas.openxmlformats.org/drawingml/2006/table">
            <a:tbl>
              <a:tblPr firstRow="1" bandRow="1">
                <a:tableStyleId>{5C22544A-7EE6-4342-B048-85BDC9FD1C3A}</a:tableStyleId>
              </a:tblPr>
              <a:tblGrid>
                <a:gridCol w="1931350">
                  <a:extLst>
                    <a:ext uri="{9D8B030D-6E8A-4147-A177-3AD203B41FA5}">
                      <a16:colId xmlns:a16="http://schemas.microsoft.com/office/drawing/2014/main" val="3292533045"/>
                    </a:ext>
                  </a:extLst>
                </a:gridCol>
                <a:gridCol w="921182">
                  <a:extLst>
                    <a:ext uri="{9D8B030D-6E8A-4147-A177-3AD203B41FA5}">
                      <a16:colId xmlns:a16="http://schemas.microsoft.com/office/drawing/2014/main" val="516142936"/>
                    </a:ext>
                  </a:extLst>
                </a:gridCol>
                <a:gridCol w="921182">
                  <a:extLst>
                    <a:ext uri="{9D8B030D-6E8A-4147-A177-3AD203B41FA5}">
                      <a16:colId xmlns:a16="http://schemas.microsoft.com/office/drawing/2014/main" val="3569172254"/>
                    </a:ext>
                  </a:extLst>
                </a:gridCol>
                <a:gridCol w="921182">
                  <a:extLst>
                    <a:ext uri="{9D8B030D-6E8A-4147-A177-3AD203B41FA5}">
                      <a16:colId xmlns:a16="http://schemas.microsoft.com/office/drawing/2014/main" val="223242589"/>
                    </a:ext>
                  </a:extLst>
                </a:gridCol>
                <a:gridCol w="921182">
                  <a:extLst>
                    <a:ext uri="{9D8B030D-6E8A-4147-A177-3AD203B41FA5}">
                      <a16:colId xmlns:a16="http://schemas.microsoft.com/office/drawing/2014/main" val="2740267779"/>
                    </a:ext>
                  </a:extLst>
                </a:gridCol>
                <a:gridCol w="1186239">
                  <a:extLst>
                    <a:ext uri="{9D8B030D-6E8A-4147-A177-3AD203B41FA5}">
                      <a16:colId xmlns:a16="http://schemas.microsoft.com/office/drawing/2014/main" val="1338503036"/>
                    </a:ext>
                  </a:extLst>
                </a:gridCol>
                <a:gridCol w="1186239">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OP Id _ </a:t>
                      </a:r>
                      <a:r>
                        <a:rPr lang="es-MX" sz="800" b="1" i="0" u="none" strike="noStrike" dirty="0" err="1">
                          <a:solidFill>
                            <a:srgbClr val="004877"/>
                          </a:solidFill>
                          <a:effectLst/>
                          <a:latin typeface="Helvetica" panose="020B0604020202020204" pitchFamily="34" charset="0"/>
                        </a:rPr>
                        <a:t>Funded</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OP Id - </a:t>
                      </a:r>
                      <a:r>
                        <a:rPr lang="es-MX" sz="800" b="1" i="0" u="none" strike="noStrike" dirty="0" err="1">
                          <a:solidFill>
                            <a:srgbClr val="004877"/>
                          </a:solidFill>
                          <a:effectLst/>
                          <a:latin typeface="Helvetica" panose="020B0604020202020204" pitchFamily="34" charset="0"/>
                        </a:rPr>
                        <a:t>Prop</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Prop</a:t>
                      </a:r>
                      <a:r>
                        <a:rPr lang="es-MX" sz="800" b="1" i="0" u="none" strike="noStrike" dirty="0">
                          <a:solidFill>
                            <a:srgbClr val="004877"/>
                          </a:solidFill>
                          <a:effectLst/>
                          <a:latin typeface="Helvetica" panose="020B0604020202020204" pitchFamily="34" charset="0"/>
                        </a:rPr>
                        <a:t> – P </a:t>
                      </a:r>
                      <a:r>
                        <a:rPr lang="es-MX" sz="800" b="1" i="0" u="none" strike="noStrike" dirty="0" err="1">
                          <a:solidFill>
                            <a:srgbClr val="004877"/>
                          </a:solidFill>
                          <a:effectLst/>
                          <a:latin typeface="Helvetica" panose="020B0604020202020204" pitchFamily="34" charset="0"/>
                        </a:rPr>
                        <a:t>Awar</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P </a:t>
                      </a:r>
                      <a:r>
                        <a:rPr lang="es-MX" sz="800" b="1" i="0" u="none" strike="noStrike" dirty="0" err="1">
                          <a:solidFill>
                            <a:srgbClr val="004877"/>
                          </a:solidFill>
                          <a:effectLst/>
                          <a:latin typeface="Helvetica" panose="020B0604020202020204" pitchFamily="34" charset="0"/>
                        </a:rPr>
                        <a:t>Awar</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Credit</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Credit</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Bklg</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Bklg</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Funded</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’21</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11.5%</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49.3%</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51.4%</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69.8%</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58.3%</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63.3%</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’22</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50.0%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64.3%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66.5%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67.8%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62.9%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’23</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47.9%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65.8%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83.3%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62.4%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57.2%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’24</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10.0%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41.2%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71.0%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87.8%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62.4%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58.9%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‘25*</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44.7%</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74.0%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88.3%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67.6%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52.9%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2" name="TextBox 46">
            <a:extLst>
              <a:ext uri="{FF2B5EF4-FFF2-40B4-BE49-F238E27FC236}">
                <a16:creationId xmlns:a16="http://schemas.microsoft.com/office/drawing/2014/main" id="{1CDDAD30-67A9-E3FB-69CB-EC6F2830F3A5}"/>
              </a:ext>
            </a:extLst>
          </p:cNvPr>
          <p:cNvSpPr txBox="1"/>
          <p:nvPr/>
        </p:nvSpPr>
        <p:spPr>
          <a:xfrm>
            <a:off x="94607" y="6440960"/>
            <a:ext cx="5415859" cy="400110"/>
          </a:xfrm>
          <a:prstGeom prst="rect">
            <a:avLst/>
          </a:prstGeom>
          <a:no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algn="just" defTabSz="829544">
              <a:defRPr/>
            </a:pPr>
            <a:r>
              <a:rPr lang="es-MX" sz="1000" dirty="0">
                <a:solidFill>
                  <a:schemeClr val="bg1"/>
                </a:solidFill>
                <a:latin typeface="Helvetica" panose="020B0604020202020204" pitchFamily="34" charset="0"/>
                <a:cs typeface="Helvetica" panose="020B0604020202020204" pitchFamily="34" charset="0"/>
              </a:rPr>
              <a:t>(*) Promedio a Nov 25</a:t>
            </a:r>
          </a:p>
          <a:p>
            <a:pPr marL="171450" indent="-171450" algn="just" defTabSz="829544">
              <a:buFont typeface="Arial" panose="020B0604020202020204" pitchFamily="34" charset="0"/>
              <a:buChar char="•"/>
              <a:defRPr/>
            </a:pPr>
            <a:endParaRPr lang="es-MX" sz="1000" dirty="0">
              <a:solidFill>
                <a:schemeClr val="bg1"/>
              </a:solidFill>
              <a:latin typeface="Helvetica" panose="020B0604020202020204" pitchFamily="34" charset="0"/>
              <a:cs typeface="Helvetica" panose="020B0604020202020204" pitchFamily="34" charset="0"/>
            </a:endParaRPr>
          </a:p>
        </p:txBody>
      </p:sp>
      <p:sp>
        <p:nvSpPr>
          <p:cNvPr id="4" name="TextBox 46">
            <a:extLst>
              <a:ext uri="{FF2B5EF4-FFF2-40B4-BE49-F238E27FC236}">
                <a16:creationId xmlns:a16="http://schemas.microsoft.com/office/drawing/2014/main" id="{5507571D-1B97-8DD6-D04C-502F373719C4}"/>
              </a:ext>
            </a:extLst>
          </p:cNvPr>
          <p:cNvSpPr txBox="1"/>
          <p:nvPr/>
        </p:nvSpPr>
        <p:spPr>
          <a:xfrm>
            <a:off x="170678" y="2836994"/>
            <a:ext cx="280112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Iniciativa</a:t>
            </a:r>
          </a:p>
        </p:txBody>
      </p:sp>
      <p:graphicFrame>
        <p:nvGraphicFramePr>
          <p:cNvPr id="5" name="Table 39">
            <a:extLst>
              <a:ext uri="{FF2B5EF4-FFF2-40B4-BE49-F238E27FC236}">
                <a16:creationId xmlns:a16="http://schemas.microsoft.com/office/drawing/2014/main" id="{670C6DD4-A95C-AF3A-AC8E-67458FBC4153}"/>
              </a:ext>
            </a:extLst>
          </p:cNvPr>
          <p:cNvGraphicFramePr>
            <a:graphicFrameLocks noGrp="1"/>
          </p:cNvGraphicFramePr>
          <p:nvPr>
            <p:extLst>
              <p:ext uri="{D42A27DB-BD31-4B8C-83A1-F6EECF244321}">
                <p14:modId xmlns:p14="http://schemas.microsoft.com/office/powerpoint/2010/main" val="2604976338"/>
              </p:ext>
            </p:extLst>
          </p:nvPr>
        </p:nvGraphicFramePr>
        <p:xfrm>
          <a:off x="94607" y="3117585"/>
          <a:ext cx="7988556" cy="1179392"/>
        </p:xfrm>
        <a:graphic>
          <a:graphicData uri="http://schemas.openxmlformats.org/drawingml/2006/table">
            <a:tbl>
              <a:tblPr firstRow="1" bandRow="1">
                <a:tableStyleId>{5C22544A-7EE6-4342-B048-85BDC9FD1C3A}</a:tableStyleId>
              </a:tblPr>
              <a:tblGrid>
                <a:gridCol w="1931350">
                  <a:extLst>
                    <a:ext uri="{9D8B030D-6E8A-4147-A177-3AD203B41FA5}">
                      <a16:colId xmlns:a16="http://schemas.microsoft.com/office/drawing/2014/main" val="3292533045"/>
                    </a:ext>
                  </a:extLst>
                </a:gridCol>
                <a:gridCol w="921182">
                  <a:extLst>
                    <a:ext uri="{9D8B030D-6E8A-4147-A177-3AD203B41FA5}">
                      <a16:colId xmlns:a16="http://schemas.microsoft.com/office/drawing/2014/main" val="516142936"/>
                    </a:ext>
                  </a:extLst>
                </a:gridCol>
                <a:gridCol w="921182">
                  <a:extLst>
                    <a:ext uri="{9D8B030D-6E8A-4147-A177-3AD203B41FA5}">
                      <a16:colId xmlns:a16="http://schemas.microsoft.com/office/drawing/2014/main" val="3569172254"/>
                    </a:ext>
                  </a:extLst>
                </a:gridCol>
                <a:gridCol w="921182">
                  <a:extLst>
                    <a:ext uri="{9D8B030D-6E8A-4147-A177-3AD203B41FA5}">
                      <a16:colId xmlns:a16="http://schemas.microsoft.com/office/drawing/2014/main" val="223242589"/>
                    </a:ext>
                  </a:extLst>
                </a:gridCol>
                <a:gridCol w="921182">
                  <a:extLst>
                    <a:ext uri="{9D8B030D-6E8A-4147-A177-3AD203B41FA5}">
                      <a16:colId xmlns:a16="http://schemas.microsoft.com/office/drawing/2014/main" val="2740267779"/>
                    </a:ext>
                  </a:extLst>
                </a:gridCol>
                <a:gridCol w="1186239">
                  <a:extLst>
                    <a:ext uri="{9D8B030D-6E8A-4147-A177-3AD203B41FA5}">
                      <a16:colId xmlns:a16="http://schemas.microsoft.com/office/drawing/2014/main" val="1338503036"/>
                    </a:ext>
                  </a:extLst>
                </a:gridCol>
                <a:gridCol w="1186239">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OP Id _ </a:t>
                      </a:r>
                      <a:r>
                        <a:rPr lang="es-MX" sz="800" b="1" i="0" u="none" strike="noStrike" dirty="0" err="1">
                          <a:solidFill>
                            <a:srgbClr val="004877"/>
                          </a:solidFill>
                          <a:effectLst/>
                          <a:latin typeface="Helvetica" panose="020B0604020202020204" pitchFamily="34" charset="0"/>
                        </a:rPr>
                        <a:t>Funded</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OP Id - </a:t>
                      </a:r>
                      <a:r>
                        <a:rPr lang="es-MX" sz="800" b="1" i="0" u="none" strike="noStrike" dirty="0" err="1">
                          <a:solidFill>
                            <a:srgbClr val="004877"/>
                          </a:solidFill>
                          <a:effectLst/>
                          <a:latin typeface="Helvetica" panose="020B0604020202020204" pitchFamily="34" charset="0"/>
                        </a:rPr>
                        <a:t>Prop</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Prop</a:t>
                      </a:r>
                      <a:r>
                        <a:rPr lang="es-MX" sz="800" b="1" i="0" u="none" strike="noStrike" dirty="0">
                          <a:solidFill>
                            <a:srgbClr val="004877"/>
                          </a:solidFill>
                          <a:effectLst/>
                          <a:latin typeface="Helvetica" panose="020B0604020202020204" pitchFamily="34" charset="0"/>
                        </a:rPr>
                        <a:t> – P </a:t>
                      </a:r>
                      <a:r>
                        <a:rPr lang="es-MX" sz="800" b="1" i="0" u="none" strike="noStrike" dirty="0" err="1">
                          <a:solidFill>
                            <a:srgbClr val="004877"/>
                          </a:solidFill>
                          <a:effectLst/>
                          <a:latin typeface="Helvetica" panose="020B0604020202020204" pitchFamily="34" charset="0"/>
                        </a:rPr>
                        <a:t>Awar</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P </a:t>
                      </a:r>
                      <a:r>
                        <a:rPr lang="es-MX" sz="800" b="1" i="0" u="none" strike="noStrike" dirty="0" err="1">
                          <a:solidFill>
                            <a:srgbClr val="004877"/>
                          </a:solidFill>
                          <a:effectLst/>
                          <a:latin typeface="Helvetica" panose="020B0604020202020204" pitchFamily="34" charset="0"/>
                        </a:rPr>
                        <a:t>Awar</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Credit</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Credit</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Bklg</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Bklg</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Funded</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’21</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9.0%</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51.7%</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47.1%</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60.9%</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52.8%</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56.1%</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’22</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54.4%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62.8%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55.4%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61.3%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69.9%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’23</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11.2%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53.2%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67.0%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82.1%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61.8%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60.3%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’24</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13.2%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46.1%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75.5%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87.4%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63.8%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63.9%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‘25*</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15.1%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44.5%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79.1%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89.6%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73.0%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59.7%</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
        <p:nvSpPr>
          <p:cNvPr id="7" name="TextBox 46">
            <a:extLst>
              <a:ext uri="{FF2B5EF4-FFF2-40B4-BE49-F238E27FC236}">
                <a16:creationId xmlns:a16="http://schemas.microsoft.com/office/drawing/2014/main" id="{D8CFDCE7-4D77-BE85-6D47-D3DF7C1D29A6}"/>
              </a:ext>
            </a:extLst>
          </p:cNvPr>
          <p:cNvSpPr txBox="1"/>
          <p:nvPr/>
        </p:nvSpPr>
        <p:spPr>
          <a:xfrm>
            <a:off x="161153" y="4599119"/>
            <a:ext cx="2801122" cy="246221"/>
          </a:xfrm>
          <a:prstGeom prst="rect">
            <a:avLst/>
          </a:prstGeom>
          <a:solidFill>
            <a:srgbClr val="33D5AD"/>
          </a:solidFill>
        </p:spPr>
        <p:txBody>
          <a:bodyPr wrap="square" rtlCol="0">
            <a:spAutoFit/>
          </a:bodyPr>
          <a:lstStyle>
            <a:defPPr>
              <a:defRPr lang="es-ES"/>
            </a:defPPr>
            <a:lvl1pPr marR="0" lvl="0" indent="0" fontAlgn="auto">
              <a:lnSpc>
                <a:spcPct val="100000"/>
              </a:lnSpc>
              <a:spcBef>
                <a:spcPts val="0"/>
              </a:spcBef>
              <a:spcAft>
                <a:spcPts val="0"/>
              </a:spcAft>
              <a:buClrTx/>
              <a:buSzTx/>
              <a:buFontTx/>
              <a:buNone/>
              <a:tabLst/>
              <a:defRPr kumimoji="0" sz="900" b="0" u="none" strike="noStrike" cap="none" spc="0" normalizeH="0" baseline="0">
                <a:ln>
                  <a:noFill/>
                </a:ln>
                <a:solidFill>
                  <a:srgbClr val="004877"/>
                </a:solidFill>
                <a:effectLst/>
                <a:uLnTx/>
                <a:uFillTx/>
                <a:latin typeface="Verdana"/>
              </a:defRPr>
            </a:lvl1pPr>
          </a:lstStyle>
          <a:p>
            <a:pPr defTabSz="829544">
              <a:defRPr/>
            </a:pPr>
            <a:r>
              <a:rPr lang="es-MX" sz="1000" b="1" dirty="0">
                <a:latin typeface="Helvetica" panose="020B0604020202020204" pitchFamily="34" charset="0"/>
                <a:cs typeface="Helvetica" panose="020B0604020202020204" pitchFamily="34" charset="0"/>
              </a:rPr>
              <a:t>LMM Core</a:t>
            </a:r>
          </a:p>
        </p:txBody>
      </p:sp>
      <p:graphicFrame>
        <p:nvGraphicFramePr>
          <p:cNvPr id="8" name="Table 39">
            <a:extLst>
              <a:ext uri="{FF2B5EF4-FFF2-40B4-BE49-F238E27FC236}">
                <a16:creationId xmlns:a16="http://schemas.microsoft.com/office/drawing/2014/main" id="{8614FB36-F640-D238-D84B-B5F9A08B5684}"/>
              </a:ext>
            </a:extLst>
          </p:cNvPr>
          <p:cNvGraphicFramePr>
            <a:graphicFrameLocks noGrp="1"/>
          </p:cNvGraphicFramePr>
          <p:nvPr>
            <p:extLst>
              <p:ext uri="{D42A27DB-BD31-4B8C-83A1-F6EECF244321}">
                <p14:modId xmlns:p14="http://schemas.microsoft.com/office/powerpoint/2010/main" val="3867615579"/>
              </p:ext>
            </p:extLst>
          </p:nvPr>
        </p:nvGraphicFramePr>
        <p:xfrm>
          <a:off x="132707" y="4946385"/>
          <a:ext cx="7988556" cy="1179392"/>
        </p:xfrm>
        <a:graphic>
          <a:graphicData uri="http://schemas.openxmlformats.org/drawingml/2006/table">
            <a:tbl>
              <a:tblPr firstRow="1" bandRow="1">
                <a:tableStyleId>{5C22544A-7EE6-4342-B048-85BDC9FD1C3A}</a:tableStyleId>
              </a:tblPr>
              <a:tblGrid>
                <a:gridCol w="1931350">
                  <a:extLst>
                    <a:ext uri="{9D8B030D-6E8A-4147-A177-3AD203B41FA5}">
                      <a16:colId xmlns:a16="http://schemas.microsoft.com/office/drawing/2014/main" val="3292533045"/>
                    </a:ext>
                  </a:extLst>
                </a:gridCol>
                <a:gridCol w="921182">
                  <a:extLst>
                    <a:ext uri="{9D8B030D-6E8A-4147-A177-3AD203B41FA5}">
                      <a16:colId xmlns:a16="http://schemas.microsoft.com/office/drawing/2014/main" val="516142936"/>
                    </a:ext>
                  </a:extLst>
                </a:gridCol>
                <a:gridCol w="921182">
                  <a:extLst>
                    <a:ext uri="{9D8B030D-6E8A-4147-A177-3AD203B41FA5}">
                      <a16:colId xmlns:a16="http://schemas.microsoft.com/office/drawing/2014/main" val="3569172254"/>
                    </a:ext>
                  </a:extLst>
                </a:gridCol>
                <a:gridCol w="921182">
                  <a:extLst>
                    <a:ext uri="{9D8B030D-6E8A-4147-A177-3AD203B41FA5}">
                      <a16:colId xmlns:a16="http://schemas.microsoft.com/office/drawing/2014/main" val="223242589"/>
                    </a:ext>
                  </a:extLst>
                </a:gridCol>
                <a:gridCol w="921182">
                  <a:extLst>
                    <a:ext uri="{9D8B030D-6E8A-4147-A177-3AD203B41FA5}">
                      <a16:colId xmlns:a16="http://schemas.microsoft.com/office/drawing/2014/main" val="2740267779"/>
                    </a:ext>
                  </a:extLst>
                </a:gridCol>
                <a:gridCol w="1186239">
                  <a:extLst>
                    <a:ext uri="{9D8B030D-6E8A-4147-A177-3AD203B41FA5}">
                      <a16:colId xmlns:a16="http://schemas.microsoft.com/office/drawing/2014/main" val="1338503036"/>
                    </a:ext>
                  </a:extLst>
                </a:gridCol>
                <a:gridCol w="1186239">
                  <a:extLst>
                    <a:ext uri="{9D8B030D-6E8A-4147-A177-3AD203B41FA5}">
                      <a16:colId xmlns:a16="http://schemas.microsoft.com/office/drawing/2014/main" val="2588899552"/>
                    </a:ext>
                  </a:extLst>
                </a:gridCol>
              </a:tblGrid>
              <a:tr h="179952">
                <a:tc>
                  <a:txBody>
                    <a:bodyPr/>
                    <a:lstStyle/>
                    <a:p>
                      <a:pPr algn="ctr"/>
                      <a:endParaRPr lang="es-MX" sz="800" b="1" dirty="0">
                        <a:solidFill>
                          <a:srgbClr val="004877"/>
                        </a:solidFill>
                        <a:latin typeface="Helvetica" panose="020B0604020202020204" pitchFamily="34" charset="0"/>
                        <a:ea typeface="Verdana" panose="020B0604030504040204" pitchFamily="34" charset="0"/>
                        <a:cs typeface="Helvetica" panose="020B0604020202020204" pitchFamily="34" charset="0"/>
                      </a:endParaRPr>
                    </a:p>
                  </a:txBody>
                  <a:tcPr marL="82953" marR="82953" marT="41476" marB="41476"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OP Id _ </a:t>
                      </a:r>
                      <a:r>
                        <a:rPr lang="es-MX" sz="800" b="1" i="0" u="none" strike="noStrike" dirty="0" err="1">
                          <a:solidFill>
                            <a:srgbClr val="004877"/>
                          </a:solidFill>
                          <a:effectLst/>
                          <a:latin typeface="Helvetica" panose="020B0604020202020204" pitchFamily="34" charset="0"/>
                        </a:rPr>
                        <a:t>Funded</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OP Id - </a:t>
                      </a:r>
                      <a:r>
                        <a:rPr lang="es-MX" sz="800" b="1" i="0" u="none" strike="noStrike" dirty="0" err="1">
                          <a:solidFill>
                            <a:srgbClr val="004877"/>
                          </a:solidFill>
                          <a:effectLst/>
                          <a:latin typeface="Helvetica" panose="020B0604020202020204" pitchFamily="34" charset="0"/>
                        </a:rPr>
                        <a:t>Prop</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Prop</a:t>
                      </a:r>
                      <a:r>
                        <a:rPr lang="es-MX" sz="800" b="1" i="0" u="none" strike="noStrike" dirty="0">
                          <a:solidFill>
                            <a:srgbClr val="004877"/>
                          </a:solidFill>
                          <a:effectLst/>
                          <a:latin typeface="Helvetica" panose="020B0604020202020204" pitchFamily="34" charset="0"/>
                        </a:rPr>
                        <a:t> – P </a:t>
                      </a:r>
                      <a:r>
                        <a:rPr lang="es-MX" sz="800" b="1" i="0" u="none" strike="noStrike" dirty="0" err="1">
                          <a:solidFill>
                            <a:srgbClr val="004877"/>
                          </a:solidFill>
                          <a:effectLst/>
                          <a:latin typeface="Helvetica" panose="020B0604020202020204" pitchFamily="34" charset="0"/>
                        </a:rPr>
                        <a:t>Awar</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a:solidFill>
                            <a:srgbClr val="004877"/>
                          </a:solidFill>
                          <a:effectLst/>
                          <a:latin typeface="Helvetica" panose="020B0604020202020204" pitchFamily="34" charset="0"/>
                        </a:rPr>
                        <a:t>P </a:t>
                      </a:r>
                      <a:r>
                        <a:rPr lang="es-MX" sz="800" b="1" i="0" u="none" strike="noStrike" dirty="0" err="1">
                          <a:solidFill>
                            <a:srgbClr val="004877"/>
                          </a:solidFill>
                          <a:effectLst/>
                          <a:latin typeface="Helvetica" panose="020B0604020202020204" pitchFamily="34" charset="0"/>
                        </a:rPr>
                        <a:t>Awar</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Credit</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Credit</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Bklg</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
                      <a:r>
                        <a:rPr lang="es-MX" sz="800" b="1" i="0" u="none" strike="noStrike" dirty="0" err="1">
                          <a:solidFill>
                            <a:srgbClr val="004877"/>
                          </a:solidFill>
                          <a:effectLst/>
                          <a:latin typeface="Helvetica" panose="020B0604020202020204" pitchFamily="34" charset="0"/>
                        </a:rPr>
                        <a:t>Bklg</a:t>
                      </a:r>
                      <a:r>
                        <a:rPr lang="es-MX" sz="800" b="1" i="0" u="none" strike="noStrike" dirty="0">
                          <a:solidFill>
                            <a:srgbClr val="004877"/>
                          </a:solidFill>
                          <a:effectLst/>
                          <a:latin typeface="Helvetica" panose="020B0604020202020204" pitchFamily="34" charset="0"/>
                        </a:rPr>
                        <a:t> - </a:t>
                      </a:r>
                      <a:r>
                        <a:rPr lang="es-MX" sz="800" b="1" i="0" u="none" strike="noStrike" dirty="0" err="1">
                          <a:solidFill>
                            <a:srgbClr val="004877"/>
                          </a:solidFill>
                          <a:effectLst/>
                          <a:latin typeface="Helvetica" panose="020B0604020202020204" pitchFamily="34" charset="0"/>
                        </a:rPr>
                        <a:t>Funded</a:t>
                      </a:r>
                      <a:endParaRPr lang="es-MX" sz="800" b="1" i="0" u="none" strike="noStrike" dirty="0">
                        <a:solidFill>
                          <a:srgbClr val="004877"/>
                        </a:solidFill>
                        <a:effectLst/>
                        <a:latin typeface="Helvetica" panose="020B0604020202020204" pitchFamily="34" charset="0"/>
                      </a:endParaRP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5578158"/>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’21</a:t>
                      </a:r>
                    </a:p>
                  </a:txBody>
                  <a:tcPr marL="82953" marR="82953" marT="41476" marB="41476" anchor="ctr">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12.5%</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47.8%</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53.4%</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75.6%</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61.1%</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65.8%</a:t>
                      </a:r>
                    </a:p>
                  </a:txBody>
                  <a:tcPr marL="6350" marR="6350" marT="6350" marB="0" anchor="b">
                    <a:lnL w="12700" cmpd="sng">
                      <a:noFill/>
                    </a:lnL>
                    <a:lnR w="12700" cmpd="sng">
                      <a:noFill/>
                    </a:lnR>
                    <a:lnT w="12700" cmpd="sng">
                      <a:noFill/>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282794"/>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’22</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9.9%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41.2%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64.1%</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85.9%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74.0%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50.8%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9288351"/>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’23</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34.0%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57.9%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84.5%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62.5%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44.8%</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6402401"/>
                  </a:ext>
                </a:extLst>
              </a:tr>
              <a:tr h="179952">
                <a:tc>
                  <a:txBody>
                    <a:bodyPr/>
                    <a:lstStyle/>
                    <a:p>
                      <a:pPr marL="0" algn="ctr" defTabSz="914400" rtl="0" eaLnBrk="1" fontAlgn="b" latinLnBrk="0" hangingPunct="1">
                        <a:buNone/>
                      </a:pPr>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’24</a:t>
                      </a:r>
                    </a:p>
                  </a:txBody>
                  <a:tcPr marL="0" marR="0" marT="0" marB="0"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32.9%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59.9%</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88.4%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57.4%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41.3%</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0855493"/>
                  </a:ext>
                </a:extLst>
              </a:tr>
              <a:tr h="179952">
                <a:tc>
                  <a:txBody>
                    <a:bodyPr/>
                    <a:lstStyle/>
                    <a:p>
                      <a:pPr marL="0" algn="ctr" defTabSz="914400" rtl="0" eaLnBrk="1" latinLnBrk="0" hangingPunct="1"/>
                      <a:r>
                        <a:rPr lang="es-MX" sz="800" b="0" kern="1200" dirty="0">
                          <a:solidFill>
                            <a:srgbClr val="004877"/>
                          </a:solidFill>
                          <a:latin typeface="Helvetica" panose="020B0604020202020204" pitchFamily="34" charset="0"/>
                          <a:ea typeface="Verdana" panose="020B0604030504040204" pitchFamily="34" charset="0"/>
                          <a:cs typeface="Helvetica" panose="020B0604020202020204" pitchFamily="34" charset="0"/>
                        </a:rPr>
                        <a:t>‘25*</a:t>
                      </a:r>
                    </a:p>
                  </a:txBody>
                  <a:tcPr marL="82953" marR="82953" marT="41476" marB="41476" anchor="ctr">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5.4%</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44.2%</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67.0%</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86.5%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58.5%</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buNone/>
                      </a:pPr>
                      <a:r>
                        <a:rPr lang="es-MX" sz="800" b="0" i="0" u="none" strike="noStrike" kern="1200" dirty="0">
                          <a:solidFill>
                            <a:srgbClr val="004877"/>
                          </a:solidFill>
                          <a:effectLst/>
                          <a:latin typeface="Arial" panose="020B0604020202020204" pitchFamily="34" charset="0"/>
                          <a:ea typeface="+mn-ea"/>
                          <a:cs typeface="+mn-cs"/>
                        </a:rPr>
                        <a:t>36.6%</a:t>
                      </a:r>
                    </a:p>
                  </a:txBody>
                  <a:tcPr marL="6350" marR="6350" marT="6350" marB="0" anchor="b">
                    <a:lnL w="12700" cmpd="sng">
                      <a:noFill/>
                    </a:lnL>
                    <a:lnR w="12700" cmpd="sng">
                      <a:noFill/>
                    </a:lnR>
                    <a:lnT w="12700" cap="flat" cmpd="sng" algn="ctr">
                      <a:no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699185"/>
                  </a:ext>
                </a:extLst>
              </a:tr>
            </a:tbl>
          </a:graphicData>
        </a:graphic>
      </p:graphicFrame>
    </p:spTree>
    <p:extLst>
      <p:ext uri="{BB962C8B-B14F-4D97-AF65-F5344CB8AC3E}">
        <p14:creationId xmlns:p14="http://schemas.microsoft.com/office/powerpoint/2010/main" val="3367958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D5429C-3E96-44D7-61C8-8CF11F3B2420}"/>
              </a:ext>
            </a:extLst>
          </p:cNvPr>
          <p:cNvSpPr/>
          <p:nvPr/>
        </p:nvSpPr>
        <p:spPr>
          <a:xfrm>
            <a:off x="0" y="1685"/>
            <a:ext cx="12192000" cy="6962456"/>
          </a:xfrm>
          <a:prstGeom prst="rect">
            <a:avLst/>
          </a:prstGeom>
          <a:solidFill>
            <a:srgbClr val="0A3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sz="970"/>
          </a:p>
        </p:txBody>
      </p:sp>
      <p:pic>
        <p:nvPicPr>
          <p:cNvPr id="3" name="Picture 2">
            <a:extLst>
              <a:ext uri="{FF2B5EF4-FFF2-40B4-BE49-F238E27FC236}">
                <a16:creationId xmlns:a16="http://schemas.microsoft.com/office/drawing/2014/main" id="{7ECFDBF2-EE2A-2721-2C09-837815E3EA51}"/>
              </a:ext>
            </a:extLst>
          </p:cNvPr>
          <p:cNvPicPr>
            <a:picLocks noChangeAspect="1"/>
          </p:cNvPicPr>
          <p:nvPr/>
        </p:nvPicPr>
        <p:blipFill>
          <a:blip r:embed="rId2"/>
          <a:stretch>
            <a:fillRect/>
          </a:stretch>
        </p:blipFill>
        <p:spPr>
          <a:xfrm>
            <a:off x="10263351" y="3795498"/>
            <a:ext cx="2341357" cy="3381104"/>
          </a:xfrm>
          <a:prstGeom prst="rect">
            <a:avLst/>
          </a:prstGeom>
        </p:spPr>
      </p:pic>
      <p:pic>
        <p:nvPicPr>
          <p:cNvPr id="5" name="Picture 4">
            <a:extLst>
              <a:ext uri="{FF2B5EF4-FFF2-40B4-BE49-F238E27FC236}">
                <a16:creationId xmlns:a16="http://schemas.microsoft.com/office/drawing/2014/main" id="{7836738E-EDF7-5FBF-01EF-61AE879EBD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4219" y="5925494"/>
            <a:ext cx="2045388" cy="314675"/>
          </a:xfrm>
          <a:prstGeom prst="rect">
            <a:avLst/>
          </a:prstGeom>
        </p:spPr>
      </p:pic>
      <p:pic>
        <p:nvPicPr>
          <p:cNvPr id="6" name="Picture 5">
            <a:extLst>
              <a:ext uri="{FF2B5EF4-FFF2-40B4-BE49-F238E27FC236}">
                <a16:creationId xmlns:a16="http://schemas.microsoft.com/office/drawing/2014/main" id="{30F1AC92-3815-70E2-CCAA-498D51685A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3592" y="2754540"/>
            <a:ext cx="3646422" cy="1099161"/>
          </a:xfrm>
          <a:prstGeom prst="rect">
            <a:avLst/>
          </a:prstGeom>
        </p:spPr>
      </p:pic>
      <p:sp>
        <p:nvSpPr>
          <p:cNvPr id="7" name="TextBox 6">
            <a:extLst>
              <a:ext uri="{FF2B5EF4-FFF2-40B4-BE49-F238E27FC236}">
                <a16:creationId xmlns:a16="http://schemas.microsoft.com/office/drawing/2014/main" id="{1668768D-2863-2513-53AE-0A8B479E3128}"/>
              </a:ext>
            </a:extLst>
          </p:cNvPr>
          <p:cNvSpPr txBox="1"/>
          <p:nvPr/>
        </p:nvSpPr>
        <p:spPr>
          <a:xfrm>
            <a:off x="3257776" y="4196983"/>
            <a:ext cx="5586282" cy="3919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726" tIns="27726" rIns="27726" bIns="27726" numCol="1" spcCol="38100" rtlCol="0" anchor="t">
            <a:spAutoFit/>
          </a:bodyPr>
          <a:lstStyle/>
          <a:p>
            <a:pPr algn="ctr"/>
            <a:r>
              <a:rPr lang="en-US" sz="2183" dirty="0">
                <a:solidFill>
                  <a:schemeClr val="bg1"/>
                </a:solidFill>
                <a:latin typeface="Helvetica" pitchFamily="2" charset="0"/>
              </a:rPr>
              <a:t>El </a:t>
            </a:r>
            <a:r>
              <a:rPr lang="en-US" sz="2183" dirty="0" err="1">
                <a:solidFill>
                  <a:schemeClr val="bg1"/>
                </a:solidFill>
                <a:latin typeface="Helvetica" pitchFamily="2" charset="0"/>
              </a:rPr>
              <a:t>financiamiento</a:t>
            </a:r>
            <a:r>
              <a:rPr lang="en-US" sz="2183" dirty="0">
                <a:solidFill>
                  <a:schemeClr val="bg1"/>
                </a:solidFill>
                <a:latin typeface="Helvetica" pitchFamily="2" charset="0"/>
              </a:rPr>
              <a:t> </a:t>
            </a:r>
            <a:r>
              <a:rPr lang="en-US" sz="2183" dirty="0" err="1">
                <a:solidFill>
                  <a:schemeClr val="bg1"/>
                </a:solidFill>
                <a:latin typeface="Helvetica" pitchFamily="2" charset="0"/>
              </a:rPr>
              <a:t>más</a:t>
            </a:r>
            <a:r>
              <a:rPr lang="en-US" sz="2183" dirty="0">
                <a:solidFill>
                  <a:schemeClr val="bg1"/>
                </a:solidFill>
                <a:latin typeface="Helvetica" pitchFamily="2" charset="0"/>
              </a:rPr>
              <a:t> </a:t>
            </a:r>
            <a:r>
              <a:rPr lang="en-US" sz="2183" dirty="0" err="1">
                <a:solidFill>
                  <a:schemeClr val="bg1"/>
                </a:solidFill>
                <a:latin typeface="Helvetica" pitchFamily="2" charset="0"/>
              </a:rPr>
              <a:t>fácil</a:t>
            </a:r>
            <a:r>
              <a:rPr lang="en-US" sz="2183" dirty="0">
                <a:solidFill>
                  <a:schemeClr val="bg1"/>
                </a:solidFill>
                <a:latin typeface="Helvetica" pitchFamily="2" charset="0"/>
              </a:rPr>
              <a:t>. </a:t>
            </a:r>
            <a:r>
              <a:rPr lang="en-US" sz="2183" b="1" dirty="0">
                <a:solidFill>
                  <a:srgbClr val="D1D66B"/>
                </a:solidFill>
                <a:latin typeface="Helvetica" pitchFamily="2" charset="0"/>
              </a:rPr>
              <a:t>Punto</a:t>
            </a:r>
            <a:r>
              <a:rPr lang="en-US" sz="2183" dirty="0">
                <a:solidFill>
                  <a:schemeClr val="bg1"/>
                </a:solidFill>
                <a:latin typeface="Helvetica" pitchFamily="2" charset="0"/>
              </a:rPr>
              <a:t>.</a:t>
            </a:r>
            <a:endParaRPr lang="en-MX" sz="2183" dirty="0">
              <a:solidFill>
                <a:schemeClr val="bg1"/>
              </a:solidFill>
              <a:latin typeface="Helvetica" pitchFamily="2" charset="0"/>
              <a:sym typeface="Arial"/>
            </a:endParaRPr>
          </a:p>
        </p:txBody>
      </p:sp>
    </p:spTree>
    <p:extLst>
      <p:ext uri="{BB962C8B-B14F-4D97-AF65-F5344CB8AC3E}">
        <p14:creationId xmlns:p14="http://schemas.microsoft.com/office/powerpoint/2010/main" val="378271299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4549</TotalTime>
  <Words>2382</Words>
  <Application>Microsoft Office PowerPoint</Application>
  <PresentationFormat>Panorámica</PresentationFormat>
  <Paragraphs>754</Paragraphs>
  <Slides>8</Slides>
  <Notes>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Aptos</vt:lpstr>
      <vt:lpstr>Aptos Display</vt:lpstr>
      <vt:lpstr>Arial</vt:lpstr>
      <vt:lpstr>Helvetica</vt:lpstr>
      <vt:lpstr>Verdana</vt:lpstr>
      <vt:lpstr>Tema de Office</vt:lpstr>
      <vt:lpstr>Análisis de productividad LMM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Agustín Ruiz (Engen Capital)</dc:creator>
  <cp:lastModifiedBy>Roberto Zacatenco (Engen Capital)</cp:lastModifiedBy>
  <cp:revision>8</cp:revision>
  <cp:lastPrinted>2025-12-16T14:24:21Z</cp:lastPrinted>
  <dcterms:created xsi:type="dcterms:W3CDTF">2025-12-16T00:37:48Z</dcterms:created>
  <dcterms:modified xsi:type="dcterms:W3CDTF">2026-03-04T19:42:37Z</dcterms:modified>
</cp:coreProperties>
</file>