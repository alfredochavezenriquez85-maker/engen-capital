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notesMasterIdLst>
    <p:notesMasterId r:id="rId13"/>
  </p:notesMasterIdLst>
  <p:sldIdLst>
    <p:sldId id="2280" r:id="rId3"/>
    <p:sldId id="2283" r:id="rId4"/>
    <p:sldId id="2281" r:id="rId5"/>
    <p:sldId id="2292" r:id="rId6"/>
    <p:sldId id="1650" r:id="rId7"/>
    <p:sldId id="2293" r:id="rId8"/>
    <p:sldId id="2294" r:id="rId9"/>
    <p:sldId id="2290" r:id="rId10"/>
    <p:sldId id="2289" r:id="rId11"/>
    <p:sldId id="2291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77"/>
    <a:srgbClr val="3BD5AF"/>
    <a:srgbClr val="0037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39B38-0BB0-4439-85B1-01F5E94FEEB7}" v="13" dt="2026-02-23T06:04:50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3313A-0B82-4AF6-9E67-DE353D45933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D0D72-D2CF-485B-8B73-43872CA16E3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6952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CDF8D7-D88B-C249-B7AD-D4EE6CAFE34A}" type="slidenum">
              <a:rPr kumimoji="0" lang="en-MX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MX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88125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0218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2C289E-6EFD-A744-B254-F45262371556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00218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551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D02E8-14CB-E9A7-83FE-FB2D10D53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8CF711-7724-E11C-1976-21C161C3D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003460-85C7-A453-3F84-B8FDF2DD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61AEE2-50E5-313B-1798-43250A83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C966D3-64B4-E892-FACF-7102313E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212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444AA-559D-12A9-9E0C-653F8770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96B032-B57B-200D-46F4-4A806FDD4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C0C6C0-9B3F-69B8-170A-E5CC2CE6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396239-F5B8-A2A3-05C6-ED0E2CD2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108483-3589-5CB6-2BC5-11CE158B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94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C0DBB-AB01-4896-E125-7C03D332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FE50AB-F4CB-E62A-E945-79604EA18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8ED550-D120-EAAC-67E7-CDC4DE7F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CB354D-F9D1-D8DF-4029-A00585BB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690BDA-045B-85F5-A2DB-D27CC21B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2887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24D19-D1AC-51C0-10A5-5E079236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C141A7-C14F-E608-4509-3806A612A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DD65F6-9FF6-C4F1-0FD9-BA83EF93B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0B53DC-CDE7-D22A-B37D-1EB2BC95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65D525-5142-B0B0-D7E5-F9BC4BE8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15D656-1C10-9891-FECD-F6AD8813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496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E9A5B-AE91-87C0-214D-5C1EE85E6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32D409-684B-6DFF-B9AB-DC0A28B66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C0E1A7-4930-6364-8909-B548F278E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59F6C43-62F4-2E37-47E6-2A76A1C99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00900B4-D457-FA61-DBBB-4886CB025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DB7EDF2-B775-ACC4-5CBE-C16A9BBFE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097900-C7C9-1F64-9DD8-F3C61DF9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8790859-398C-789D-D5C3-CC1E3F94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197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A3AA3-4C50-6E41-58FB-994CF67C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C69663-1B20-0BCB-6B55-A2371BC4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563FD8-E124-D795-5481-B808885F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F8A65B-5B46-3734-25E3-2E1F1F47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705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9F8744-9AA9-2A6A-6D92-88142AF3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DC44F8-7799-8E86-6242-D679EAE3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F3038C-D63A-2F5F-57AA-57AFA14A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481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0CC57-13A9-FA63-813C-76E1FED1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3D525-08FA-9723-CC1C-0CD3919FB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7EC617-9331-7820-46CC-D8578E561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726B65-CB41-0FE2-B914-82E343A7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1F3315-78D8-177F-BFC2-8807781F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C1DF19-ED81-977E-6C03-D2A4AE6F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193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F0946-D20D-99E1-02C3-E0656DCE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4794DD-6124-0071-DD20-59B1E6532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12A4CB-B1CF-F068-A115-B5779DC8B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C7083F-B297-5BFA-F577-70E67ED4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D2570B-37AC-691F-BD68-034D7ADC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784E55-91A3-C650-3ED8-0A274F5E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33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210DE-0813-3361-1CE7-8DF7AEC5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829541-D678-AE49-CABE-E10CD9906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EC6AEA-EF76-5EC4-F0F2-DB8E500A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0BC72B-531B-65F6-9A3B-E30DF814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F88451-3525-55B1-979D-A5EB0A40A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64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0862B1-EF03-72B1-AC0D-401BD5A01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9F5C01-2F1A-E05E-B06D-42705CB9E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1ADD8C-AA9E-653F-07AC-1AA242E6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CD59E5-9209-A7AF-583E-A704E2A4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9B19DF-ED6A-B8AC-784A-0FCE3953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9269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Índic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338776" y="3013226"/>
            <a:ext cx="8773932" cy="3403093"/>
          </a:xfrm>
        </p:spPr>
        <p:txBody>
          <a:bodyPr>
            <a:normAutofit/>
          </a:bodyPr>
          <a:lstStyle>
            <a:lvl1pPr marL="311079" indent="-311079" algn="l">
              <a:buFont typeface="Arial" charset="0"/>
              <a:buChar char="•"/>
              <a:defRPr sz="1633" b="0" i="0" baseline="0">
                <a:solidFill>
                  <a:srgbClr val="004877"/>
                </a:solidFill>
                <a:latin typeface="Helvetica" pitchFamily="2" charset="0"/>
                <a:ea typeface="Verdana" charset="0"/>
                <a:cs typeface="Verdana" charset="0"/>
              </a:defRPr>
            </a:lvl1pPr>
            <a:lvl2pPr marL="453180" indent="0" algn="ctr">
              <a:buNone/>
              <a:defRPr sz="1982"/>
            </a:lvl2pPr>
            <a:lvl3pPr marL="906359" indent="0" algn="ctr">
              <a:buNone/>
              <a:defRPr sz="1784"/>
            </a:lvl3pPr>
            <a:lvl4pPr marL="1359539" indent="0" algn="ctr">
              <a:buNone/>
              <a:defRPr sz="1586"/>
            </a:lvl4pPr>
            <a:lvl5pPr marL="1812719" indent="0" algn="ctr">
              <a:buNone/>
              <a:defRPr sz="1586"/>
            </a:lvl5pPr>
            <a:lvl6pPr marL="2265899" indent="0" algn="ctr">
              <a:buNone/>
              <a:defRPr sz="1586"/>
            </a:lvl6pPr>
            <a:lvl7pPr marL="2719078" indent="0" algn="ctr">
              <a:buNone/>
              <a:defRPr sz="1586"/>
            </a:lvl7pPr>
            <a:lvl8pPr marL="3172258" indent="0" algn="ctr">
              <a:buNone/>
              <a:defRPr sz="1586"/>
            </a:lvl8pPr>
            <a:lvl9pPr marL="3625438" indent="0" algn="ctr">
              <a:buNone/>
              <a:defRPr sz="1586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66422" y="773833"/>
            <a:ext cx="9001077" cy="786937"/>
          </a:xfrm>
        </p:spPr>
        <p:txBody>
          <a:bodyPr anchor="b">
            <a:noAutofit/>
          </a:bodyPr>
          <a:lstStyle>
            <a:lvl1pPr algn="l">
              <a:defRPr sz="2722" b="0" i="0" baseline="0">
                <a:solidFill>
                  <a:srgbClr val="EE7600"/>
                </a:solidFill>
                <a:latin typeface="Helvetica" pitchFamily="2" charset="0"/>
                <a:ea typeface="Verdana" charset="0"/>
                <a:cs typeface="Verdan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0"/>
          </p:nvPr>
        </p:nvSpPr>
        <p:spPr>
          <a:xfrm>
            <a:off x="466423" y="2468054"/>
            <a:ext cx="8369485" cy="495040"/>
          </a:xfrm>
        </p:spPr>
        <p:txBody>
          <a:bodyPr>
            <a:noAutofit/>
          </a:bodyPr>
          <a:lstStyle>
            <a:lvl1pPr marL="0" indent="0">
              <a:buNone/>
              <a:defRPr sz="3266" b="1">
                <a:solidFill>
                  <a:srgbClr val="40D5AE"/>
                </a:solidFill>
                <a:latin typeface="Helvetica" pitchFamily="2" charset="0"/>
                <a:ea typeface="Verdana" charset="0"/>
                <a:cs typeface="Verdana" charset="0"/>
              </a:defRPr>
            </a:lvl1pPr>
            <a:lvl2pPr marL="453180" indent="0">
              <a:buNone/>
              <a:defRPr/>
            </a:lvl2pPr>
            <a:lvl3pPr marL="906360" indent="0">
              <a:buNone/>
              <a:defRPr/>
            </a:lvl3pPr>
            <a:lvl4pPr marL="1359540" indent="0">
              <a:buNone/>
              <a:defRPr/>
            </a:lvl4pPr>
            <a:lvl5pPr marL="1812719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DA951E-4BBB-1C47-B34B-92F279F82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5344" y="365445"/>
            <a:ext cx="1497680" cy="442805"/>
          </a:xfrm>
          <a:prstGeom prst="rect">
            <a:avLst/>
          </a:prstGeom>
        </p:spPr>
      </p:pic>
      <p:sp>
        <p:nvSpPr>
          <p:cNvPr id="12" name="Round Single Corner Rectangle 11">
            <a:extLst>
              <a:ext uri="{FF2B5EF4-FFF2-40B4-BE49-F238E27FC236}">
                <a16:creationId xmlns:a16="http://schemas.microsoft.com/office/drawing/2014/main" id="{00E2D651-FA98-5546-BBAC-2323A948BBE9}"/>
              </a:ext>
            </a:extLst>
          </p:cNvPr>
          <p:cNvSpPr/>
          <p:nvPr userDrawn="1"/>
        </p:nvSpPr>
        <p:spPr>
          <a:xfrm>
            <a:off x="0" y="6421230"/>
            <a:ext cx="11568559" cy="436771"/>
          </a:xfrm>
          <a:prstGeom prst="round1Rect">
            <a:avLst>
              <a:gd name="adj" fmla="val 50000"/>
            </a:avLst>
          </a:prstGeom>
          <a:solidFill>
            <a:srgbClr val="0037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3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AC33B8-508C-D946-9838-7DBE2460E8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850582" y="2263078"/>
            <a:ext cx="2341419" cy="462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80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41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68" b="0" i="0">
                <a:solidFill>
                  <a:srgbClr val="D1D66B"/>
                </a:solidFill>
                <a:latin typeface="Libre Franklin Light"/>
                <a:cs typeface="Libre Franklin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14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95" b="1" i="0">
                <a:solidFill>
                  <a:schemeClr val="bg1"/>
                </a:solidFill>
                <a:latin typeface="Libre Franklin"/>
                <a:cs typeface="Libre Frankli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6797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 not remove" hidden="1">
            <a:extLst>
              <a:ext uri="{FF2B5EF4-FFF2-40B4-BE49-F238E27FC236}">
                <a16:creationId xmlns:a16="http://schemas.microsoft.com/office/drawing/2014/main" id="{F33FCEC8-516D-A82A-BC14-74779018678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7702" cy="7701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9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73" y="91417"/>
            <a:ext cx="5927505" cy="410562"/>
          </a:xfrm>
        </p:spPr>
        <p:txBody>
          <a:bodyPr lIns="0" tIns="0" rIns="0" bIns="0"/>
          <a:lstStyle>
            <a:lvl1pPr>
              <a:defRPr sz="2668" b="0" i="0">
                <a:solidFill>
                  <a:srgbClr val="D1D66B"/>
                </a:solidFill>
                <a:latin typeface="Libre Franklin Light"/>
                <a:cs typeface="Libre Franklin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82" y="1467852"/>
            <a:ext cx="6759898" cy="214674"/>
          </a:xfrm>
        </p:spPr>
        <p:txBody>
          <a:bodyPr lIns="0" tIns="0" rIns="0" bIns="0"/>
          <a:lstStyle>
            <a:lvl1pPr>
              <a:defRPr sz="1395" b="1" i="0">
                <a:solidFill>
                  <a:schemeClr val="bg1"/>
                </a:solidFill>
                <a:latin typeface="Libre Franklin"/>
                <a:cs typeface="Libre Frankli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5609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73" y="91417"/>
            <a:ext cx="5927505" cy="410562"/>
          </a:xfrm>
        </p:spPr>
        <p:txBody>
          <a:bodyPr lIns="0" tIns="0" rIns="0" bIns="0"/>
          <a:lstStyle>
            <a:lvl1pPr>
              <a:defRPr sz="2668" b="0" i="0">
                <a:solidFill>
                  <a:srgbClr val="D1D66B"/>
                </a:solidFill>
                <a:latin typeface="Libre Franklin Light"/>
                <a:cs typeface="Libre Franklin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3943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3F494BF6-36DE-F5F0-F229-C2E2CE02612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7702" cy="7701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73" y="91417"/>
            <a:ext cx="5927505" cy="410562"/>
          </a:xfrm>
        </p:spPr>
        <p:txBody>
          <a:bodyPr lIns="0" tIns="0" rIns="0" bIns="0"/>
          <a:lstStyle>
            <a:lvl1pPr>
              <a:defRPr sz="2668" b="0" i="0">
                <a:solidFill>
                  <a:srgbClr val="D1D66B"/>
                </a:solidFill>
                <a:latin typeface="Libre Franklin Light"/>
                <a:cs typeface="Libre Franklin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10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702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15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44F5F7-D00F-0FAE-3BAF-54697928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4663F1-CEA2-1A4C-8581-D155F3F3B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06D05D-8523-70B6-A3ED-84F9F5A90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78905F-61A1-466E-A019-88A3A0D0A9E0}" type="datetimeFigureOut">
              <a:rPr lang="es-MX" smtClean="0"/>
              <a:t>04/03/2026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157FD3-EAAA-4C66-0225-E9BC066BD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A85633-9A77-5D10-4C83-4B218EC82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CDA04-3A92-40CF-9B4E-88C1AF807C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8828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987D029-4027-82B9-13F5-3C7F3BEB75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902316091"/>
              </p:ext>
            </p:extLst>
          </p:nvPr>
        </p:nvGraphicFramePr>
        <p:xfrm>
          <a:off x="963" y="963"/>
          <a:ext cx="963" cy="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87D029-4027-82B9-13F5-3C7F3BEB75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63" y="963"/>
                        <a:ext cx="963" cy="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73" y="91417"/>
            <a:ext cx="5927505" cy="6746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D1D66B"/>
                </a:solidFill>
                <a:latin typeface="Libre Franklin Light"/>
                <a:cs typeface="Libre Franklin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82" y="1467852"/>
            <a:ext cx="6759898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bg1"/>
                </a:solidFill>
                <a:latin typeface="Libre Franklin"/>
                <a:cs typeface="Libre Frankli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049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5" Type="http://schemas.openxmlformats.org/officeDocument/2006/relationships/image" Target="../media/image2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319" y="0"/>
            <a:ext cx="12188449" cy="6857615"/>
          </a:xfrm>
          <a:custGeom>
            <a:avLst/>
            <a:gdLst/>
            <a:ahLst/>
            <a:cxnLst/>
            <a:rect l="l" t="t" r="r" b="b"/>
            <a:pathLst>
              <a:path w="20099655" h="11308715">
                <a:moveTo>
                  <a:pt x="20099073" y="0"/>
                </a:moveTo>
                <a:lnTo>
                  <a:pt x="0" y="0"/>
                </a:lnTo>
                <a:lnTo>
                  <a:pt x="0" y="11308556"/>
                </a:lnTo>
                <a:lnTo>
                  <a:pt x="20099073" y="11308556"/>
                </a:lnTo>
                <a:lnTo>
                  <a:pt x="20099073" y="0"/>
                </a:lnTo>
                <a:close/>
              </a:path>
            </a:pathLst>
          </a:custGeom>
          <a:solidFill>
            <a:srgbClr val="003763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60C0BE4-2462-BF49-941D-B8236A9D2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19" y="0"/>
            <a:ext cx="8397551" cy="6858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321A304-903B-6947-B67D-2388263A8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86" y="1839196"/>
            <a:ext cx="10607493" cy="50184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EC7B40-F667-3D4E-B07C-792B511125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787" y="1837375"/>
            <a:ext cx="10611343" cy="50202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58F971-D061-AB49-9CE0-AAA7E21883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814" y="0"/>
            <a:ext cx="2179465" cy="1085882"/>
          </a:xfrm>
          <a:prstGeom prst="rect">
            <a:avLst/>
          </a:prstGeom>
        </p:spPr>
      </p:pic>
      <p:sp>
        <p:nvSpPr>
          <p:cNvPr id="10" name="object 18">
            <a:extLst>
              <a:ext uri="{FF2B5EF4-FFF2-40B4-BE49-F238E27FC236}">
                <a16:creationId xmlns:a16="http://schemas.microsoft.com/office/drawing/2014/main" id="{5930477E-C369-054F-A432-D717F33DA3AA}"/>
              </a:ext>
            </a:extLst>
          </p:cNvPr>
          <p:cNvSpPr txBox="1"/>
          <p:nvPr/>
        </p:nvSpPr>
        <p:spPr>
          <a:xfrm>
            <a:off x="428" y="4356631"/>
            <a:ext cx="6800422" cy="75426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algn="r" defTabSz="554492"/>
            <a:r>
              <a:rPr lang="en-US" sz="4851" b="1" kern="0" dirty="0">
                <a:solidFill>
                  <a:srgbClr val="003763"/>
                </a:solidFill>
                <a:latin typeface="Libre Franklin Light" pitchFamily="2" charset="77"/>
              </a:rPr>
              <a:t>Ritmo y </a:t>
            </a:r>
            <a:r>
              <a:rPr lang="en-US" sz="4851" b="1" kern="0" dirty="0" err="1">
                <a:solidFill>
                  <a:srgbClr val="003763"/>
                </a:solidFill>
                <a:latin typeface="Libre Franklin Light" pitchFamily="2" charset="77"/>
              </a:rPr>
              <a:t>Productividad</a:t>
            </a:r>
            <a:endParaRPr lang="en-US" sz="4851" kern="0" dirty="0">
              <a:solidFill>
                <a:srgbClr val="003763"/>
              </a:solidFill>
              <a:latin typeface="Libre Franklin Light" pitchFamily="2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A404833-7690-F14E-8127-CA4CED88540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533" y="4070097"/>
            <a:ext cx="2792432" cy="29967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8D8E6E-B5CC-D745-A821-C73736F9B7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34"/>
          <a:stretch>
            <a:fillRect/>
          </a:stretch>
        </p:blipFill>
        <p:spPr>
          <a:xfrm>
            <a:off x="483068" y="725281"/>
            <a:ext cx="5390904" cy="2269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560CA-25A3-B34C-C40E-3209AF2D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3E3AE599-0B98-B878-625A-858596A15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0"/>
            <a:ext cx="8733264" cy="1137676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D8E9023B-4DA2-7199-973C-B9EE4F284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438" y="19069"/>
            <a:ext cx="5238962" cy="1047743"/>
          </a:xfrm>
          <a:prstGeom prst="rect">
            <a:avLst/>
          </a:prstGeom>
        </p:spPr>
        <p:txBody>
          <a:bodyPr vert="horz" wrap="square" lIns="0" tIns="50058" rIns="0" bIns="0" rtlCol="0" anchor="ctr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</a:rPr>
              <a:t>Productividad</a:t>
            </a:r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</a:rPr>
              <a:t> LMM </a:t>
            </a:r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</a:rPr>
              <a:t>Iniciativa</a:t>
            </a:r>
            <a:endParaRPr sz="3600" b="1" dirty="0">
              <a:solidFill>
                <a:schemeClr val="bg1"/>
              </a:solidFill>
              <a:latin typeface="Libre Franklin"/>
              <a:cs typeface="Libre Franklin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31815D3-058F-A612-FC31-AB64C57565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041" y="-113445"/>
            <a:ext cx="1205312" cy="12935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DD8FCC8-9E74-FD40-14FF-95D1435416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451" y="0"/>
            <a:ext cx="2179465" cy="1085882"/>
          </a:xfrm>
          <a:prstGeom prst="rect">
            <a:avLst/>
          </a:prstGeom>
        </p:spPr>
      </p:pic>
      <p:sp>
        <p:nvSpPr>
          <p:cNvPr id="4" name="TextBox 46">
            <a:extLst>
              <a:ext uri="{FF2B5EF4-FFF2-40B4-BE49-F238E27FC236}">
                <a16:creationId xmlns:a16="http://schemas.microsoft.com/office/drawing/2014/main" id="{21C6AC19-0E28-CC0B-2917-5EF5ECD51780}"/>
              </a:ext>
            </a:extLst>
          </p:cNvPr>
          <p:cNvSpPr txBox="1"/>
          <p:nvPr/>
        </p:nvSpPr>
        <p:spPr>
          <a:xfrm>
            <a:off x="772023" y="1409220"/>
            <a:ext cx="2695094" cy="307777"/>
          </a:xfrm>
          <a:prstGeom prst="rect">
            <a:avLst/>
          </a:prstGeom>
          <a:solidFill>
            <a:srgbClr val="003764"/>
          </a:solidFill>
        </p:spPr>
        <p:txBody>
          <a:bodyPr wrap="square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u="none" strike="noStrike" cap="none" spc="0" normalizeH="0" baseline="0">
                <a:ln>
                  <a:noFill/>
                </a:ln>
                <a:solidFill>
                  <a:srgbClr val="004877"/>
                </a:solidFill>
                <a:effectLst/>
                <a:uLnTx/>
                <a:uFillTx/>
                <a:latin typeface="Verdana"/>
              </a:defRPr>
            </a:lvl1pPr>
          </a:lstStyle>
          <a:p>
            <a:pPr defTabSz="829544">
              <a:defRPr/>
            </a:pPr>
            <a:r>
              <a:rPr lang="es-MX" sz="1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Enfoque per </a:t>
            </a:r>
            <a:r>
              <a:rPr lang="es-MX" sz="14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capita</a:t>
            </a:r>
            <a:endParaRPr lang="es-MX" sz="1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6">
            <a:extLst>
              <a:ext uri="{FF2B5EF4-FFF2-40B4-BE49-F238E27FC236}">
                <a16:creationId xmlns:a16="http://schemas.microsoft.com/office/drawing/2014/main" id="{1294D9D5-CD38-0688-78DD-9B4E437401D6}"/>
              </a:ext>
            </a:extLst>
          </p:cNvPr>
          <p:cNvSpPr txBox="1"/>
          <p:nvPr/>
        </p:nvSpPr>
        <p:spPr>
          <a:xfrm>
            <a:off x="772023" y="1655826"/>
            <a:ext cx="2695093" cy="307777"/>
          </a:xfrm>
          <a:prstGeom prst="rect">
            <a:avLst/>
          </a:prstGeom>
          <a:solidFill>
            <a:srgbClr val="33D5AD"/>
          </a:solidFill>
        </p:spPr>
        <p:txBody>
          <a:bodyPr wrap="square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u="none" strike="noStrike" cap="none" spc="0" normalizeH="0" baseline="0">
                <a:ln>
                  <a:noFill/>
                </a:ln>
                <a:solidFill>
                  <a:srgbClr val="004877"/>
                </a:solidFill>
                <a:effectLst/>
                <a:uLnTx/>
                <a:uFillTx/>
                <a:latin typeface="Verdana"/>
              </a:defRPr>
            </a:lvl1pPr>
          </a:lstStyle>
          <a:p>
            <a:pPr defTabSz="829544">
              <a:defRPr/>
            </a:pPr>
            <a:r>
              <a:rPr lang="es-MX" sz="1400" b="1" dirty="0">
                <a:latin typeface="Helvetica" panose="020B0604020202020204" pitchFamily="34" charset="0"/>
                <a:cs typeface="Helvetica" panose="020B0604020202020204" pitchFamily="34" charset="0"/>
              </a:rPr>
              <a:t>LMM Iniciativa</a:t>
            </a:r>
          </a:p>
        </p:txBody>
      </p:sp>
      <p:graphicFrame>
        <p:nvGraphicFramePr>
          <p:cNvPr id="6" name="Table 39">
            <a:extLst>
              <a:ext uri="{FF2B5EF4-FFF2-40B4-BE49-F238E27FC236}">
                <a16:creationId xmlns:a16="http://schemas.microsoft.com/office/drawing/2014/main" id="{DC5E40D5-38AA-BBA8-3230-B7A21340B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052265"/>
              </p:ext>
            </p:extLst>
          </p:nvPr>
        </p:nvGraphicFramePr>
        <p:xfrm>
          <a:off x="772024" y="2070700"/>
          <a:ext cx="5872615" cy="2148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221">
                  <a:extLst>
                    <a:ext uri="{9D8B030D-6E8A-4147-A177-3AD203B41FA5}">
                      <a16:colId xmlns:a16="http://schemas.microsoft.com/office/drawing/2014/main" val="3292533045"/>
                    </a:ext>
                  </a:extLst>
                </a:gridCol>
                <a:gridCol w="589631">
                  <a:extLst>
                    <a:ext uri="{9D8B030D-6E8A-4147-A177-3AD203B41FA5}">
                      <a16:colId xmlns:a16="http://schemas.microsoft.com/office/drawing/2014/main" val="516142936"/>
                    </a:ext>
                  </a:extLst>
                </a:gridCol>
                <a:gridCol w="589631">
                  <a:extLst>
                    <a:ext uri="{9D8B030D-6E8A-4147-A177-3AD203B41FA5}">
                      <a16:colId xmlns:a16="http://schemas.microsoft.com/office/drawing/2014/main" val="3569172254"/>
                    </a:ext>
                  </a:extLst>
                </a:gridCol>
                <a:gridCol w="589631">
                  <a:extLst>
                    <a:ext uri="{9D8B030D-6E8A-4147-A177-3AD203B41FA5}">
                      <a16:colId xmlns:a16="http://schemas.microsoft.com/office/drawing/2014/main" val="223242589"/>
                    </a:ext>
                  </a:extLst>
                </a:gridCol>
                <a:gridCol w="589631">
                  <a:extLst>
                    <a:ext uri="{9D8B030D-6E8A-4147-A177-3AD203B41FA5}">
                      <a16:colId xmlns:a16="http://schemas.microsoft.com/office/drawing/2014/main" val="2740267779"/>
                    </a:ext>
                  </a:extLst>
                </a:gridCol>
                <a:gridCol w="759290">
                  <a:extLst>
                    <a:ext uri="{9D8B030D-6E8A-4147-A177-3AD203B41FA5}">
                      <a16:colId xmlns:a16="http://schemas.microsoft.com/office/drawing/2014/main" val="1338503036"/>
                    </a:ext>
                  </a:extLst>
                </a:gridCol>
                <a:gridCol w="759290">
                  <a:extLst>
                    <a:ext uri="{9D8B030D-6E8A-4147-A177-3AD203B41FA5}">
                      <a16:colId xmlns:a16="http://schemas.microsoft.com/office/drawing/2014/main" val="2588899552"/>
                    </a:ext>
                  </a:extLst>
                </a:gridCol>
                <a:gridCol w="759290">
                  <a:extLst>
                    <a:ext uri="{9D8B030D-6E8A-4147-A177-3AD203B41FA5}">
                      <a16:colId xmlns:a16="http://schemas.microsoft.com/office/drawing/2014/main" val="2140089295"/>
                    </a:ext>
                  </a:extLst>
                </a:gridCol>
              </a:tblGrid>
              <a:tr h="330496">
                <a:tc>
                  <a:txBody>
                    <a:bodyPr/>
                    <a:lstStyle/>
                    <a:p>
                      <a:pPr algn="ctr"/>
                      <a:endParaRPr lang="es-MX" sz="1200" b="1" dirty="0">
                        <a:solidFill>
                          <a:srgbClr val="004877"/>
                        </a:solidFill>
                        <a:latin typeface="Helvetica" panose="020B0604020202020204" pitchFamily="34" charset="0"/>
                        <a:ea typeface="Verdana" panose="020B0604030504040204" pitchFamily="34" charset="0"/>
                        <a:cs typeface="Helvetica" panose="020B0604020202020204" pitchFamily="34" charset="0"/>
                      </a:endParaRPr>
                    </a:p>
                  </a:txBody>
                  <a:tcPr marL="82953" marR="82953" marT="41476" marB="4147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‘20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‘21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‘22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‘23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‘24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‘25 (</a:t>
                      </a:r>
                      <a:r>
                        <a:rPr lang="es-MX" sz="1200" b="1" i="0" u="none" strike="noStrike" dirty="0" err="1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Est</a:t>
                      </a:r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’26 (</a:t>
                      </a:r>
                      <a:r>
                        <a:rPr lang="es-MX" sz="1200" b="1" i="0" u="none" strike="noStrike" dirty="0" err="1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Bgt</a:t>
                      </a:r>
                      <a:r>
                        <a:rPr lang="es-MX" sz="1200" b="1" i="0" u="none" strike="noStrike" dirty="0">
                          <a:solidFill>
                            <a:srgbClr val="004877"/>
                          </a:solidFill>
                          <a:effectLst/>
                          <a:latin typeface="Helvetica" panose="020B06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578158"/>
                  </a:ext>
                </a:extLst>
              </a:tr>
              <a:tr h="330496">
                <a:tc>
                  <a:txBody>
                    <a:bodyPr/>
                    <a:lstStyle/>
                    <a:p>
                      <a:pPr algn="ctr"/>
                      <a:r>
                        <a:rPr lang="es-MX" sz="1200" b="0" dirty="0" err="1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Vol</a:t>
                      </a:r>
                      <a:r>
                        <a:rPr lang="es-MX" sz="1200" b="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 LMM Iniciativa</a:t>
                      </a:r>
                    </a:p>
                  </a:txBody>
                  <a:tcPr marL="82953" marR="82953" marT="41476" marB="4147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$88.1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$406.7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$834.6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</a:rPr>
                        <a:t>$1,053.7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</a:rPr>
                        <a:t>$1,164.3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</a:rPr>
                        <a:t>$1,021.1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</a:rPr>
                        <a:t>$1,176.0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530674"/>
                  </a:ext>
                </a:extLst>
              </a:tr>
              <a:tr h="393358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0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# vendedores &gt; 6 meses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288351"/>
                  </a:ext>
                </a:extLst>
              </a:tr>
              <a:tr h="527175">
                <a:tc>
                  <a:txBody>
                    <a:bodyPr/>
                    <a:lstStyle/>
                    <a:p>
                      <a:pPr algn="ctr"/>
                      <a:r>
                        <a:rPr lang="es-MX" sz="1200" b="1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Volumen per </a:t>
                      </a:r>
                      <a:r>
                        <a:rPr lang="es-MX" sz="1200" b="1" dirty="0" err="1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capita</a:t>
                      </a:r>
                      <a:endParaRPr lang="es-MX" sz="1200" b="1" dirty="0">
                        <a:solidFill>
                          <a:srgbClr val="004877"/>
                        </a:solidFill>
                        <a:latin typeface="Helvetica" panose="020B0604020202020204" pitchFamily="34" charset="0"/>
                        <a:ea typeface="Verdana" panose="020B0604030504040204" pitchFamily="34" charset="0"/>
                        <a:cs typeface="Helvetica" panose="020B0604020202020204" pitchFamily="34" charset="0"/>
                      </a:endParaRPr>
                    </a:p>
                  </a:txBody>
                  <a:tcPr marL="82953" marR="82953" marT="41476" marB="41476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$11.0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$33.9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$33.4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$40.5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$41.6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$46.4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0" i="0" u="none" strike="noStrike" kern="1200" dirty="0">
                          <a:solidFill>
                            <a:srgbClr val="004877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$53.5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56658"/>
                  </a:ext>
                </a:extLst>
              </a:tr>
              <a:tr h="33049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1200" b="1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%  Crecimiento</a:t>
                      </a:r>
                    </a:p>
                  </a:txBody>
                  <a:tcPr marL="82953" marR="82953" marT="41476" marB="41476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1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1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208%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1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-2%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1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21%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1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3%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1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12%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MX" sz="1200" b="1" kern="1200" dirty="0">
                          <a:solidFill>
                            <a:srgbClr val="004877"/>
                          </a:solidFill>
                          <a:latin typeface="Helvetica" panose="020B0604020202020204" pitchFamily="34" charset="0"/>
                          <a:ea typeface="Verdana" panose="020B0604030504040204" pitchFamily="34" charset="0"/>
                          <a:cs typeface="Helvetica" panose="020B0604020202020204" pitchFamily="34" charset="0"/>
                        </a:rPr>
                        <a:t>15%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755489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3CD66D6E-ACC9-31E5-863A-55836EA4ACC8}"/>
              </a:ext>
            </a:extLst>
          </p:cNvPr>
          <p:cNvSpPr txBox="1"/>
          <p:nvPr/>
        </p:nvSpPr>
        <p:spPr>
          <a:xfrm>
            <a:off x="772023" y="4421961"/>
            <a:ext cx="10434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MX" dirty="0"/>
              <a:t>Ritmo Operativo.  En industrias y Estados done hemos tenido mejores resultados, </a:t>
            </a:r>
            <a:r>
              <a:rPr lang="es-MX" dirty="0" err="1"/>
              <a:t>recontactar</a:t>
            </a:r>
            <a:r>
              <a:rPr lang="es-MX" dirty="0"/>
              <a:t> a prospectos con los que no cerramos pero que hubo una propuesta ganada, enfoques de giras con </a:t>
            </a:r>
            <a:r>
              <a:rPr lang="es-MX" dirty="0" err="1"/>
              <a:t>TLs</a:t>
            </a:r>
            <a:endParaRPr lang="es-MX" dirty="0"/>
          </a:p>
          <a:p>
            <a:pPr marL="285750" indent="-285750">
              <a:buFontTx/>
              <a:buChar char="-"/>
            </a:pPr>
            <a:r>
              <a:rPr lang="es-MX" dirty="0"/>
              <a:t>Disciplina de ESC buscando incrementar ticket promedio, apoyado en data de tipos de industrias y </a:t>
            </a:r>
            <a:r>
              <a:rPr lang="es-MX" dirty="0" err="1"/>
              <a:t>vendors</a:t>
            </a:r>
            <a:endParaRPr lang="es-MX" dirty="0"/>
          </a:p>
          <a:p>
            <a:pPr marL="285750" indent="-285750">
              <a:buFontTx/>
              <a:buChar char="-"/>
            </a:pPr>
            <a:r>
              <a:rPr lang="es-MX" dirty="0"/>
              <a:t>Visitas periódicas a clientes existentes</a:t>
            </a:r>
          </a:p>
          <a:p>
            <a:pPr marL="285750" indent="-285750">
              <a:buFontTx/>
              <a:buChar char="-"/>
            </a:pPr>
            <a:r>
              <a:rPr lang="es-MX" dirty="0"/>
              <a:t>Citas ancla y de ahí generar citas en la zona</a:t>
            </a:r>
          </a:p>
          <a:p>
            <a:pPr marL="285750" indent="-285750">
              <a:buFontTx/>
              <a:buChar char="-"/>
            </a:pPr>
            <a:r>
              <a:rPr lang="es-MX" dirty="0"/>
              <a:t>Asistencia a las Expos más importantes por Región </a:t>
            </a:r>
          </a:p>
        </p:txBody>
      </p:sp>
    </p:spTree>
    <p:extLst>
      <p:ext uri="{BB962C8B-B14F-4D97-AF65-F5344CB8AC3E}">
        <p14:creationId xmlns:p14="http://schemas.microsoft.com/office/powerpoint/2010/main" val="2414173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73DC-C162-C84B-0181-F2594738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4CB40862-7246-B4EB-72C8-159BFADDF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0"/>
            <a:ext cx="8733264" cy="1137676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EC34B1AA-72A7-8F9B-D034-DF28E7173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438" y="268368"/>
            <a:ext cx="5927089" cy="549145"/>
          </a:xfrm>
          <a:prstGeom prst="rect">
            <a:avLst/>
          </a:prstGeom>
        </p:spPr>
        <p:txBody>
          <a:bodyPr vert="horz" wrap="square" lIns="0" tIns="50058" rIns="0" bIns="0" rtlCol="0" anchor="ctr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  <a:cs typeface="Libre Franklin"/>
              </a:rPr>
              <a:t>Productividad</a:t>
            </a:r>
            <a:endParaRPr sz="3600" dirty="0">
              <a:solidFill>
                <a:schemeClr val="bg1"/>
              </a:solidFill>
              <a:latin typeface="Libre Franklin"/>
              <a:cs typeface="Libre Franklin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0C5527A-5C6D-A867-35F0-2515E9C4A8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41" y="-113445"/>
            <a:ext cx="1205312" cy="12935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F3961A5-E809-31DC-5A9B-2F64D03723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919" y="0"/>
            <a:ext cx="1378997" cy="687062"/>
          </a:xfrm>
          <a:prstGeom prst="rect">
            <a:avLst/>
          </a:prstGeom>
        </p:spPr>
      </p:pic>
      <p:sp>
        <p:nvSpPr>
          <p:cNvPr id="10" name="object 18">
            <a:extLst>
              <a:ext uri="{FF2B5EF4-FFF2-40B4-BE49-F238E27FC236}">
                <a16:creationId xmlns:a16="http://schemas.microsoft.com/office/drawing/2014/main" id="{16A16FE4-78E6-B1D9-86E3-C888A8A8066D}"/>
              </a:ext>
            </a:extLst>
          </p:cNvPr>
          <p:cNvSpPr txBox="1"/>
          <p:nvPr/>
        </p:nvSpPr>
        <p:spPr>
          <a:xfrm>
            <a:off x="2486710" y="1868299"/>
            <a:ext cx="1221250" cy="838773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sz="5400" b="1" kern="0" dirty="0">
                <a:solidFill>
                  <a:srgbClr val="D1D66B"/>
                </a:solidFill>
                <a:latin typeface="Libre Franklin Thin" pitchFamily="2" charset="77"/>
              </a:rPr>
              <a:t>1</a:t>
            </a:r>
          </a:p>
        </p:txBody>
      </p:sp>
      <p:pic>
        <p:nvPicPr>
          <p:cNvPr id="11" name="Picture 68">
            <a:extLst>
              <a:ext uri="{FF2B5EF4-FFF2-40B4-BE49-F238E27FC236}">
                <a16:creationId xmlns:a16="http://schemas.microsoft.com/office/drawing/2014/main" id="{18A36EC8-991A-A285-9378-1B7EAAFB17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761" y="2608496"/>
            <a:ext cx="1504106" cy="277504"/>
          </a:xfrm>
          <a:prstGeom prst="rect">
            <a:avLst/>
          </a:prstGeom>
        </p:spPr>
      </p:pic>
      <p:sp>
        <p:nvSpPr>
          <p:cNvPr id="12" name="object 17">
            <a:extLst>
              <a:ext uri="{FF2B5EF4-FFF2-40B4-BE49-F238E27FC236}">
                <a16:creationId xmlns:a16="http://schemas.microsoft.com/office/drawing/2014/main" id="{FD949C78-1B56-FC2C-3C9D-B9E2139190F6}"/>
              </a:ext>
            </a:extLst>
          </p:cNvPr>
          <p:cNvSpPr txBox="1"/>
          <p:nvPr/>
        </p:nvSpPr>
        <p:spPr>
          <a:xfrm>
            <a:off x="2047555" y="2648526"/>
            <a:ext cx="1895314" cy="21347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algn="ctr" defTabSz="554492"/>
            <a:r>
              <a:rPr lang="es-MX" sz="1334" b="1" kern="0" dirty="0" err="1">
                <a:solidFill>
                  <a:prstClr val="white"/>
                </a:solidFill>
                <a:latin typeface="Libre Franklin" pitchFamily="2" charset="77"/>
              </a:rPr>
              <a:t>Multiproducto</a:t>
            </a:r>
            <a:endParaRPr lang="es-MX" sz="1334" b="1" kern="0" dirty="0">
              <a:solidFill>
                <a:prstClr val="white"/>
              </a:solidFill>
              <a:latin typeface="Libre Franklin" pitchFamily="2" charset="77"/>
            </a:endParaRPr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F875D431-C926-85DC-4D61-CE91CE4D656C}"/>
              </a:ext>
            </a:extLst>
          </p:cNvPr>
          <p:cNvSpPr txBox="1"/>
          <p:nvPr/>
        </p:nvSpPr>
        <p:spPr>
          <a:xfrm>
            <a:off x="4700720" y="1785999"/>
            <a:ext cx="1033413" cy="838773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sz="5400" b="1" kern="0" dirty="0">
                <a:solidFill>
                  <a:srgbClr val="D1D66B"/>
                </a:solidFill>
                <a:latin typeface="Libre Franklin Thin" pitchFamily="2" charset="77"/>
              </a:rPr>
              <a:t>2</a:t>
            </a:r>
          </a:p>
        </p:txBody>
      </p:sp>
      <p:pic>
        <p:nvPicPr>
          <p:cNvPr id="14" name="Picture 73">
            <a:extLst>
              <a:ext uri="{FF2B5EF4-FFF2-40B4-BE49-F238E27FC236}">
                <a16:creationId xmlns:a16="http://schemas.microsoft.com/office/drawing/2014/main" id="{91D6E66F-19BC-F55C-9644-4B5803A8C4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857" y="2554040"/>
            <a:ext cx="1632185" cy="287644"/>
          </a:xfrm>
          <a:prstGeom prst="rect">
            <a:avLst/>
          </a:prstGeom>
        </p:spPr>
      </p:pic>
      <p:sp>
        <p:nvSpPr>
          <p:cNvPr id="16" name="object 17">
            <a:extLst>
              <a:ext uri="{FF2B5EF4-FFF2-40B4-BE49-F238E27FC236}">
                <a16:creationId xmlns:a16="http://schemas.microsoft.com/office/drawing/2014/main" id="{A5347752-DA7B-8890-379D-BF5DB669506F}"/>
              </a:ext>
            </a:extLst>
          </p:cNvPr>
          <p:cNvSpPr txBox="1"/>
          <p:nvPr/>
        </p:nvSpPr>
        <p:spPr>
          <a:xfrm>
            <a:off x="4364419" y="2606633"/>
            <a:ext cx="1599272" cy="21347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algn="ctr" defTabSz="554492"/>
            <a:r>
              <a:rPr lang="es-MX" sz="1334" b="1" kern="0" dirty="0">
                <a:solidFill>
                  <a:prstClr val="white"/>
                </a:solidFill>
                <a:latin typeface="Libre Franklin" pitchFamily="2" charset="77"/>
              </a:rPr>
              <a:t>Ritmo operativo</a:t>
            </a:r>
            <a:endParaRPr lang="es-MX" sz="1334" kern="0" dirty="0">
              <a:solidFill>
                <a:prstClr val="white"/>
              </a:solidFill>
              <a:latin typeface="Libre Franklin" pitchFamily="2" charset="77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F183799D-F58A-08CA-BBA4-79F559458BB0}"/>
              </a:ext>
            </a:extLst>
          </p:cNvPr>
          <p:cNvSpPr txBox="1"/>
          <p:nvPr/>
        </p:nvSpPr>
        <p:spPr>
          <a:xfrm>
            <a:off x="6807622" y="1868299"/>
            <a:ext cx="878817" cy="838773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sz="5400" b="1" kern="0" dirty="0">
                <a:solidFill>
                  <a:srgbClr val="D1D66B"/>
                </a:solidFill>
                <a:latin typeface="Libre Franklin Thin" pitchFamily="2" charset="77"/>
              </a:rPr>
              <a:t>3</a:t>
            </a:r>
          </a:p>
        </p:txBody>
      </p:sp>
      <p:pic>
        <p:nvPicPr>
          <p:cNvPr id="18" name="Picture 80">
            <a:extLst>
              <a:ext uri="{FF2B5EF4-FFF2-40B4-BE49-F238E27FC236}">
                <a16:creationId xmlns:a16="http://schemas.microsoft.com/office/drawing/2014/main" id="{4C695B6C-6C45-FE73-3755-1F81D56BBC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775" y="2608496"/>
            <a:ext cx="1564022" cy="277504"/>
          </a:xfrm>
          <a:prstGeom prst="rect">
            <a:avLst/>
          </a:prstGeom>
        </p:spPr>
      </p:pic>
      <p:sp>
        <p:nvSpPr>
          <p:cNvPr id="19" name="object 17">
            <a:extLst>
              <a:ext uri="{FF2B5EF4-FFF2-40B4-BE49-F238E27FC236}">
                <a16:creationId xmlns:a16="http://schemas.microsoft.com/office/drawing/2014/main" id="{E8A9A8E0-54E8-5B75-7E81-95918D462D13}"/>
              </a:ext>
            </a:extLst>
          </p:cNvPr>
          <p:cNvSpPr txBox="1"/>
          <p:nvPr/>
        </p:nvSpPr>
        <p:spPr>
          <a:xfrm>
            <a:off x="6491280" y="2648526"/>
            <a:ext cx="1634983" cy="21347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algn="ctr" defTabSz="554492"/>
            <a:r>
              <a:rPr lang="es-MX" sz="1334" b="1" i="1" kern="0" dirty="0">
                <a:solidFill>
                  <a:prstClr val="white"/>
                </a:solidFill>
                <a:latin typeface="Libre Franklin" pitchFamily="2" charset="77"/>
              </a:rPr>
              <a:t>One-off y SB</a:t>
            </a:r>
            <a:endParaRPr lang="es-MX" sz="1334" kern="0" dirty="0">
              <a:solidFill>
                <a:prstClr val="white"/>
              </a:solidFill>
              <a:latin typeface="Libre Franklin" pitchFamily="2" charset="77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CF8E683F-3CEB-64A8-9AD3-FA319C741E5D}"/>
              </a:ext>
            </a:extLst>
          </p:cNvPr>
          <p:cNvSpPr txBox="1"/>
          <p:nvPr/>
        </p:nvSpPr>
        <p:spPr>
          <a:xfrm>
            <a:off x="8807716" y="1868299"/>
            <a:ext cx="906915" cy="838773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sz="5400" b="1" kern="0" dirty="0">
                <a:solidFill>
                  <a:srgbClr val="D1D66B"/>
                </a:solidFill>
                <a:latin typeface="Libre Franklin Thin" pitchFamily="2" charset="77"/>
              </a:rPr>
              <a:t>4</a:t>
            </a:r>
          </a:p>
        </p:txBody>
      </p:sp>
      <p:pic>
        <p:nvPicPr>
          <p:cNvPr id="22" name="Picture 94">
            <a:extLst>
              <a:ext uri="{FF2B5EF4-FFF2-40B4-BE49-F238E27FC236}">
                <a16:creationId xmlns:a16="http://schemas.microsoft.com/office/drawing/2014/main" id="{CC08488B-8559-79A2-87BA-691E8AE9D9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229" y="2608496"/>
            <a:ext cx="1523310" cy="253508"/>
          </a:xfrm>
          <a:prstGeom prst="rect">
            <a:avLst/>
          </a:prstGeom>
        </p:spPr>
      </p:pic>
      <p:sp>
        <p:nvSpPr>
          <p:cNvPr id="24" name="object 17">
            <a:extLst>
              <a:ext uri="{FF2B5EF4-FFF2-40B4-BE49-F238E27FC236}">
                <a16:creationId xmlns:a16="http://schemas.microsoft.com/office/drawing/2014/main" id="{E3DB523B-F708-3805-CCA7-830C87DB5ADA}"/>
              </a:ext>
            </a:extLst>
          </p:cNvPr>
          <p:cNvSpPr txBox="1"/>
          <p:nvPr/>
        </p:nvSpPr>
        <p:spPr>
          <a:xfrm>
            <a:off x="8551701" y="2648526"/>
            <a:ext cx="1435304" cy="21347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algn="ctr" defTabSz="554492"/>
            <a:r>
              <a:rPr lang="es-MX" sz="1334" b="1" kern="0" dirty="0" err="1">
                <a:solidFill>
                  <a:prstClr val="white"/>
                </a:solidFill>
                <a:latin typeface="Libre Franklin" pitchFamily="2" charset="77"/>
              </a:rPr>
              <a:t>Refis</a:t>
            </a:r>
            <a:r>
              <a:rPr lang="es-MX" sz="1334" b="1" kern="0" dirty="0">
                <a:solidFill>
                  <a:prstClr val="white"/>
                </a:solidFill>
                <a:latin typeface="Libre Franklin" pitchFamily="2" charset="77"/>
              </a:rPr>
              <a:t> REFIs</a:t>
            </a:r>
            <a:endParaRPr lang="es-MX" sz="1334" kern="0" dirty="0">
              <a:solidFill>
                <a:prstClr val="white"/>
              </a:solidFill>
              <a:latin typeface="Libre Franklin" pitchFamily="2" charset="77"/>
            </a:endParaRPr>
          </a:p>
        </p:txBody>
      </p:sp>
      <p:sp>
        <p:nvSpPr>
          <p:cNvPr id="25" name="object 18">
            <a:extLst>
              <a:ext uri="{FF2B5EF4-FFF2-40B4-BE49-F238E27FC236}">
                <a16:creationId xmlns:a16="http://schemas.microsoft.com/office/drawing/2014/main" id="{932E5810-1155-0A7A-4482-B66911B19D7D}"/>
              </a:ext>
            </a:extLst>
          </p:cNvPr>
          <p:cNvSpPr txBox="1"/>
          <p:nvPr/>
        </p:nvSpPr>
        <p:spPr>
          <a:xfrm>
            <a:off x="10616466" y="1868299"/>
            <a:ext cx="989387" cy="838773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sz="5400" b="1" kern="0" dirty="0">
                <a:solidFill>
                  <a:srgbClr val="D1D66B"/>
                </a:solidFill>
                <a:latin typeface="Libre Franklin Thin" pitchFamily="2" charset="77"/>
              </a:rPr>
              <a:t>5</a:t>
            </a:r>
          </a:p>
        </p:txBody>
      </p:sp>
      <p:pic>
        <p:nvPicPr>
          <p:cNvPr id="26" name="Picture 100">
            <a:extLst>
              <a:ext uri="{FF2B5EF4-FFF2-40B4-BE49-F238E27FC236}">
                <a16:creationId xmlns:a16="http://schemas.microsoft.com/office/drawing/2014/main" id="{84583A3A-0464-D646-0B50-FA0DD2366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452" y="2608496"/>
            <a:ext cx="1523310" cy="253508"/>
          </a:xfrm>
          <a:prstGeom prst="rect">
            <a:avLst/>
          </a:prstGeom>
        </p:spPr>
      </p:pic>
      <p:sp>
        <p:nvSpPr>
          <p:cNvPr id="27" name="object 17">
            <a:extLst>
              <a:ext uri="{FF2B5EF4-FFF2-40B4-BE49-F238E27FC236}">
                <a16:creationId xmlns:a16="http://schemas.microsoft.com/office/drawing/2014/main" id="{C6059745-D91D-583B-3114-011EC119AB55}"/>
              </a:ext>
            </a:extLst>
          </p:cNvPr>
          <p:cNvSpPr txBox="1"/>
          <p:nvPr/>
        </p:nvSpPr>
        <p:spPr>
          <a:xfrm>
            <a:off x="10292080" y="2628206"/>
            <a:ext cx="1565827" cy="213478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algn="ctr" defTabSz="554492"/>
            <a:r>
              <a:rPr lang="es-MX" sz="1334" b="1" kern="0" dirty="0">
                <a:solidFill>
                  <a:prstClr val="white"/>
                </a:solidFill>
                <a:latin typeface="Libre Franklin" pitchFamily="2" charset="77"/>
              </a:rPr>
              <a:t>Crecer </a:t>
            </a:r>
            <a:r>
              <a:rPr lang="es-MX" sz="1334" b="1" i="1" kern="0" dirty="0">
                <a:solidFill>
                  <a:prstClr val="white"/>
                </a:solidFill>
                <a:latin typeface="Libre Franklin" pitchFamily="2" charset="77"/>
              </a:rPr>
              <a:t>deal </a:t>
            </a:r>
            <a:r>
              <a:rPr lang="es-MX" sz="1334" b="1" i="1" kern="0" dirty="0" err="1">
                <a:solidFill>
                  <a:prstClr val="white"/>
                </a:solidFill>
                <a:latin typeface="Libre Franklin" pitchFamily="2" charset="77"/>
              </a:rPr>
              <a:t>size</a:t>
            </a:r>
            <a:endParaRPr lang="es-MX" sz="1334" i="1" kern="0" dirty="0">
              <a:solidFill>
                <a:prstClr val="white"/>
              </a:solidFill>
              <a:latin typeface="Libre Franklin" pitchFamily="2" charset="77"/>
            </a:endParaRPr>
          </a:p>
        </p:txBody>
      </p:sp>
      <p:cxnSp>
        <p:nvCxnSpPr>
          <p:cNvPr id="28" name="Straight Connector 103">
            <a:extLst>
              <a:ext uri="{FF2B5EF4-FFF2-40B4-BE49-F238E27FC236}">
                <a16:creationId xmlns:a16="http://schemas.microsoft.com/office/drawing/2014/main" id="{0AA3C2C4-E7DD-3CB8-4D82-9F2D35E41D97}"/>
              </a:ext>
            </a:extLst>
          </p:cNvPr>
          <p:cNvCxnSpPr>
            <a:cxnSpLocks/>
          </p:cNvCxnSpPr>
          <p:nvPr/>
        </p:nvCxnSpPr>
        <p:spPr>
          <a:xfrm>
            <a:off x="10197071" y="2103551"/>
            <a:ext cx="0" cy="4266769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12">
            <a:extLst>
              <a:ext uri="{FF2B5EF4-FFF2-40B4-BE49-F238E27FC236}">
                <a16:creationId xmlns:a16="http://schemas.microsoft.com/office/drawing/2014/main" id="{D8971569-E1EF-DBE1-1AD5-BF3B884B7EE0}"/>
              </a:ext>
            </a:extLst>
          </p:cNvPr>
          <p:cNvCxnSpPr>
            <a:cxnSpLocks/>
          </p:cNvCxnSpPr>
          <p:nvPr/>
        </p:nvCxnSpPr>
        <p:spPr>
          <a:xfrm>
            <a:off x="8312110" y="2103551"/>
            <a:ext cx="0" cy="4337889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113">
            <a:extLst>
              <a:ext uri="{FF2B5EF4-FFF2-40B4-BE49-F238E27FC236}">
                <a16:creationId xmlns:a16="http://schemas.microsoft.com/office/drawing/2014/main" id="{C90B16C1-604E-A793-15B6-2166D11CAD78}"/>
              </a:ext>
            </a:extLst>
          </p:cNvPr>
          <p:cNvCxnSpPr>
            <a:cxnSpLocks/>
          </p:cNvCxnSpPr>
          <p:nvPr/>
        </p:nvCxnSpPr>
        <p:spPr>
          <a:xfrm>
            <a:off x="6161642" y="2103551"/>
            <a:ext cx="12885" cy="4348049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114">
            <a:extLst>
              <a:ext uri="{FF2B5EF4-FFF2-40B4-BE49-F238E27FC236}">
                <a16:creationId xmlns:a16="http://schemas.microsoft.com/office/drawing/2014/main" id="{0A62ECBA-4977-8E02-01EF-4EF9F9803DD8}"/>
              </a:ext>
            </a:extLst>
          </p:cNvPr>
          <p:cNvCxnSpPr>
            <a:cxnSpLocks/>
          </p:cNvCxnSpPr>
          <p:nvPr/>
        </p:nvCxnSpPr>
        <p:spPr>
          <a:xfrm>
            <a:off x="4158772" y="2103551"/>
            <a:ext cx="0" cy="4327729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116">
            <a:extLst>
              <a:ext uri="{FF2B5EF4-FFF2-40B4-BE49-F238E27FC236}">
                <a16:creationId xmlns:a16="http://schemas.microsoft.com/office/drawing/2014/main" id="{A82839A3-3BBC-2BAB-2193-D727145E744C}"/>
              </a:ext>
            </a:extLst>
          </p:cNvPr>
          <p:cNvSpPr/>
          <p:nvPr/>
        </p:nvSpPr>
        <p:spPr>
          <a:xfrm>
            <a:off x="2031560" y="1494081"/>
            <a:ext cx="9801704" cy="426176"/>
          </a:xfrm>
          <a:prstGeom prst="roundRect">
            <a:avLst/>
          </a:prstGeom>
          <a:solidFill>
            <a:srgbClr val="3BD5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492"/>
            <a:endParaRPr lang="en-MX" sz="1092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457C31EC-26FE-ED58-78C2-70DE85B21DAE}"/>
              </a:ext>
            </a:extLst>
          </p:cNvPr>
          <p:cNvSpPr txBox="1"/>
          <p:nvPr/>
        </p:nvSpPr>
        <p:spPr>
          <a:xfrm>
            <a:off x="2031560" y="1539548"/>
            <a:ext cx="9801704" cy="287725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sz="1819" b="1" kern="0" dirty="0">
                <a:solidFill>
                  <a:srgbClr val="004877"/>
                </a:solidFill>
                <a:latin typeface="Libre Franklin" pitchFamily="2" charset="77"/>
              </a:rPr>
              <a:t>Estrategia 2026 – Subir la Productividad por Originador 25% a 55 </a:t>
            </a:r>
            <a:r>
              <a:rPr lang="es-MX" sz="1819" b="1" kern="0" dirty="0" err="1">
                <a:solidFill>
                  <a:srgbClr val="004877"/>
                </a:solidFill>
                <a:latin typeface="Libre Franklin" pitchFamily="2" charset="77"/>
              </a:rPr>
              <a:t>mdp</a:t>
            </a:r>
            <a:endParaRPr lang="es-MX" sz="1819" b="1" kern="0" dirty="0">
              <a:solidFill>
                <a:srgbClr val="004877"/>
              </a:solidFill>
              <a:latin typeface="Libre Franklin" pitchFamily="2" charset="77"/>
            </a:endParaRPr>
          </a:p>
        </p:txBody>
      </p:sp>
      <p:cxnSp>
        <p:nvCxnSpPr>
          <p:cNvPr id="73" name="Straight Connector 114">
            <a:extLst>
              <a:ext uri="{FF2B5EF4-FFF2-40B4-BE49-F238E27FC236}">
                <a16:creationId xmlns:a16="http://schemas.microsoft.com/office/drawing/2014/main" id="{B26BA187-3DC0-D91A-2A5E-4CC3761225A2}"/>
              </a:ext>
            </a:extLst>
          </p:cNvPr>
          <p:cNvCxnSpPr>
            <a:cxnSpLocks/>
          </p:cNvCxnSpPr>
          <p:nvPr/>
        </p:nvCxnSpPr>
        <p:spPr>
          <a:xfrm>
            <a:off x="2264247" y="2042591"/>
            <a:ext cx="0" cy="4327729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114">
            <a:extLst>
              <a:ext uri="{FF2B5EF4-FFF2-40B4-BE49-F238E27FC236}">
                <a16:creationId xmlns:a16="http://schemas.microsoft.com/office/drawing/2014/main" id="{6D70CA5C-B6EB-5EAA-C2C4-8832FD7F54BF}"/>
              </a:ext>
            </a:extLst>
          </p:cNvPr>
          <p:cNvCxnSpPr>
            <a:cxnSpLocks/>
          </p:cNvCxnSpPr>
          <p:nvPr/>
        </p:nvCxnSpPr>
        <p:spPr>
          <a:xfrm>
            <a:off x="1492087" y="3028111"/>
            <a:ext cx="10527193" cy="0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114">
            <a:extLst>
              <a:ext uri="{FF2B5EF4-FFF2-40B4-BE49-F238E27FC236}">
                <a16:creationId xmlns:a16="http://schemas.microsoft.com/office/drawing/2014/main" id="{0AD0E3B5-ACC8-3CE0-AE46-2DC0510B1F6A}"/>
              </a:ext>
            </a:extLst>
          </p:cNvPr>
          <p:cNvCxnSpPr>
            <a:cxnSpLocks/>
          </p:cNvCxnSpPr>
          <p:nvPr/>
        </p:nvCxnSpPr>
        <p:spPr>
          <a:xfrm>
            <a:off x="1461607" y="3718991"/>
            <a:ext cx="10527193" cy="0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114">
            <a:extLst>
              <a:ext uri="{FF2B5EF4-FFF2-40B4-BE49-F238E27FC236}">
                <a16:creationId xmlns:a16="http://schemas.microsoft.com/office/drawing/2014/main" id="{953BD5BE-4075-6855-CAE2-1DE5039BBD08}"/>
              </a:ext>
            </a:extLst>
          </p:cNvPr>
          <p:cNvCxnSpPr>
            <a:cxnSpLocks/>
          </p:cNvCxnSpPr>
          <p:nvPr/>
        </p:nvCxnSpPr>
        <p:spPr>
          <a:xfrm>
            <a:off x="1339687" y="4511471"/>
            <a:ext cx="10527193" cy="0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114">
            <a:extLst>
              <a:ext uri="{FF2B5EF4-FFF2-40B4-BE49-F238E27FC236}">
                <a16:creationId xmlns:a16="http://schemas.microsoft.com/office/drawing/2014/main" id="{3E0E1C4E-8B83-CEF8-387D-AF1E228807A0}"/>
              </a:ext>
            </a:extLst>
          </p:cNvPr>
          <p:cNvCxnSpPr>
            <a:cxnSpLocks/>
          </p:cNvCxnSpPr>
          <p:nvPr/>
        </p:nvCxnSpPr>
        <p:spPr>
          <a:xfrm>
            <a:off x="1339687" y="5385231"/>
            <a:ext cx="10527193" cy="0"/>
          </a:xfrm>
          <a:prstGeom prst="line">
            <a:avLst/>
          </a:prstGeom>
          <a:ln w="25400">
            <a:solidFill>
              <a:srgbClr val="3BD5A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bject 18">
            <a:extLst>
              <a:ext uri="{FF2B5EF4-FFF2-40B4-BE49-F238E27FC236}">
                <a16:creationId xmlns:a16="http://schemas.microsoft.com/office/drawing/2014/main" id="{42A2F995-AB36-8AE4-05F2-9911326787AB}"/>
              </a:ext>
            </a:extLst>
          </p:cNvPr>
          <p:cNvSpPr txBox="1"/>
          <p:nvPr/>
        </p:nvSpPr>
        <p:spPr>
          <a:xfrm>
            <a:off x="128276" y="3271163"/>
            <a:ext cx="2208649" cy="284775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b="1" kern="0" dirty="0">
                <a:solidFill>
                  <a:schemeClr val="accent1">
                    <a:lumMod val="75000"/>
                  </a:schemeClr>
                </a:solidFill>
                <a:latin typeface="Libre Franklin Thin" pitchFamily="2" charset="77"/>
              </a:rPr>
              <a:t>LMM 1</a:t>
            </a: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DEB5CE6E-7052-2605-04C3-A4411BA73642}"/>
              </a:ext>
            </a:extLst>
          </p:cNvPr>
          <p:cNvSpPr txBox="1"/>
          <p:nvPr/>
        </p:nvSpPr>
        <p:spPr>
          <a:xfrm>
            <a:off x="138436" y="4033163"/>
            <a:ext cx="2208649" cy="284775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b="1" kern="0" dirty="0">
                <a:solidFill>
                  <a:schemeClr val="accent1">
                    <a:lumMod val="75000"/>
                  </a:schemeClr>
                </a:solidFill>
                <a:latin typeface="Libre Franklin Thin" pitchFamily="2" charset="77"/>
              </a:rPr>
              <a:t>LMM 3</a:t>
            </a:r>
          </a:p>
        </p:txBody>
      </p:sp>
      <p:sp>
        <p:nvSpPr>
          <p:cNvPr id="82" name="object 18">
            <a:extLst>
              <a:ext uri="{FF2B5EF4-FFF2-40B4-BE49-F238E27FC236}">
                <a16:creationId xmlns:a16="http://schemas.microsoft.com/office/drawing/2014/main" id="{0137DCB1-1A31-E447-B3B9-187BDDECEEA1}"/>
              </a:ext>
            </a:extLst>
          </p:cNvPr>
          <p:cNvSpPr txBox="1"/>
          <p:nvPr/>
        </p:nvSpPr>
        <p:spPr>
          <a:xfrm>
            <a:off x="118116" y="4835803"/>
            <a:ext cx="2208649" cy="284775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b="1" kern="0" dirty="0">
                <a:solidFill>
                  <a:schemeClr val="accent1">
                    <a:lumMod val="75000"/>
                  </a:schemeClr>
                </a:solidFill>
                <a:latin typeface="Libre Franklin Thin" pitchFamily="2" charset="77"/>
              </a:rPr>
              <a:t>LMM 4</a:t>
            </a:r>
          </a:p>
        </p:txBody>
      </p:sp>
      <p:sp>
        <p:nvSpPr>
          <p:cNvPr id="83" name="object 18">
            <a:extLst>
              <a:ext uri="{FF2B5EF4-FFF2-40B4-BE49-F238E27FC236}">
                <a16:creationId xmlns:a16="http://schemas.microsoft.com/office/drawing/2014/main" id="{EA667FD2-FC43-AAC2-68D0-72B164C90622}"/>
              </a:ext>
            </a:extLst>
          </p:cNvPr>
          <p:cNvSpPr txBox="1"/>
          <p:nvPr/>
        </p:nvSpPr>
        <p:spPr>
          <a:xfrm>
            <a:off x="118116" y="5679083"/>
            <a:ext cx="2208649" cy="284775"/>
          </a:xfrm>
          <a:prstGeom prst="rect">
            <a:avLst/>
          </a:prstGeom>
        </p:spPr>
        <p:txBody>
          <a:bodyPr vert="horz" wrap="square" lIns="0" tIns="7701" rIns="0" bIns="0" rtlCol="0" anchor="ctr">
            <a:spAutoFit/>
          </a:bodyPr>
          <a:lstStyle/>
          <a:p>
            <a:pPr algn="ctr" defTabSz="554492"/>
            <a:r>
              <a:rPr lang="es-MX" b="1" kern="0" dirty="0">
                <a:solidFill>
                  <a:schemeClr val="accent1">
                    <a:lumMod val="75000"/>
                  </a:schemeClr>
                </a:solidFill>
                <a:latin typeface="Libre Franklin Thin" pitchFamily="2" charset="77"/>
              </a:rPr>
              <a:t>LMM 5</a:t>
            </a:r>
          </a:p>
        </p:txBody>
      </p:sp>
      <p:pic>
        <p:nvPicPr>
          <p:cNvPr id="87" name="Gráfico 86" descr="bolas de harvey 25% con relleno sólido">
            <a:extLst>
              <a:ext uri="{FF2B5EF4-FFF2-40B4-BE49-F238E27FC236}">
                <a16:creationId xmlns:a16="http://schemas.microsoft.com/office/drawing/2014/main" id="{30015D78-9936-BB84-8F7B-A2D45FA65F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34973" y="3098810"/>
            <a:ext cx="499091" cy="499091"/>
          </a:xfrm>
          <a:prstGeom prst="rect">
            <a:avLst/>
          </a:prstGeom>
        </p:spPr>
      </p:pic>
      <p:pic>
        <p:nvPicPr>
          <p:cNvPr id="89" name="Gráfico 88" descr="bolas de harvey 50% con relleno sólido">
            <a:extLst>
              <a:ext uri="{FF2B5EF4-FFF2-40B4-BE49-F238E27FC236}">
                <a16:creationId xmlns:a16="http://schemas.microsoft.com/office/drawing/2014/main" id="{2FCB5528-612F-F11A-37E8-C9545C0ED4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2708" y="5608323"/>
            <a:ext cx="490638" cy="490638"/>
          </a:xfrm>
          <a:prstGeom prst="rect">
            <a:avLst/>
          </a:prstGeom>
        </p:spPr>
      </p:pic>
      <p:pic>
        <p:nvPicPr>
          <p:cNvPr id="91" name="Gráfico 90" descr="bolas de harvey 75% con relleno sólido">
            <a:extLst>
              <a:ext uri="{FF2B5EF4-FFF2-40B4-BE49-F238E27FC236}">
                <a16:creationId xmlns:a16="http://schemas.microsoft.com/office/drawing/2014/main" id="{71FB1379-88D2-EFF6-FC64-82ECD48AD9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00660" y="457348"/>
            <a:ext cx="391322" cy="391322"/>
          </a:xfrm>
          <a:prstGeom prst="rect">
            <a:avLst/>
          </a:prstGeom>
        </p:spPr>
      </p:pic>
      <p:pic>
        <p:nvPicPr>
          <p:cNvPr id="93" name="Gráfico 92" descr="bolas de harvey 10% con relleno sólido">
            <a:extLst>
              <a:ext uri="{FF2B5EF4-FFF2-40B4-BE49-F238E27FC236}">
                <a16:creationId xmlns:a16="http://schemas.microsoft.com/office/drawing/2014/main" id="{513820C2-93DE-4F65-126F-24F34660A5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29190" y="4722885"/>
            <a:ext cx="504161" cy="504161"/>
          </a:xfrm>
          <a:prstGeom prst="rect">
            <a:avLst/>
          </a:prstGeom>
        </p:spPr>
      </p:pic>
      <p:pic>
        <p:nvPicPr>
          <p:cNvPr id="94" name="Gráfico 93" descr="bolas de harvey 25% con relleno sólido">
            <a:extLst>
              <a:ext uri="{FF2B5EF4-FFF2-40B4-BE49-F238E27FC236}">
                <a16:creationId xmlns:a16="http://schemas.microsoft.com/office/drawing/2014/main" id="{D53B5A76-F1A4-0703-0782-3202B2638B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5613" y="3860810"/>
            <a:ext cx="499091" cy="499091"/>
          </a:xfrm>
          <a:prstGeom prst="rect">
            <a:avLst/>
          </a:prstGeom>
        </p:spPr>
      </p:pic>
      <p:pic>
        <p:nvPicPr>
          <p:cNvPr id="95" name="Gráfico 94" descr="bolas de harvey 50% con relleno sólido">
            <a:extLst>
              <a:ext uri="{FF2B5EF4-FFF2-40B4-BE49-F238E27FC236}">
                <a16:creationId xmlns:a16="http://schemas.microsoft.com/office/drawing/2014/main" id="{3D50BA84-4B15-46DB-1F3D-D505A91D2E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3908" y="3870963"/>
            <a:ext cx="490638" cy="490638"/>
          </a:xfrm>
          <a:prstGeom prst="rect">
            <a:avLst/>
          </a:prstGeom>
        </p:spPr>
      </p:pic>
      <p:pic>
        <p:nvPicPr>
          <p:cNvPr id="97" name="Gráfico 96" descr="bolas de harvey 25% con relleno sólido">
            <a:extLst>
              <a:ext uri="{FF2B5EF4-FFF2-40B4-BE49-F238E27FC236}">
                <a16:creationId xmlns:a16="http://schemas.microsoft.com/office/drawing/2014/main" id="{B889682B-D037-6BD7-8737-B13E79C180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26333" y="3119130"/>
            <a:ext cx="499091" cy="499091"/>
          </a:xfrm>
          <a:prstGeom prst="rect">
            <a:avLst/>
          </a:prstGeom>
        </p:spPr>
      </p:pic>
      <p:pic>
        <p:nvPicPr>
          <p:cNvPr id="99" name="Gráfico 98" descr="bolas de harvey 45% con relleno sólido">
            <a:extLst>
              <a:ext uri="{FF2B5EF4-FFF2-40B4-BE49-F238E27FC236}">
                <a16:creationId xmlns:a16="http://schemas.microsoft.com/office/drawing/2014/main" id="{F2D37D59-769A-9A50-96C7-3C747BC4B8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92438" y="4699000"/>
            <a:ext cx="522841" cy="522841"/>
          </a:xfrm>
          <a:prstGeom prst="rect">
            <a:avLst/>
          </a:prstGeom>
        </p:spPr>
      </p:pic>
      <p:pic>
        <p:nvPicPr>
          <p:cNvPr id="100" name="Gráfico 99" descr="bolas de harvey 45% con relleno sólido">
            <a:extLst>
              <a:ext uri="{FF2B5EF4-FFF2-40B4-BE49-F238E27FC236}">
                <a16:creationId xmlns:a16="http://schemas.microsoft.com/office/drawing/2014/main" id="{A7DD7A07-5DDB-518F-CA21-F972A36D97E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72118" y="5593080"/>
            <a:ext cx="522841" cy="522841"/>
          </a:xfrm>
          <a:prstGeom prst="rect">
            <a:avLst/>
          </a:prstGeom>
        </p:spPr>
      </p:pic>
      <p:pic>
        <p:nvPicPr>
          <p:cNvPr id="103" name="Gráfico 102" descr="bolas de harvey 25% con relleno sólido">
            <a:extLst>
              <a:ext uri="{FF2B5EF4-FFF2-40B4-BE49-F238E27FC236}">
                <a16:creationId xmlns:a16="http://schemas.microsoft.com/office/drawing/2014/main" id="{ECE8FC50-56A8-4CCA-F7AA-38F7989A4C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78653" y="3098810"/>
            <a:ext cx="499091" cy="499091"/>
          </a:xfrm>
          <a:prstGeom prst="rect">
            <a:avLst/>
          </a:prstGeom>
        </p:spPr>
      </p:pic>
      <p:pic>
        <p:nvPicPr>
          <p:cNvPr id="104" name="Gráfico 103" descr="bolas de harvey 25% con relleno sólido">
            <a:extLst>
              <a:ext uri="{FF2B5EF4-FFF2-40B4-BE49-F238E27FC236}">
                <a16:creationId xmlns:a16="http://schemas.microsoft.com/office/drawing/2014/main" id="{DEFE1705-FFD4-2DC2-024A-B204EA5B7C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9293" y="3860810"/>
            <a:ext cx="499091" cy="499091"/>
          </a:xfrm>
          <a:prstGeom prst="rect">
            <a:avLst/>
          </a:prstGeom>
        </p:spPr>
      </p:pic>
      <p:pic>
        <p:nvPicPr>
          <p:cNvPr id="105" name="Gráfico 104" descr="bolas de harvey 25% con relleno sólido">
            <a:extLst>
              <a:ext uri="{FF2B5EF4-FFF2-40B4-BE49-F238E27FC236}">
                <a16:creationId xmlns:a16="http://schemas.microsoft.com/office/drawing/2014/main" id="{7F1327EC-72CD-4B1E-D878-55610B1B54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9613" y="4724410"/>
            <a:ext cx="499091" cy="499091"/>
          </a:xfrm>
          <a:prstGeom prst="rect">
            <a:avLst/>
          </a:prstGeom>
        </p:spPr>
      </p:pic>
      <p:pic>
        <p:nvPicPr>
          <p:cNvPr id="106" name="Gráfico 105" descr="bolas de harvey 10% con relleno sólido">
            <a:extLst>
              <a:ext uri="{FF2B5EF4-FFF2-40B4-BE49-F238E27FC236}">
                <a16:creationId xmlns:a16="http://schemas.microsoft.com/office/drawing/2014/main" id="{1EC2E7CF-FB8F-DCBF-8484-03074B9457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74470" y="5596645"/>
            <a:ext cx="504161" cy="504161"/>
          </a:xfrm>
          <a:prstGeom prst="rect">
            <a:avLst/>
          </a:prstGeom>
        </p:spPr>
      </p:pic>
      <p:pic>
        <p:nvPicPr>
          <p:cNvPr id="107" name="Gráfico 106" descr="bolas de harvey 25% con relleno sólido">
            <a:extLst>
              <a:ext uri="{FF2B5EF4-FFF2-40B4-BE49-F238E27FC236}">
                <a16:creationId xmlns:a16="http://schemas.microsoft.com/office/drawing/2014/main" id="{A739314F-7811-8B0D-FBB6-EB6DC9C473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80173" y="5608330"/>
            <a:ext cx="499091" cy="499091"/>
          </a:xfrm>
          <a:prstGeom prst="rect">
            <a:avLst/>
          </a:prstGeom>
        </p:spPr>
      </p:pic>
      <p:pic>
        <p:nvPicPr>
          <p:cNvPr id="108" name="Gráfico 107" descr="bolas de harvey 10% con relleno sólido">
            <a:extLst>
              <a:ext uri="{FF2B5EF4-FFF2-40B4-BE49-F238E27FC236}">
                <a16:creationId xmlns:a16="http://schemas.microsoft.com/office/drawing/2014/main" id="{686220F7-A466-9F64-C9C8-3CB1EC509C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3430" y="3107445"/>
            <a:ext cx="504161" cy="504161"/>
          </a:xfrm>
          <a:prstGeom prst="rect">
            <a:avLst/>
          </a:prstGeom>
        </p:spPr>
      </p:pic>
      <p:pic>
        <p:nvPicPr>
          <p:cNvPr id="109" name="Gráfico 108" descr="bolas de harvey 25% con relleno sólido">
            <a:extLst>
              <a:ext uri="{FF2B5EF4-FFF2-40B4-BE49-F238E27FC236}">
                <a16:creationId xmlns:a16="http://schemas.microsoft.com/office/drawing/2014/main" id="{199327D6-DCB9-0239-3FDA-E73156BF28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9853" y="3860810"/>
            <a:ext cx="499091" cy="499091"/>
          </a:xfrm>
          <a:prstGeom prst="rect">
            <a:avLst/>
          </a:prstGeom>
        </p:spPr>
      </p:pic>
      <p:pic>
        <p:nvPicPr>
          <p:cNvPr id="110" name="Gráfico 109" descr="bolas de harvey 10% con relleno sólido">
            <a:extLst>
              <a:ext uri="{FF2B5EF4-FFF2-40B4-BE49-F238E27FC236}">
                <a16:creationId xmlns:a16="http://schemas.microsoft.com/office/drawing/2014/main" id="{CF62FDB8-9104-0A76-E6E9-F0B47205EB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74390" y="4722885"/>
            <a:ext cx="504161" cy="504161"/>
          </a:xfrm>
          <a:prstGeom prst="rect">
            <a:avLst/>
          </a:prstGeom>
        </p:spPr>
      </p:pic>
      <p:pic>
        <p:nvPicPr>
          <p:cNvPr id="112" name="Gráfico 111" descr="bolas de harvey 70% con relleno sólido">
            <a:extLst>
              <a:ext uri="{FF2B5EF4-FFF2-40B4-BE49-F238E27FC236}">
                <a16:creationId xmlns:a16="http://schemas.microsoft.com/office/drawing/2014/main" id="{7D489E21-4BCD-29DA-B3BA-7AAD18070A2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27418" y="3144520"/>
            <a:ext cx="489221" cy="489221"/>
          </a:xfrm>
          <a:prstGeom prst="rect">
            <a:avLst/>
          </a:prstGeom>
        </p:spPr>
      </p:pic>
      <p:pic>
        <p:nvPicPr>
          <p:cNvPr id="113" name="Gráfico 112" descr="bolas de harvey 45% con relleno sólido">
            <a:extLst>
              <a:ext uri="{FF2B5EF4-FFF2-40B4-BE49-F238E27FC236}">
                <a16:creationId xmlns:a16="http://schemas.microsoft.com/office/drawing/2014/main" id="{7EB89F54-E0A0-F7BD-8FDB-CA4F0ACCDD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24278" y="3865880"/>
            <a:ext cx="522841" cy="522841"/>
          </a:xfrm>
          <a:prstGeom prst="rect">
            <a:avLst/>
          </a:prstGeom>
        </p:spPr>
      </p:pic>
      <p:pic>
        <p:nvPicPr>
          <p:cNvPr id="114" name="Gráfico 113" descr="bolas de harvey 50% con relleno sólido">
            <a:extLst>
              <a:ext uri="{FF2B5EF4-FFF2-40B4-BE49-F238E27FC236}">
                <a16:creationId xmlns:a16="http://schemas.microsoft.com/office/drawing/2014/main" id="{E6B470CC-4910-E935-6B78-F010772C3F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76068" y="4734563"/>
            <a:ext cx="490638" cy="490638"/>
          </a:xfrm>
          <a:prstGeom prst="rect">
            <a:avLst/>
          </a:prstGeom>
        </p:spPr>
      </p:pic>
      <p:pic>
        <p:nvPicPr>
          <p:cNvPr id="115" name="Gráfico 114" descr="bolas de harvey 50% con relleno sólido">
            <a:extLst>
              <a:ext uri="{FF2B5EF4-FFF2-40B4-BE49-F238E27FC236}">
                <a16:creationId xmlns:a16="http://schemas.microsoft.com/office/drawing/2014/main" id="{FA703045-9575-F671-0084-C3D1C0B11D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06548" y="5608323"/>
            <a:ext cx="490638" cy="49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51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0D00A-693C-DE7C-1E17-BAF6F2A0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D5F9F187-9C3F-64F0-42F0-EFBB1CD23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0"/>
            <a:ext cx="8733264" cy="1137676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283F8BF4-7BE6-DC32-C32E-03B4554AD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438" y="268368"/>
            <a:ext cx="5927089" cy="549145"/>
          </a:xfrm>
          <a:prstGeom prst="rect">
            <a:avLst/>
          </a:prstGeom>
        </p:spPr>
        <p:txBody>
          <a:bodyPr vert="horz" wrap="square" lIns="0" tIns="50058" rIns="0" bIns="0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  <a:cs typeface="Libre Franklin"/>
              </a:rPr>
              <a:t>KPIs a </a:t>
            </a:r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  <a:cs typeface="Libre Franklin"/>
              </a:rPr>
              <a:t>revisar</a:t>
            </a:r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  <a:cs typeface="Libre Franklin"/>
              </a:rPr>
              <a:t> con TLs</a:t>
            </a:r>
            <a:endParaRPr sz="3600" dirty="0">
              <a:solidFill>
                <a:schemeClr val="bg1"/>
              </a:solidFill>
              <a:latin typeface="Libre Franklin"/>
              <a:cs typeface="Libre Franklin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2E4ED31-B970-0A2D-1885-2A1A2D912B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41" y="-113445"/>
            <a:ext cx="1205312" cy="12935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B683244-BA48-64C7-7792-6615A87754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919" y="0"/>
            <a:ext cx="1378997" cy="6870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F21C541-DF60-FB42-DECA-607AFBB17228}"/>
              </a:ext>
            </a:extLst>
          </p:cNvPr>
          <p:cNvSpPr txBox="1"/>
          <p:nvPr/>
        </p:nvSpPr>
        <p:spPr>
          <a:xfrm>
            <a:off x="8473440" y="1251121"/>
            <a:ext cx="347112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KPIs</a:t>
            </a:r>
            <a:r>
              <a:rPr lang="es-MX" dirty="0"/>
              <a:t> seguimiento directo a Originadores:</a:t>
            </a:r>
          </a:p>
          <a:p>
            <a:pPr marL="400050" indent="-400050">
              <a:buAutoNum type="romanLcParenR"/>
            </a:pPr>
            <a:r>
              <a:rPr lang="es-MX" dirty="0"/>
              <a:t>8 citas mensuales</a:t>
            </a:r>
          </a:p>
          <a:p>
            <a:pPr marL="400050" indent="-400050">
              <a:buAutoNum type="romanLcParenR"/>
            </a:pPr>
            <a:r>
              <a:rPr lang="es-MX" dirty="0"/>
              <a:t>Generación de nuevas oportunidades 70% del definido</a:t>
            </a:r>
          </a:p>
          <a:p>
            <a:pPr marL="400050" indent="-400050">
              <a:buAutoNum type="romanLcParenR"/>
            </a:pPr>
            <a:r>
              <a:rPr lang="es-MX" dirty="0"/>
              <a:t>Ticket promedio &gt; 10 </a:t>
            </a:r>
            <a:r>
              <a:rPr lang="es-MX" dirty="0" err="1"/>
              <a:t>mdp</a:t>
            </a:r>
            <a:endParaRPr lang="es-MX" dirty="0"/>
          </a:p>
          <a:p>
            <a:pPr marL="400050" indent="-400050">
              <a:buAutoNum type="romanLcParenR"/>
            </a:pPr>
            <a:endParaRPr lang="es-MX" dirty="0"/>
          </a:p>
          <a:p>
            <a:r>
              <a:rPr lang="es-MX" dirty="0"/>
              <a:t>En caso de no llegar, TL y Director participarán en ESC y revisión de </a:t>
            </a:r>
            <a:r>
              <a:rPr lang="es-MX" dirty="0" err="1"/>
              <a:t>Account</a:t>
            </a:r>
            <a:r>
              <a:rPr lang="es-MX" dirty="0"/>
              <a:t> set</a:t>
            </a:r>
          </a:p>
          <a:p>
            <a:endParaRPr lang="es-MX" dirty="0"/>
          </a:p>
          <a:p>
            <a:r>
              <a:rPr lang="es-MX" dirty="0"/>
              <a:t>Regiones en revisión y a definir a finales de Abril cambio de regiones.  </a:t>
            </a:r>
          </a:p>
          <a:p>
            <a:endParaRPr lang="es-MX" dirty="0"/>
          </a:p>
          <a:p>
            <a:r>
              <a:rPr lang="es-MX" dirty="0" err="1"/>
              <a:t>Gto</a:t>
            </a:r>
            <a:r>
              <a:rPr lang="es-MX" dirty="0"/>
              <a:t> y SLP a LMM 3, Zac a LMM 4 y </a:t>
            </a:r>
            <a:r>
              <a:rPr lang="es-MX" dirty="0" err="1"/>
              <a:t>Qroo</a:t>
            </a:r>
            <a:r>
              <a:rPr lang="es-MX" dirty="0"/>
              <a:t> a M. Villanueva de LMM 5</a:t>
            </a:r>
          </a:p>
          <a:p>
            <a:endParaRPr lang="es-MX" dirty="0"/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1B26BB-B35C-DA50-617E-B67B49F4C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6" y="1251121"/>
            <a:ext cx="8080374" cy="54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3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: Rounded Corners 135">
            <a:extLst>
              <a:ext uri="{FF2B5EF4-FFF2-40B4-BE49-F238E27FC236}">
                <a16:creationId xmlns:a16="http://schemas.microsoft.com/office/drawing/2014/main" id="{71C5DF88-2B09-4E6A-BF86-40FBF35A030D}"/>
              </a:ext>
            </a:extLst>
          </p:cNvPr>
          <p:cNvSpPr/>
          <p:nvPr/>
        </p:nvSpPr>
        <p:spPr>
          <a:xfrm>
            <a:off x="10465916" y="1524426"/>
            <a:ext cx="1475699" cy="4580932"/>
          </a:xfrm>
          <a:prstGeom prst="roundRect">
            <a:avLst/>
          </a:prstGeom>
          <a:solidFill>
            <a:schemeClr val="bg1">
              <a:lumMod val="8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9180">
              <a:defRPr/>
            </a:pPr>
            <a:endParaRPr lang="es-MX" sz="1790">
              <a:solidFill>
                <a:prstClr val="white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3020BAA-79FF-4B12-89A2-51C03079A24D}"/>
              </a:ext>
            </a:extLst>
          </p:cNvPr>
          <p:cNvCxnSpPr>
            <a:cxnSpLocks/>
          </p:cNvCxnSpPr>
          <p:nvPr/>
        </p:nvCxnSpPr>
        <p:spPr>
          <a:xfrm>
            <a:off x="296060" y="1031529"/>
            <a:ext cx="11645555" cy="0"/>
          </a:xfrm>
          <a:prstGeom prst="line">
            <a:avLst/>
          </a:prstGeom>
          <a:ln w="19050">
            <a:solidFill>
              <a:srgbClr val="00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23">
            <a:extLst>
              <a:ext uri="{FF2B5EF4-FFF2-40B4-BE49-F238E27FC236}">
                <a16:creationId xmlns:a16="http://schemas.microsoft.com/office/drawing/2014/main" id="{E6342229-8A24-4927-8F96-75F698639091}"/>
              </a:ext>
            </a:extLst>
          </p:cNvPr>
          <p:cNvSpPr/>
          <p:nvPr/>
        </p:nvSpPr>
        <p:spPr>
          <a:xfrm>
            <a:off x="1322350" y="1456524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J. </a:t>
            </a: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Albarrán</a:t>
            </a:r>
            <a:endParaRPr lang="en-US" sz="1270" b="1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TL</a:t>
            </a:r>
          </a:p>
        </p:txBody>
      </p:sp>
      <p:sp>
        <p:nvSpPr>
          <p:cNvPr id="166" name="Rounded Rectangle 23">
            <a:extLst>
              <a:ext uri="{FF2B5EF4-FFF2-40B4-BE49-F238E27FC236}">
                <a16:creationId xmlns:a16="http://schemas.microsoft.com/office/drawing/2014/main" id="{DD6D54B0-DC15-4206-B970-1A8056292379}"/>
              </a:ext>
            </a:extLst>
          </p:cNvPr>
          <p:cNvSpPr/>
          <p:nvPr/>
        </p:nvSpPr>
        <p:spPr>
          <a:xfrm>
            <a:off x="1322350" y="2367862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J. Villaseñor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GDL, Sin y SLP</a:t>
            </a:r>
          </a:p>
        </p:txBody>
      </p:sp>
      <p:sp>
        <p:nvSpPr>
          <p:cNvPr id="168" name="Rounded Rectangle 23">
            <a:extLst>
              <a:ext uri="{FF2B5EF4-FFF2-40B4-BE49-F238E27FC236}">
                <a16:creationId xmlns:a16="http://schemas.microsoft.com/office/drawing/2014/main" id="{752A4F08-480C-4C4E-8197-326872FE0240}"/>
              </a:ext>
            </a:extLst>
          </p:cNvPr>
          <p:cNvSpPr/>
          <p:nvPr/>
        </p:nvSpPr>
        <p:spPr>
          <a:xfrm>
            <a:off x="1322350" y="1920048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A. </a:t>
            </a: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Monteón</a:t>
            </a:r>
            <a:endParaRPr lang="en-US" sz="1270" b="1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GDL, </a:t>
            </a: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Ags</a:t>
            </a: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 Zac</a:t>
            </a:r>
          </a:p>
        </p:txBody>
      </p:sp>
      <p:sp>
        <p:nvSpPr>
          <p:cNvPr id="170" name="Rounded Rectangle 23">
            <a:extLst>
              <a:ext uri="{FF2B5EF4-FFF2-40B4-BE49-F238E27FC236}">
                <a16:creationId xmlns:a16="http://schemas.microsoft.com/office/drawing/2014/main" id="{0A703D87-03BA-40A7-921F-373BFBA1DC4D}"/>
              </a:ext>
            </a:extLst>
          </p:cNvPr>
          <p:cNvSpPr/>
          <p:nvPr/>
        </p:nvSpPr>
        <p:spPr>
          <a:xfrm>
            <a:off x="6553815" y="2793752"/>
            <a:ext cx="1769358" cy="39645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A. Luna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schemeClr val="bg1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BC, BC Sur y Son</a:t>
            </a:r>
          </a:p>
        </p:txBody>
      </p:sp>
      <p:sp>
        <p:nvSpPr>
          <p:cNvPr id="174" name="Rounded Rectangle 23">
            <a:extLst>
              <a:ext uri="{FF2B5EF4-FFF2-40B4-BE49-F238E27FC236}">
                <a16:creationId xmlns:a16="http://schemas.microsoft.com/office/drawing/2014/main" id="{815EE238-8797-4800-A371-07A6719D4607}"/>
              </a:ext>
            </a:extLst>
          </p:cNvPr>
          <p:cNvSpPr/>
          <p:nvPr/>
        </p:nvSpPr>
        <p:spPr>
          <a:xfrm>
            <a:off x="1322350" y="2786344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R. Moreno           GDL, Col y Mich</a:t>
            </a:r>
          </a:p>
        </p:txBody>
      </p:sp>
      <p:sp>
        <p:nvSpPr>
          <p:cNvPr id="176" name="Rounded Rectangle 23">
            <a:extLst>
              <a:ext uri="{FF2B5EF4-FFF2-40B4-BE49-F238E27FC236}">
                <a16:creationId xmlns:a16="http://schemas.microsoft.com/office/drawing/2014/main" id="{CB7B1332-7034-4AD0-BB64-28B5BB9C26C4}"/>
              </a:ext>
            </a:extLst>
          </p:cNvPr>
          <p:cNvSpPr/>
          <p:nvPr/>
        </p:nvSpPr>
        <p:spPr>
          <a:xfrm>
            <a:off x="4112233" y="1896660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T. Cisneros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CDMX, </a:t>
            </a:r>
            <a:r>
              <a:rPr lang="en-US" sz="1270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Hgo</a:t>
            </a:r>
            <a:endParaRPr lang="en-US" sz="1270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78" name="Rounded Rectangle 23">
            <a:extLst>
              <a:ext uri="{FF2B5EF4-FFF2-40B4-BE49-F238E27FC236}">
                <a16:creationId xmlns:a16="http://schemas.microsoft.com/office/drawing/2014/main" id="{FE0CDA96-4F20-4409-9915-9FA8508EBF99}"/>
              </a:ext>
            </a:extLst>
          </p:cNvPr>
          <p:cNvSpPr/>
          <p:nvPr/>
        </p:nvSpPr>
        <p:spPr>
          <a:xfrm>
            <a:off x="4107120" y="3259868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M. Villalón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 y Mor</a:t>
            </a:r>
          </a:p>
        </p:txBody>
      </p:sp>
      <p:sp>
        <p:nvSpPr>
          <p:cNvPr id="182" name="Text Placeholder 1">
            <a:extLst>
              <a:ext uri="{FF2B5EF4-FFF2-40B4-BE49-F238E27FC236}">
                <a16:creationId xmlns:a16="http://schemas.microsoft.com/office/drawing/2014/main" id="{1B6F56BD-C1B4-40A1-B3F6-890812FC0974}"/>
              </a:ext>
            </a:extLst>
          </p:cNvPr>
          <p:cNvSpPr txBox="1">
            <a:spLocks/>
          </p:cNvSpPr>
          <p:nvPr/>
        </p:nvSpPr>
        <p:spPr>
          <a:xfrm>
            <a:off x="1187598" y="1177350"/>
            <a:ext cx="2033830" cy="172547"/>
          </a:xfrm>
          <a:prstGeom prst="rect">
            <a:avLst/>
          </a:prstGeom>
        </p:spPr>
        <p:txBody>
          <a:bodyPr vert="horz" lIns="82953" tIns="41476" rIns="82953" bIns="41476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1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9544">
              <a:spcBef>
                <a:spcPts val="907"/>
              </a:spcBef>
              <a:defRPr/>
            </a:pPr>
            <a:r>
              <a:rPr lang="en-US" sz="1270" b="0" dirty="0">
                <a:latin typeface="Helvetica" panose="020B0604020202020204" pitchFamily="34" charset="0"/>
                <a:cs typeface="Helvetica" panose="020B0604020202020204" pitchFamily="34" charset="0"/>
              </a:rPr>
              <a:t>LMM1</a:t>
            </a:r>
          </a:p>
        </p:txBody>
      </p:sp>
      <p:sp>
        <p:nvSpPr>
          <p:cNvPr id="200" name="Título 1">
            <a:extLst>
              <a:ext uri="{FF2B5EF4-FFF2-40B4-BE49-F238E27FC236}">
                <a16:creationId xmlns:a16="http://schemas.microsoft.com/office/drawing/2014/main" id="{A1945194-C41E-4958-815E-283A87574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440" y="77822"/>
            <a:ext cx="5031310" cy="558593"/>
          </a:xfrm>
        </p:spPr>
        <p:txBody>
          <a:bodyPr/>
          <a:lstStyle/>
          <a:p>
            <a:r>
              <a:rPr lang="es-ES_tradnl" b="1" dirty="0">
                <a:latin typeface="Helvetica" panose="020B0604020202020204" pitchFamily="34" charset="0"/>
                <a:cs typeface="Helvetica" panose="020B0604020202020204" pitchFamily="34" charset="0"/>
              </a:rPr>
              <a:t>Organigrama Comercial 2026</a:t>
            </a:r>
          </a:p>
        </p:txBody>
      </p:sp>
      <p:sp>
        <p:nvSpPr>
          <p:cNvPr id="127" name="Rounded Rectangle 23">
            <a:extLst>
              <a:ext uri="{FF2B5EF4-FFF2-40B4-BE49-F238E27FC236}">
                <a16:creationId xmlns:a16="http://schemas.microsoft.com/office/drawing/2014/main" id="{1F086F0D-360B-4DB2-940D-998C6FA44B7D}"/>
              </a:ext>
            </a:extLst>
          </p:cNvPr>
          <p:cNvSpPr/>
          <p:nvPr/>
        </p:nvSpPr>
        <p:spPr>
          <a:xfrm>
            <a:off x="1322350" y="3767090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Karen</a:t>
            </a:r>
          </a:p>
          <a:p>
            <a:pPr algn="ctr" defTabSz="829544">
              <a:defRPr/>
            </a:pP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Gdl</a:t>
            </a: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 Nayarit</a:t>
            </a:r>
          </a:p>
        </p:txBody>
      </p:sp>
      <p:sp>
        <p:nvSpPr>
          <p:cNvPr id="129" name="Rounded Rectangle 23">
            <a:extLst>
              <a:ext uri="{FF2B5EF4-FFF2-40B4-BE49-F238E27FC236}">
                <a16:creationId xmlns:a16="http://schemas.microsoft.com/office/drawing/2014/main" id="{24052FC0-684F-492E-B15D-99B2A8F402D1}"/>
              </a:ext>
            </a:extLst>
          </p:cNvPr>
          <p:cNvSpPr/>
          <p:nvPr/>
        </p:nvSpPr>
        <p:spPr>
          <a:xfrm>
            <a:off x="1322350" y="3256917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R. Anaya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GDL y </a:t>
            </a: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Gto</a:t>
            </a:r>
            <a:endParaRPr lang="en-US" sz="1270" b="1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E137ED-E2B8-4C03-80BE-2C3775D098BE}"/>
              </a:ext>
            </a:extLst>
          </p:cNvPr>
          <p:cNvCxnSpPr>
            <a:cxnSpLocks/>
          </p:cNvCxnSpPr>
          <p:nvPr/>
        </p:nvCxnSpPr>
        <p:spPr>
          <a:xfrm>
            <a:off x="296061" y="1801324"/>
            <a:ext cx="11645554" cy="0"/>
          </a:xfrm>
          <a:prstGeom prst="line">
            <a:avLst/>
          </a:prstGeom>
          <a:ln w="19050">
            <a:solidFill>
              <a:srgbClr val="004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ounded Rectangle 23">
            <a:extLst>
              <a:ext uri="{FF2B5EF4-FFF2-40B4-BE49-F238E27FC236}">
                <a16:creationId xmlns:a16="http://schemas.microsoft.com/office/drawing/2014/main" id="{A2D85574-1235-4886-9A3A-4F6EE64771EE}"/>
              </a:ext>
            </a:extLst>
          </p:cNvPr>
          <p:cNvSpPr/>
          <p:nvPr/>
        </p:nvSpPr>
        <p:spPr>
          <a:xfrm>
            <a:off x="6553815" y="1902322"/>
            <a:ext cx="1769358" cy="396454"/>
          </a:xfrm>
          <a:prstGeom prst="roundRect">
            <a:avLst/>
          </a:prstGeom>
          <a:solidFill>
            <a:srgbClr val="7030A0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A. Ramírez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Coa, </a:t>
            </a: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Dgo</a:t>
            </a: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 y Zac</a:t>
            </a:r>
          </a:p>
        </p:txBody>
      </p:sp>
      <p:sp>
        <p:nvSpPr>
          <p:cNvPr id="171" name="Rounded Rectangle 23">
            <a:extLst>
              <a:ext uri="{FF2B5EF4-FFF2-40B4-BE49-F238E27FC236}">
                <a16:creationId xmlns:a16="http://schemas.microsoft.com/office/drawing/2014/main" id="{F4412C3B-B206-4BBB-B244-33E5A50A1563}"/>
              </a:ext>
            </a:extLst>
          </p:cNvPr>
          <p:cNvSpPr/>
          <p:nvPr/>
        </p:nvSpPr>
        <p:spPr>
          <a:xfrm>
            <a:off x="6553815" y="2361600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M. Leija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NL y Tam</a:t>
            </a:r>
          </a:p>
        </p:txBody>
      </p:sp>
      <p:sp>
        <p:nvSpPr>
          <p:cNvPr id="173" name="Rounded Rectangle 23">
            <a:extLst>
              <a:ext uri="{FF2B5EF4-FFF2-40B4-BE49-F238E27FC236}">
                <a16:creationId xmlns:a16="http://schemas.microsoft.com/office/drawing/2014/main" id="{EA576A86-00F0-4885-8B72-D56E2D06721E}"/>
              </a:ext>
            </a:extLst>
          </p:cNvPr>
          <p:cNvSpPr/>
          <p:nvPr/>
        </p:nvSpPr>
        <p:spPr>
          <a:xfrm>
            <a:off x="6553815" y="3259868"/>
            <a:ext cx="1769358" cy="396454"/>
          </a:xfrm>
          <a:prstGeom prst="roundRect">
            <a:avLst/>
          </a:prstGeom>
          <a:solidFill>
            <a:srgbClr val="7030A0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M. García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Chih</a:t>
            </a:r>
          </a:p>
        </p:txBody>
      </p:sp>
      <p:sp>
        <p:nvSpPr>
          <p:cNvPr id="194" name="Rounded Rectangle 23">
            <a:extLst>
              <a:ext uri="{FF2B5EF4-FFF2-40B4-BE49-F238E27FC236}">
                <a16:creationId xmlns:a16="http://schemas.microsoft.com/office/drawing/2014/main" id="{C7F99DF9-03CF-4A87-995E-8596810C3DCA}"/>
              </a:ext>
            </a:extLst>
          </p:cNvPr>
          <p:cNvSpPr/>
          <p:nvPr/>
        </p:nvSpPr>
        <p:spPr>
          <a:xfrm>
            <a:off x="4099074" y="3757034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R. Ramirez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</a:t>
            </a:r>
          </a:p>
        </p:txBody>
      </p:sp>
      <p:sp>
        <p:nvSpPr>
          <p:cNvPr id="197" name="Rounded Rectangle 23">
            <a:extLst>
              <a:ext uri="{FF2B5EF4-FFF2-40B4-BE49-F238E27FC236}">
                <a16:creationId xmlns:a16="http://schemas.microsoft.com/office/drawing/2014/main" id="{A7CA74EA-E4C6-4309-9284-E6CEA64412C0}"/>
              </a:ext>
            </a:extLst>
          </p:cNvPr>
          <p:cNvSpPr/>
          <p:nvPr/>
        </p:nvSpPr>
        <p:spPr>
          <a:xfrm>
            <a:off x="4107120" y="2785445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J. Nava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CDMX, Pue y </a:t>
            </a: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Tlax</a:t>
            </a:r>
            <a:endParaRPr lang="en-US" sz="1270" b="1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98" name="Rounded Rectangle 23">
            <a:extLst>
              <a:ext uri="{FF2B5EF4-FFF2-40B4-BE49-F238E27FC236}">
                <a16:creationId xmlns:a16="http://schemas.microsoft.com/office/drawing/2014/main" id="{5F896A9A-086E-4D37-AB06-41E0C1F4F260}"/>
              </a:ext>
            </a:extLst>
          </p:cNvPr>
          <p:cNvSpPr/>
          <p:nvPr/>
        </p:nvSpPr>
        <p:spPr>
          <a:xfrm>
            <a:off x="4099073" y="4201464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V. Peña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Ver, Tab y Chiapas</a:t>
            </a:r>
          </a:p>
        </p:txBody>
      </p:sp>
      <p:sp>
        <p:nvSpPr>
          <p:cNvPr id="204" name="Rounded Rectangle 23">
            <a:extLst>
              <a:ext uri="{FF2B5EF4-FFF2-40B4-BE49-F238E27FC236}">
                <a16:creationId xmlns:a16="http://schemas.microsoft.com/office/drawing/2014/main" id="{FF929912-5FAD-4572-B331-7F098B50E80C}"/>
              </a:ext>
            </a:extLst>
          </p:cNvPr>
          <p:cNvSpPr/>
          <p:nvPr/>
        </p:nvSpPr>
        <p:spPr>
          <a:xfrm>
            <a:off x="4114410" y="2356388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B. Martinez</a:t>
            </a: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CDMX, Oax</a:t>
            </a:r>
          </a:p>
        </p:txBody>
      </p:sp>
      <p:sp>
        <p:nvSpPr>
          <p:cNvPr id="210" name="Rounded Rectangle 23">
            <a:extLst>
              <a:ext uri="{FF2B5EF4-FFF2-40B4-BE49-F238E27FC236}">
                <a16:creationId xmlns:a16="http://schemas.microsoft.com/office/drawing/2014/main" id="{1C8AEB93-3806-4161-A7F5-DAB7F3ED46AD}"/>
              </a:ext>
            </a:extLst>
          </p:cNvPr>
          <p:cNvSpPr/>
          <p:nvPr/>
        </p:nvSpPr>
        <p:spPr>
          <a:xfrm>
            <a:off x="9297619" y="1908302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M. Villanueva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</a:t>
            </a:r>
          </a:p>
        </p:txBody>
      </p:sp>
      <p:sp>
        <p:nvSpPr>
          <p:cNvPr id="211" name="Text Placeholder 1">
            <a:extLst>
              <a:ext uri="{FF2B5EF4-FFF2-40B4-BE49-F238E27FC236}">
                <a16:creationId xmlns:a16="http://schemas.microsoft.com/office/drawing/2014/main" id="{49A8CAFD-5390-45FC-9DCD-6ED5A863005E}"/>
              </a:ext>
            </a:extLst>
          </p:cNvPr>
          <p:cNvSpPr txBox="1">
            <a:spLocks/>
          </p:cNvSpPr>
          <p:nvPr/>
        </p:nvSpPr>
        <p:spPr>
          <a:xfrm>
            <a:off x="9108131" y="1033584"/>
            <a:ext cx="2033830" cy="379528"/>
          </a:xfrm>
          <a:prstGeom prst="rect">
            <a:avLst/>
          </a:prstGeom>
        </p:spPr>
        <p:txBody>
          <a:bodyPr vert="horz" lIns="82953" tIns="41476" rIns="82953" bIns="41476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1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9544">
              <a:spcBef>
                <a:spcPts val="907"/>
              </a:spcBef>
              <a:defRPr/>
            </a:pPr>
            <a:r>
              <a:rPr lang="en-US" sz="816" b="0" dirty="0">
                <a:latin typeface="Helvetica" panose="020B0604020202020204" pitchFamily="34" charset="0"/>
                <a:cs typeface="Helvetica" panose="020B0604020202020204" pitchFamily="34" charset="0"/>
              </a:rPr>
              <a:t>LMM 5</a:t>
            </a:r>
          </a:p>
        </p:txBody>
      </p:sp>
      <p:sp>
        <p:nvSpPr>
          <p:cNvPr id="212" name="Rounded Rectangle 23">
            <a:extLst>
              <a:ext uri="{FF2B5EF4-FFF2-40B4-BE49-F238E27FC236}">
                <a16:creationId xmlns:a16="http://schemas.microsoft.com/office/drawing/2014/main" id="{595E8557-D911-471B-80BB-A13EB7080DCB}"/>
              </a:ext>
            </a:extLst>
          </p:cNvPr>
          <p:cNvSpPr/>
          <p:nvPr/>
        </p:nvSpPr>
        <p:spPr>
          <a:xfrm>
            <a:off x="9297619" y="2358085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J. Medrano</a:t>
            </a:r>
            <a:endParaRPr lang="en-US" sz="1270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Digital</a:t>
            </a:r>
          </a:p>
        </p:txBody>
      </p:sp>
      <p:sp>
        <p:nvSpPr>
          <p:cNvPr id="213" name="Título 1">
            <a:extLst>
              <a:ext uri="{FF2B5EF4-FFF2-40B4-BE49-F238E27FC236}">
                <a16:creationId xmlns:a16="http://schemas.microsoft.com/office/drawing/2014/main" id="{710D5EB1-C04E-4360-BA00-255E8268DCD9}"/>
              </a:ext>
            </a:extLst>
          </p:cNvPr>
          <p:cNvSpPr txBox="1">
            <a:spLocks/>
          </p:cNvSpPr>
          <p:nvPr/>
        </p:nvSpPr>
        <p:spPr>
          <a:xfrm>
            <a:off x="448457" y="6123916"/>
            <a:ext cx="4196217" cy="242927"/>
          </a:xfrm>
          <a:prstGeom prst="rect">
            <a:avLst/>
          </a:prstGeom>
        </p:spPr>
        <p:txBody>
          <a:bodyPr vert="horz" lIns="82953" tIns="41476" rIns="82953" bIns="41476" rtlCol="0" anchor="b">
            <a:noAutofit/>
          </a:bodyPr>
          <a:lstStyle>
            <a:lvl1pPr algn="l" defTabSz="99907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i="0" kern="1200" baseline="0">
                <a:solidFill>
                  <a:srgbClr val="EE7600"/>
                </a:solidFill>
                <a:latin typeface="Helvetica" pitchFamily="2" charset="0"/>
                <a:ea typeface="Verdana" charset="0"/>
                <a:cs typeface="Verdana" charset="0"/>
              </a:defRPr>
            </a:lvl1pPr>
          </a:lstStyle>
          <a:p>
            <a:pPr algn="ctr" defTabSz="906359">
              <a:defRPr/>
            </a:pPr>
            <a:endParaRPr lang="es-ES_tradnl" sz="1270" b="1" i="1" dirty="0">
              <a:solidFill>
                <a:srgbClr val="20508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6" name="Título 1">
            <a:extLst>
              <a:ext uri="{FF2B5EF4-FFF2-40B4-BE49-F238E27FC236}">
                <a16:creationId xmlns:a16="http://schemas.microsoft.com/office/drawing/2014/main" id="{29F2FC23-920D-4591-82F5-B7E91BB2455E}"/>
              </a:ext>
            </a:extLst>
          </p:cNvPr>
          <p:cNvSpPr txBox="1">
            <a:spLocks/>
          </p:cNvSpPr>
          <p:nvPr/>
        </p:nvSpPr>
        <p:spPr>
          <a:xfrm>
            <a:off x="4834776" y="6154580"/>
            <a:ext cx="4753403" cy="212262"/>
          </a:xfrm>
          <a:prstGeom prst="rect">
            <a:avLst/>
          </a:prstGeom>
        </p:spPr>
        <p:txBody>
          <a:bodyPr vert="horz" lIns="82953" tIns="41476" rIns="82953" bIns="41476" rtlCol="0" anchor="b">
            <a:noAutofit/>
          </a:bodyPr>
          <a:lstStyle>
            <a:lvl1pPr algn="l" defTabSz="99907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0" i="0" kern="1200" baseline="0">
                <a:solidFill>
                  <a:srgbClr val="EE7600"/>
                </a:solidFill>
                <a:latin typeface="Helvetica" pitchFamily="2" charset="0"/>
                <a:ea typeface="Verdana" charset="0"/>
                <a:cs typeface="Verdana" charset="0"/>
              </a:defRPr>
            </a:lvl1pPr>
          </a:lstStyle>
          <a:p>
            <a:pPr algn="ctr" defTabSz="906359">
              <a:defRPr/>
            </a:pPr>
            <a:r>
              <a:rPr lang="es-ES_tradnl" sz="1270" b="1" i="1" dirty="0">
                <a:solidFill>
                  <a:srgbClr val="20508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22 vendedores + 5 vacantes</a:t>
            </a:r>
          </a:p>
        </p:txBody>
      </p:sp>
      <p:sp>
        <p:nvSpPr>
          <p:cNvPr id="217" name="Rounded Rectangle 23">
            <a:extLst>
              <a:ext uri="{FF2B5EF4-FFF2-40B4-BE49-F238E27FC236}">
                <a16:creationId xmlns:a16="http://schemas.microsoft.com/office/drawing/2014/main" id="{217AF90D-E3E5-A77A-2F08-8042E6C3A64E}"/>
              </a:ext>
            </a:extLst>
          </p:cNvPr>
          <p:cNvSpPr/>
          <p:nvPr/>
        </p:nvSpPr>
        <p:spPr>
          <a:xfrm>
            <a:off x="6553815" y="1444922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R. Treviño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TL</a:t>
            </a:r>
          </a:p>
        </p:txBody>
      </p:sp>
      <p:sp>
        <p:nvSpPr>
          <p:cNvPr id="218" name="Rounded Rectangle 23">
            <a:extLst>
              <a:ext uri="{FF2B5EF4-FFF2-40B4-BE49-F238E27FC236}">
                <a16:creationId xmlns:a16="http://schemas.microsoft.com/office/drawing/2014/main" id="{3D214F86-97F3-EFEB-BA74-184F8F1DE01A}"/>
              </a:ext>
            </a:extLst>
          </p:cNvPr>
          <p:cNvSpPr/>
          <p:nvPr/>
        </p:nvSpPr>
        <p:spPr>
          <a:xfrm>
            <a:off x="4101002" y="1438900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F. Cruz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TL</a:t>
            </a:r>
          </a:p>
        </p:txBody>
      </p:sp>
      <p:sp>
        <p:nvSpPr>
          <p:cNvPr id="219" name="Text Placeholder 1">
            <a:extLst>
              <a:ext uri="{FF2B5EF4-FFF2-40B4-BE49-F238E27FC236}">
                <a16:creationId xmlns:a16="http://schemas.microsoft.com/office/drawing/2014/main" id="{601D7AE8-7A5D-F947-7935-AF9A2124F1F1}"/>
              </a:ext>
            </a:extLst>
          </p:cNvPr>
          <p:cNvSpPr txBox="1">
            <a:spLocks/>
          </p:cNvSpPr>
          <p:nvPr/>
        </p:nvSpPr>
        <p:spPr>
          <a:xfrm>
            <a:off x="3966250" y="1159726"/>
            <a:ext cx="2033830" cy="172547"/>
          </a:xfrm>
          <a:prstGeom prst="rect">
            <a:avLst/>
          </a:prstGeom>
        </p:spPr>
        <p:txBody>
          <a:bodyPr vert="horz" lIns="82953" tIns="41476" rIns="82953" bIns="41476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1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9544">
              <a:spcBef>
                <a:spcPts val="907"/>
              </a:spcBef>
              <a:defRPr/>
            </a:pPr>
            <a:r>
              <a:rPr lang="en-US" sz="1270" b="0" dirty="0">
                <a:latin typeface="Helvetica" panose="020B0604020202020204" pitchFamily="34" charset="0"/>
                <a:cs typeface="Helvetica" panose="020B0604020202020204" pitchFamily="34" charset="0"/>
              </a:rPr>
              <a:t>LMM 3</a:t>
            </a:r>
          </a:p>
        </p:txBody>
      </p:sp>
      <p:sp>
        <p:nvSpPr>
          <p:cNvPr id="220" name="Text Placeholder 1">
            <a:extLst>
              <a:ext uri="{FF2B5EF4-FFF2-40B4-BE49-F238E27FC236}">
                <a16:creationId xmlns:a16="http://schemas.microsoft.com/office/drawing/2014/main" id="{80204747-EAFB-74DC-A8F4-F9702798B2E9}"/>
              </a:ext>
            </a:extLst>
          </p:cNvPr>
          <p:cNvSpPr txBox="1">
            <a:spLocks/>
          </p:cNvSpPr>
          <p:nvPr/>
        </p:nvSpPr>
        <p:spPr>
          <a:xfrm>
            <a:off x="6419062" y="1159726"/>
            <a:ext cx="2033830" cy="172547"/>
          </a:xfrm>
          <a:prstGeom prst="rect">
            <a:avLst/>
          </a:prstGeom>
        </p:spPr>
        <p:txBody>
          <a:bodyPr vert="horz" lIns="82953" tIns="41476" rIns="82953" bIns="41476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1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0048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9544">
              <a:spcBef>
                <a:spcPts val="907"/>
              </a:spcBef>
              <a:defRPr/>
            </a:pPr>
            <a:r>
              <a:rPr lang="en-US" sz="1270" b="0" dirty="0">
                <a:latin typeface="Helvetica" panose="020B0604020202020204" pitchFamily="34" charset="0"/>
                <a:cs typeface="Helvetica" panose="020B0604020202020204" pitchFamily="34" charset="0"/>
              </a:rPr>
              <a:t>LMM 4</a:t>
            </a:r>
          </a:p>
        </p:txBody>
      </p:sp>
      <p:sp>
        <p:nvSpPr>
          <p:cNvPr id="221" name="Rounded Rectangle 23">
            <a:extLst>
              <a:ext uri="{FF2B5EF4-FFF2-40B4-BE49-F238E27FC236}">
                <a16:creationId xmlns:a16="http://schemas.microsoft.com/office/drawing/2014/main" id="{9B6DAB8C-A948-8803-CA40-898CE5EF52AC}"/>
              </a:ext>
            </a:extLst>
          </p:cNvPr>
          <p:cNvSpPr/>
          <p:nvPr/>
        </p:nvSpPr>
        <p:spPr>
          <a:xfrm>
            <a:off x="9280846" y="1447408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R. Hernández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TL</a:t>
            </a:r>
          </a:p>
        </p:txBody>
      </p:sp>
      <p:sp>
        <p:nvSpPr>
          <p:cNvPr id="222" name="Rounded Rectangle 23">
            <a:extLst>
              <a:ext uri="{FF2B5EF4-FFF2-40B4-BE49-F238E27FC236}">
                <a16:creationId xmlns:a16="http://schemas.microsoft.com/office/drawing/2014/main" id="{A43585B0-CE67-B529-E340-568F4BF7E02A}"/>
              </a:ext>
            </a:extLst>
          </p:cNvPr>
          <p:cNvSpPr/>
          <p:nvPr/>
        </p:nvSpPr>
        <p:spPr>
          <a:xfrm>
            <a:off x="9297619" y="2780098"/>
            <a:ext cx="1769358" cy="396454"/>
          </a:xfrm>
          <a:prstGeom prst="roundRect">
            <a:avLst/>
          </a:prstGeom>
          <a:solidFill>
            <a:srgbClr val="7030A0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J. Avendaño</a:t>
            </a:r>
          </a:p>
          <a:p>
            <a:pPr algn="ctr" defTabSz="829544">
              <a:defRPr/>
            </a:pPr>
            <a:r>
              <a:rPr lang="en-US" sz="1270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Qro</a:t>
            </a:r>
            <a:endParaRPr lang="en-US" sz="1270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Rounded Rectangle 23">
            <a:extLst>
              <a:ext uri="{FF2B5EF4-FFF2-40B4-BE49-F238E27FC236}">
                <a16:creationId xmlns:a16="http://schemas.microsoft.com/office/drawing/2014/main" id="{4AE460AF-2173-29CE-A974-870699B37ED0}"/>
              </a:ext>
            </a:extLst>
          </p:cNvPr>
          <p:cNvSpPr/>
          <p:nvPr/>
        </p:nvSpPr>
        <p:spPr>
          <a:xfrm>
            <a:off x="4104800" y="4712725"/>
            <a:ext cx="1769358" cy="39645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Abierta</a:t>
            </a:r>
            <a:endParaRPr lang="en-US" sz="1270" b="1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Puebla</a:t>
            </a:r>
          </a:p>
        </p:txBody>
      </p:sp>
      <p:sp>
        <p:nvSpPr>
          <p:cNvPr id="15" name="Rounded Rectangle 23">
            <a:extLst>
              <a:ext uri="{FF2B5EF4-FFF2-40B4-BE49-F238E27FC236}">
                <a16:creationId xmlns:a16="http://schemas.microsoft.com/office/drawing/2014/main" id="{D862211E-1CAE-ABCC-0B84-F8D78EF96145}"/>
              </a:ext>
            </a:extLst>
          </p:cNvPr>
          <p:cNvSpPr/>
          <p:nvPr/>
        </p:nvSpPr>
        <p:spPr>
          <a:xfrm>
            <a:off x="6553815" y="3741435"/>
            <a:ext cx="1769358" cy="396454"/>
          </a:xfrm>
          <a:prstGeom prst="roundRect">
            <a:avLst/>
          </a:prstGeom>
          <a:solidFill>
            <a:schemeClr val="accent2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Abierta</a:t>
            </a:r>
            <a:endParaRPr lang="en-US" sz="1270" b="1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Nuevo León</a:t>
            </a:r>
          </a:p>
        </p:txBody>
      </p: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DBCCF56E-1589-15DF-7EF2-6E35A12B5F2D}"/>
              </a:ext>
            </a:extLst>
          </p:cNvPr>
          <p:cNvSpPr/>
          <p:nvPr/>
        </p:nvSpPr>
        <p:spPr>
          <a:xfrm>
            <a:off x="9297619" y="5102396"/>
            <a:ext cx="1769358" cy="396454"/>
          </a:xfrm>
          <a:prstGeom prst="roundRect">
            <a:avLst/>
          </a:prstGeom>
          <a:solidFill>
            <a:schemeClr val="accent2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Abierta</a:t>
            </a:r>
            <a:endParaRPr lang="en-US" sz="1270" b="1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</a:t>
            </a:r>
          </a:p>
        </p:txBody>
      </p:sp>
      <p:sp>
        <p:nvSpPr>
          <p:cNvPr id="37" name="Rounded Rectangle 23">
            <a:extLst>
              <a:ext uri="{FF2B5EF4-FFF2-40B4-BE49-F238E27FC236}">
                <a16:creationId xmlns:a16="http://schemas.microsoft.com/office/drawing/2014/main" id="{5AD683BE-B015-B2BD-95B4-4265279522A0}"/>
              </a:ext>
            </a:extLst>
          </p:cNvPr>
          <p:cNvSpPr/>
          <p:nvPr/>
        </p:nvSpPr>
        <p:spPr>
          <a:xfrm>
            <a:off x="1326084" y="4264060"/>
            <a:ext cx="1769358" cy="39645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 err="1">
                <a:solidFill>
                  <a:prstClr val="white"/>
                </a:solidFill>
                <a:highlight>
                  <a:srgbClr val="008000"/>
                </a:highlight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Abierta</a:t>
            </a:r>
            <a:endParaRPr lang="en-US" sz="1270" b="1" dirty="0">
              <a:solidFill>
                <a:prstClr val="white"/>
              </a:solidFill>
              <a:highlight>
                <a:srgbClr val="008000"/>
              </a:highlight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highlight>
                  <a:srgbClr val="008000"/>
                </a:highlight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GDL a </a:t>
            </a:r>
            <a:r>
              <a:rPr lang="en-US" sz="1270" b="1" dirty="0" err="1">
                <a:solidFill>
                  <a:prstClr val="white"/>
                </a:solidFill>
                <a:highlight>
                  <a:srgbClr val="008000"/>
                </a:highlight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Gto</a:t>
            </a:r>
            <a:endParaRPr lang="en-US" sz="1270" b="1" dirty="0">
              <a:solidFill>
                <a:prstClr val="white"/>
              </a:solidFill>
              <a:highlight>
                <a:srgbClr val="008000"/>
              </a:highlight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CD9FC63C-81EB-D353-62FD-2D6084E05205}"/>
              </a:ext>
            </a:extLst>
          </p:cNvPr>
          <p:cNvSpPr/>
          <p:nvPr/>
        </p:nvSpPr>
        <p:spPr>
          <a:xfrm>
            <a:off x="6568759" y="4238406"/>
            <a:ext cx="1769358" cy="396454"/>
          </a:xfrm>
          <a:prstGeom prst="roundRect">
            <a:avLst/>
          </a:prstGeom>
          <a:solidFill>
            <a:schemeClr val="accent2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Abierta</a:t>
            </a:r>
            <a:endParaRPr lang="en-US" sz="1270" b="1" dirty="0">
              <a:solidFill>
                <a:prstClr val="white"/>
              </a:solidFill>
              <a:latin typeface="Helvetica" panose="020B0604020202020204" pitchFamily="34" charset="0"/>
              <a:ea typeface="Verdana" panose="020B0604030504040204" pitchFamily="34" charset="0"/>
              <a:cs typeface="Helvetica" panose="020B0604020202020204" pitchFamily="34" charset="0"/>
            </a:endParaRPr>
          </a:p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Nuevo León</a:t>
            </a:r>
          </a:p>
        </p:txBody>
      </p:sp>
      <p:sp>
        <p:nvSpPr>
          <p:cNvPr id="43" name="Rounded Rectangle 23">
            <a:extLst>
              <a:ext uri="{FF2B5EF4-FFF2-40B4-BE49-F238E27FC236}">
                <a16:creationId xmlns:a16="http://schemas.microsoft.com/office/drawing/2014/main" id="{27ECBE2E-E64B-E491-89E9-2EFA8841AA62}"/>
              </a:ext>
            </a:extLst>
          </p:cNvPr>
          <p:cNvSpPr/>
          <p:nvPr/>
        </p:nvSpPr>
        <p:spPr>
          <a:xfrm>
            <a:off x="9312563" y="3246012"/>
            <a:ext cx="1769358" cy="396454"/>
          </a:xfrm>
          <a:prstGeom prst="roundRect">
            <a:avLst/>
          </a:prstGeom>
          <a:solidFill>
            <a:srgbClr val="7030A0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R. Pérez</a:t>
            </a:r>
          </a:p>
          <a:p>
            <a:pPr algn="ctr" defTabSz="829544">
              <a:defRPr/>
            </a:pPr>
            <a:r>
              <a:rPr lang="en-US" sz="1270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Yuc</a:t>
            </a: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</a:t>
            </a:r>
            <a:r>
              <a:rPr lang="en-US" sz="1270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Qroo</a:t>
            </a: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, Camp</a:t>
            </a:r>
          </a:p>
        </p:txBody>
      </p:sp>
      <p:sp>
        <p:nvSpPr>
          <p:cNvPr id="47" name="Rounded Rectangle 23">
            <a:extLst>
              <a:ext uri="{FF2B5EF4-FFF2-40B4-BE49-F238E27FC236}">
                <a16:creationId xmlns:a16="http://schemas.microsoft.com/office/drawing/2014/main" id="{88AAA414-1441-74D8-5E79-805AB70C2E1E}"/>
              </a:ext>
            </a:extLst>
          </p:cNvPr>
          <p:cNvSpPr/>
          <p:nvPr/>
        </p:nvSpPr>
        <p:spPr>
          <a:xfrm>
            <a:off x="9312563" y="3695794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M. Ortiz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</a:t>
            </a:r>
          </a:p>
        </p:txBody>
      </p:sp>
      <p:sp>
        <p:nvSpPr>
          <p:cNvPr id="51" name="Rounded Rectangle 23">
            <a:extLst>
              <a:ext uri="{FF2B5EF4-FFF2-40B4-BE49-F238E27FC236}">
                <a16:creationId xmlns:a16="http://schemas.microsoft.com/office/drawing/2014/main" id="{251A1EE9-A635-0809-76FB-D67D6B88BDB1}"/>
              </a:ext>
            </a:extLst>
          </p:cNvPr>
          <p:cNvSpPr/>
          <p:nvPr/>
        </p:nvSpPr>
        <p:spPr>
          <a:xfrm>
            <a:off x="9312563" y="4117807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C. Gamboa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</a:t>
            </a:r>
          </a:p>
        </p:txBody>
      </p:sp>
      <p:sp>
        <p:nvSpPr>
          <p:cNvPr id="55" name="Rounded Rectangle 23">
            <a:extLst>
              <a:ext uri="{FF2B5EF4-FFF2-40B4-BE49-F238E27FC236}">
                <a16:creationId xmlns:a16="http://schemas.microsoft.com/office/drawing/2014/main" id="{4649312B-FC14-5E3C-0E9B-B0C3E6266BE5}"/>
              </a:ext>
            </a:extLst>
          </p:cNvPr>
          <p:cNvSpPr/>
          <p:nvPr/>
        </p:nvSpPr>
        <p:spPr>
          <a:xfrm>
            <a:off x="9327507" y="4592360"/>
            <a:ext cx="1769358" cy="396454"/>
          </a:xfrm>
          <a:prstGeom prst="roundRect">
            <a:avLst/>
          </a:prstGeom>
          <a:solidFill>
            <a:srgbClr val="00437A"/>
          </a:solidFill>
          <a:ln>
            <a:solidFill>
              <a:srgbClr val="47D2A7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en-US" sz="1270" b="1" dirty="0" err="1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</a:t>
            </a:r>
            <a:r>
              <a:rPr lang="en-US" sz="1270" b="1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. Mizrahi</a:t>
            </a:r>
          </a:p>
          <a:p>
            <a:pPr algn="ctr" defTabSz="829544">
              <a:defRPr/>
            </a:pPr>
            <a:r>
              <a:rPr lang="en-US" sz="1270" dirty="0">
                <a:solidFill>
                  <a:prstClr val="white"/>
                </a:solidFill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CDMX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43E35FA-A455-B3A2-B1CF-685827530953}"/>
              </a:ext>
            </a:extLst>
          </p:cNvPr>
          <p:cNvSpPr txBox="1"/>
          <p:nvPr/>
        </p:nvSpPr>
        <p:spPr>
          <a:xfrm>
            <a:off x="1087120" y="5498850"/>
            <a:ext cx="3315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En revisión </a:t>
            </a:r>
            <a:r>
              <a:rPr lang="es-MX" dirty="0" err="1"/>
              <a:t>Gto</a:t>
            </a:r>
            <a:r>
              <a:rPr lang="es-MX" dirty="0"/>
              <a:t>, Zac, </a:t>
            </a:r>
            <a:r>
              <a:rPr lang="es-MX" dirty="0" err="1"/>
              <a:t>Qroo</a:t>
            </a:r>
            <a:r>
              <a:rPr lang="es-MX" dirty="0"/>
              <a:t> y SLP</a:t>
            </a:r>
          </a:p>
        </p:txBody>
      </p:sp>
    </p:spTree>
    <p:extLst>
      <p:ext uri="{BB962C8B-B14F-4D97-AF65-F5344CB8AC3E}">
        <p14:creationId xmlns:p14="http://schemas.microsoft.com/office/powerpoint/2010/main" val="297710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CA70-810D-4AEF-238C-D9670F85F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E322D1BB-F417-2608-DA57-133CD50C2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0"/>
            <a:ext cx="8733264" cy="1137676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275BB98B-B8EB-866D-316A-0C7A006737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438" y="268368"/>
            <a:ext cx="5927089" cy="549145"/>
          </a:xfrm>
          <a:prstGeom prst="rect">
            <a:avLst/>
          </a:prstGeom>
        </p:spPr>
        <p:txBody>
          <a:bodyPr vert="horz" wrap="square" lIns="0" tIns="50058" rIns="0" bIns="0" rtlCol="0" anchor="ctr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</a:rPr>
              <a:t>Enfoque</a:t>
            </a:r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</a:rPr>
              <a:t>por</a:t>
            </a:r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</a:rPr>
              <a:t> Edo e Ind</a:t>
            </a:r>
            <a:endParaRPr sz="3600" dirty="0">
              <a:solidFill>
                <a:schemeClr val="bg1"/>
              </a:solidFill>
              <a:latin typeface="Libre Franklin"/>
              <a:cs typeface="Libre Franklin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62CFD77-6F95-F5F8-8A1B-E3AC2AA8B6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41" y="-113445"/>
            <a:ext cx="1205312" cy="12935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10E97D4-7834-DAF0-DDCD-5DD42142FF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451" y="0"/>
            <a:ext cx="2179465" cy="108588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4DC6853-A8C4-7F9C-7E1A-FF53A7B27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701" y="2498223"/>
            <a:ext cx="4790440" cy="260971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3C012FA-D022-8731-B124-A4D9ACCC3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239" y="2480310"/>
            <a:ext cx="5927371" cy="307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0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3D76-37AD-F619-136A-2D955DD0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52FFA41F-5B3E-DC76-1447-5FB95218B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0"/>
            <a:ext cx="8733264" cy="1137676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319D021C-6104-1AEE-02FA-7B52CC75A3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438" y="268368"/>
            <a:ext cx="5927089" cy="549145"/>
          </a:xfrm>
          <a:prstGeom prst="rect">
            <a:avLst/>
          </a:prstGeom>
        </p:spPr>
        <p:txBody>
          <a:bodyPr vert="horz" wrap="square" lIns="0" tIns="50058" rIns="0" bIns="0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</a:rPr>
              <a:t>Pipeline </a:t>
            </a:r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</a:rPr>
              <a:t>por</a:t>
            </a:r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</a:rPr>
              <a:t> Estado</a:t>
            </a:r>
            <a:endParaRPr sz="3600" dirty="0">
              <a:solidFill>
                <a:schemeClr val="bg1"/>
              </a:solidFill>
              <a:latin typeface="Libre Franklin"/>
              <a:cs typeface="Libre Franklin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E698B9A-B59A-F0D4-A8DC-42BA3F4FE5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41" y="-113445"/>
            <a:ext cx="1205312" cy="12935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D11497C-6432-DAD4-500C-FE9B11466D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451" y="0"/>
            <a:ext cx="2179465" cy="108588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A849B16-932E-F9EB-40A1-7F5541102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924" y="1387474"/>
            <a:ext cx="8883312" cy="520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96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5D7DF-7AC6-EBC7-9122-ACD17171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F281DCAA-CAF2-6D41-1A19-A2DD805C5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0"/>
            <a:ext cx="8733264" cy="1137676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F53A0739-94A8-3A65-4B1F-945576210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438" y="268368"/>
            <a:ext cx="5927089" cy="549145"/>
          </a:xfrm>
          <a:prstGeom prst="rect">
            <a:avLst/>
          </a:prstGeom>
        </p:spPr>
        <p:txBody>
          <a:bodyPr vert="horz" wrap="square" lIns="0" tIns="50058" rIns="0" bIns="0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</a:rPr>
              <a:t>Expos</a:t>
            </a:r>
            <a:endParaRPr sz="3600" dirty="0">
              <a:solidFill>
                <a:schemeClr val="bg1"/>
              </a:solidFill>
              <a:latin typeface="Libre Franklin"/>
              <a:cs typeface="Libre Franklin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3083657-2DCC-35A4-76AD-CB5D4B053C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41" y="-113445"/>
            <a:ext cx="1205312" cy="12935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1564160-D73A-6C91-3DBA-B035AFED35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451" y="0"/>
            <a:ext cx="2179465" cy="108588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5375D8E-09EC-A779-D40A-8E560AAB1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9624" y="2574290"/>
            <a:ext cx="7329805" cy="252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5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85DA7-B54D-B6FB-D3DD-350E94E7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2C928D0E-5FC3-29DD-C42C-F82E4C7A1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0"/>
            <a:ext cx="8733264" cy="1137676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E31D3F93-9E56-69A7-0A07-67208AD7A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438" y="268368"/>
            <a:ext cx="5927089" cy="549145"/>
          </a:xfrm>
          <a:prstGeom prst="rect">
            <a:avLst/>
          </a:prstGeom>
        </p:spPr>
        <p:txBody>
          <a:bodyPr vert="horz" wrap="square" lIns="0" tIns="50058" rIns="0" bIns="0" rtlCol="0" anchor="ctr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</a:rPr>
              <a:t>Refis</a:t>
            </a:r>
            <a:endParaRPr sz="3600" dirty="0">
              <a:solidFill>
                <a:schemeClr val="bg1"/>
              </a:solidFill>
              <a:latin typeface="Libre Franklin"/>
              <a:cs typeface="Libre Franklin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F761186-3838-5C19-E11D-F49F7EC61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41" y="-113445"/>
            <a:ext cx="1205312" cy="12935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37433EC-B89F-0AD4-83EF-419633CCF3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451" y="0"/>
            <a:ext cx="2179465" cy="108588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DEF333C-B757-FA7B-FD8E-D73BEF0ED965}"/>
              </a:ext>
            </a:extLst>
          </p:cNvPr>
          <p:cNvSpPr txBox="1"/>
          <p:nvPr/>
        </p:nvSpPr>
        <p:spPr>
          <a:xfrm>
            <a:off x="1198880" y="2286000"/>
            <a:ext cx="82499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s-MX" dirty="0"/>
              <a:t>Revisar Top 50 clientes, revisar </a:t>
            </a:r>
            <a:r>
              <a:rPr lang="es-MX" dirty="0" err="1"/>
              <a:t>DaVinci</a:t>
            </a:r>
            <a:r>
              <a:rPr lang="es-MX" dirty="0"/>
              <a:t> con Luis y </a:t>
            </a:r>
            <a:r>
              <a:rPr lang="es-MX" dirty="0" err="1"/>
              <a:t>Account</a:t>
            </a:r>
            <a:r>
              <a:rPr lang="es-MX" dirty="0"/>
              <a:t> </a:t>
            </a:r>
            <a:r>
              <a:rPr lang="es-MX" dirty="0" err="1"/>
              <a:t>Monitoring</a:t>
            </a:r>
            <a:endParaRPr lang="es-MX" dirty="0"/>
          </a:p>
          <a:p>
            <a:pPr marL="342900" indent="-342900">
              <a:buAutoNum type="arabicPeriod"/>
            </a:pPr>
            <a:r>
              <a:rPr lang="es-MX" dirty="0"/>
              <a:t>Operaciones perdidas directas o de </a:t>
            </a:r>
            <a:r>
              <a:rPr lang="es-MX" dirty="0" err="1"/>
              <a:t>vendor</a:t>
            </a:r>
            <a:r>
              <a:rPr lang="es-MX" dirty="0"/>
              <a:t> que cerraron con algún banco hace más de un año</a:t>
            </a:r>
          </a:p>
          <a:p>
            <a:pPr marL="342900" indent="-342900">
              <a:buAutoNum type="arabicPeriod"/>
            </a:pPr>
            <a:r>
              <a:rPr lang="es-MX" dirty="0"/>
              <a:t>Enfoque en ESC (</a:t>
            </a:r>
            <a:r>
              <a:rPr lang="es-MX" dirty="0" err="1"/>
              <a:t>Cheat</a:t>
            </a:r>
            <a:r>
              <a:rPr lang="es-MX" dirty="0"/>
              <a:t> </a:t>
            </a:r>
            <a:r>
              <a:rPr lang="es-MX" dirty="0" err="1"/>
              <a:t>Sheet</a:t>
            </a:r>
            <a:r>
              <a:rPr lang="es-MX" dirty="0"/>
              <a:t>)</a:t>
            </a:r>
          </a:p>
          <a:p>
            <a:pPr marL="342900" indent="-342900">
              <a:buAutoNum type="arabicPeriod"/>
            </a:pPr>
            <a:r>
              <a:rPr lang="es-MX" dirty="0"/>
              <a:t>Giras con </a:t>
            </a:r>
            <a:r>
              <a:rPr lang="es-MX" dirty="0" err="1"/>
              <a:t>TLs</a:t>
            </a:r>
            <a:r>
              <a:rPr lang="es-MX" dirty="0"/>
              <a:t> y Directores</a:t>
            </a:r>
          </a:p>
          <a:p>
            <a:pPr marL="342900" indent="-342900">
              <a:buAutoNum type="arabicPeriod"/>
            </a:pPr>
            <a:r>
              <a:rPr lang="es-MX" dirty="0" err="1"/>
              <a:t>Creditaria</a:t>
            </a:r>
            <a:r>
              <a:rPr lang="es-MX" dirty="0"/>
              <a:t>, clientes que hayan cerrado hace 1.5 años en adelante</a:t>
            </a:r>
          </a:p>
          <a:p>
            <a:endParaRPr lang="es-MX" dirty="0"/>
          </a:p>
          <a:p>
            <a:pPr marL="342900" indent="-342900">
              <a:buAutoNum type="arabicPeriod"/>
            </a:pPr>
            <a:endParaRPr lang="es-MX" dirty="0"/>
          </a:p>
          <a:p>
            <a:pPr marL="342900" indent="-342900">
              <a:buAutoNum type="arabicPeriod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410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AEBA-4FE0-3781-4B84-518DA67E0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550CCD0E-B280-776B-E96B-BF4125013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" y="0"/>
            <a:ext cx="8733264" cy="1137676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F7A60635-A667-762B-3F42-A483147202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438" y="268368"/>
            <a:ext cx="5927089" cy="549145"/>
          </a:xfrm>
          <a:prstGeom prst="rect">
            <a:avLst/>
          </a:prstGeom>
        </p:spPr>
        <p:txBody>
          <a:bodyPr vert="horz" wrap="square" lIns="0" tIns="50058" rIns="0" bIns="0" rtlCol="0" anchor="ctr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Libre Franklin Light" pitchFamily="2" charset="77"/>
              </a:rPr>
              <a:t>Pipeline </a:t>
            </a:r>
            <a:r>
              <a:rPr lang="en-US" sz="3600" b="1" dirty="0" err="1">
                <a:solidFill>
                  <a:schemeClr val="bg1"/>
                </a:solidFill>
                <a:latin typeface="Libre Franklin Light" pitchFamily="2" charset="77"/>
              </a:rPr>
              <a:t>Requerido</a:t>
            </a:r>
            <a:endParaRPr sz="3600" dirty="0">
              <a:solidFill>
                <a:schemeClr val="bg1"/>
              </a:solidFill>
              <a:latin typeface="Libre Franklin"/>
              <a:cs typeface="Libre Franklin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21C3706-C313-6195-C97C-FD088F0DD5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141" y="-113445"/>
            <a:ext cx="1205312" cy="129350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2BC1C39-5EF3-7184-1EED-0644D90993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451" y="0"/>
            <a:ext cx="2179465" cy="1085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7FD1DFD-BCDD-BF63-FCD1-DAF926821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21" y="2006844"/>
            <a:ext cx="5889599" cy="172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8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76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9414</TotalTime>
  <Words>531</Words>
  <Application>Microsoft Office PowerPoint</Application>
  <PresentationFormat>Panorámica</PresentationFormat>
  <Paragraphs>156</Paragraphs>
  <Slides>10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Helvetica</vt:lpstr>
      <vt:lpstr>Libre Franklin</vt:lpstr>
      <vt:lpstr>Libre Franklin Light</vt:lpstr>
      <vt:lpstr>Libre Franklin Thin</vt:lpstr>
      <vt:lpstr>Tema de Office</vt:lpstr>
      <vt:lpstr>1_Office Theme</vt:lpstr>
      <vt:lpstr>think-cell Slide</vt:lpstr>
      <vt:lpstr>Presentación de PowerPoint</vt:lpstr>
      <vt:lpstr>Productividad LMM Iniciativa</vt:lpstr>
      <vt:lpstr>Productividad</vt:lpstr>
      <vt:lpstr>KPIs a revisar con TLs</vt:lpstr>
      <vt:lpstr>Organigrama Comercial 2026</vt:lpstr>
      <vt:lpstr>Enfoque por Edo e Ind</vt:lpstr>
      <vt:lpstr>Pipeline por Estado</vt:lpstr>
      <vt:lpstr>Expos</vt:lpstr>
      <vt:lpstr>Refis</vt:lpstr>
      <vt:lpstr>Pipeline Requerido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Cinthya Rodriguez (Engen Capital)</dc:creator>
  <cp:lastModifiedBy>Roberto Zacatenco (Engen Capital)</cp:lastModifiedBy>
  <cp:revision>28</cp:revision>
  <dcterms:created xsi:type="dcterms:W3CDTF">2026-01-30T19:58:39Z</dcterms:created>
  <dcterms:modified xsi:type="dcterms:W3CDTF">2026-03-04T20:26:17Z</dcterms:modified>
</cp:coreProperties>
</file>